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8" r:id="rId3"/>
    <p:sldId id="269" r:id="rId4"/>
    <p:sldId id="272" r:id="rId5"/>
    <p:sldId id="270" r:id="rId6"/>
    <p:sldId id="271" r:id="rId7"/>
    <p:sldId id="260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hjinhoko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2648419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8322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592475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803668" y="6042546"/>
            <a:ext cx="33945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기술 스택 </a:t>
            </a:r>
            <a:r>
              <a:rPr lang="en-US" altLang="ko-KR" sz="1100" b="1" dirty="0"/>
              <a:t>: Java, Spring, </a:t>
            </a:r>
            <a:r>
              <a:rPr lang="en-US" altLang="ko-KR" sz="1100" b="1" dirty="0" err="1"/>
              <a:t>Springboot</a:t>
            </a:r>
            <a:r>
              <a:rPr lang="en-US" altLang="ko-KR" sz="1100" b="1" dirty="0"/>
              <a:t>, </a:t>
            </a:r>
            <a:r>
              <a:rPr lang="en-US" altLang="ko-KR" sz="1100" b="1" dirty="0" err="1"/>
              <a:t>DataJPA</a:t>
            </a:r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4"/>
              </a:rPr>
              <a:t>https://github.com/ohjinhokor</a:t>
            </a:r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09365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180851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503687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800832" y="529848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479134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357215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(DINO</a:t>
            </a:r>
            <a:r>
              <a:rPr lang="ko-KR" altLang="en-US" sz="1100" dirty="0"/>
              <a:t> </a:t>
            </a:r>
            <a:r>
              <a:rPr lang="en-US" altLang="ko-KR" sz="1100" dirty="0"/>
              <a:t>STUDIO</a:t>
            </a:r>
            <a:r>
              <a:rPr lang="ko-KR" altLang="en-US" sz="1100" dirty="0"/>
              <a:t> </a:t>
            </a:r>
            <a:r>
              <a:rPr lang="en-US" altLang="ko-KR" sz="1100" dirty="0"/>
              <a:t>– 2021.12.29 ~ 2022.02)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83580" y="22944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3256858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4459153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81221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명 </a:t>
            </a:r>
            <a:r>
              <a:rPr lang="en-US" altLang="ko-KR" b="1" dirty="0"/>
              <a:t>: </a:t>
            </a:r>
            <a:r>
              <a:rPr lang="ko-KR" altLang="en-US" b="1" dirty="0"/>
              <a:t>하이엔드</a:t>
            </a:r>
            <a:r>
              <a:rPr lang="en-US" altLang="ko-KR" b="1" dirty="0"/>
              <a:t>(High-End)</a:t>
            </a:r>
            <a:endParaRPr lang="ko-KR" altLang="en-US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75733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60724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976573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29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179776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16476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1970063"/>
            <a:ext cx="5835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Jwt</a:t>
            </a:r>
            <a:endParaRPr lang="en-US" altLang="ko-KR" sz="1400" dirty="0"/>
          </a:p>
          <a:p>
            <a:r>
              <a:rPr lang="en-US" altLang="ko-KR" sz="1400" dirty="0"/>
              <a:t>- EC2, RDS, S3, CloudFront, CICD (Travis CI, Code Deploy, S3 </a:t>
            </a:r>
            <a:r>
              <a:rPr lang="ko-KR" altLang="en-US" sz="1400" dirty="0"/>
              <a:t>이용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29821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283210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432685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417676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4657877"/>
            <a:ext cx="5881580" cy="2139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</a:t>
            </a:r>
            <a:r>
              <a:rPr lang="en-US" altLang="ko-KR" sz="1100" dirty="0"/>
              <a:t> </a:t>
            </a:r>
            <a:r>
              <a:rPr lang="ko-KR" altLang="en-US" sz="1100" dirty="0"/>
              <a:t>및 핵심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AWS Cloud </a:t>
            </a:r>
            <a:r>
              <a:rPr lang="ko-KR" altLang="en-US" sz="1100" dirty="0"/>
              <a:t>서비스를 이용한 서버 구축 </a:t>
            </a:r>
            <a:r>
              <a:rPr lang="en-US" altLang="ko-KR" sz="1100" dirty="0"/>
              <a:t>-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프로젝트의 유일한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개발자로 참여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데이터베이스 설계 </a:t>
            </a:r>
            <a:r>
              <a:rPr lang="en-US" altLang="ko-KR" sz="1100" dirty="0"/>
              <a:t>–&gt;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 </a:t>
            </a:r>
            <a:r>
              <a:rPr lang="en-US" altLang="ko-KR" sz="1100" dirty="0"/>
              <a:t>–&gt; </a:t>
            </a:r>
            <a:r>
              <a:rPr lang="ko-KR" altLang="en-US" sz="1100" dirty="0"/>
              <a:t>배포</a:t>
            </a:r>
            <a:r>
              <a:rPr lang="en-US" altLang="ko-KR" sz="1100" dirty="0"/>
              <a:t>(CICD)</a:t>
            </a:r>
            <a:r>
              <a:rPr lang="ko-KR" altLang="en-US" sz="1100" dirty="0"/>
              <a:t>의 모든 과정을 진행</a:t>
            </a:r>
            <a:endParaRPr lang="en-US" altLang="ko-KR" sz="1100" dirty="0"/>
          </a:p>
          <a:p>
            <a:r>
              <a:rPr lang="en-US" altLang="ko-KR" sz="1100" dirty="0"/>
              <a:t>       </a:t>
            </a:r>
          </a:p>
          <a:p>
            <a:r>
              <a:rPr lang="en-US" altLang="ko-KR" sz="1100" dirty="0"/>
              <a:t> </a:t>
            </a:r>
          </a:p>
          <a:p>
            <a:r>
              <a:rPr lang="ko-KR" altLang="en-US" sz="12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6063740" y="3201434"/>
            <a:ext cx="4817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특정 조건이 충족하는 사람만 서비스를 이용할 수 있습니다</a:t>
            </a:r>
            <a:r>
              <a:rPr lang="en-US" altLang="ko-KR" sz="1200" dirty="0"/>
              <a:t>.</a:t>
            </a:r>
          </a:p>
        </p:txBody>
      </p:sp>
      <p:pic>
        <p:nvPicPr>
          <p:cNvPr id="10" name="그림 9" descr="텍스트, 실내, 빨간색이(가) 표시된 사진&#10;&#10;자동 생성된 설명">
            <a:extLst>
              <a:ext uri="{FF2B5EF4-FFF2-40B4-BE49-F238E27FC236}">
                <a16:creationId xmlns:a16="http://schemas.microsoft.com/office/drawing/2014/main" id="{81BC3CD9-7753-4406-A33A-31FE6EF23E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93" y="2583228"/>
            <a:ext cx="2087115" cy="3768388"/>
          </a:xfrm>
          <a:prstGeom prst="rect">
            <a:avLst/>
          </a:prstGeom>
        </p:spPr>
      </p:pic>
      <p:pic>
        <p:nvPicPr>
          <p:cNvPr id="14" name="그림 13" descr="텍스트, 명함이(가) 표시된 사진&#10;&#10;자동 생성된 설명">
            <a:extLst>
              <a:ext uri="{FF2B5EF4-FFF2-40B4-BE49-F238E27FC236}">
                <a16:creationId xmlns:a16="http://schemas.microsoft.com/office/drawing/2014/main" id="{8E12564A-DF15-4ECD-BB14-D7BA871F8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915" y="2583228"/>
            <a:ext cx="2012779" cy="376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28C2D6D-FAFE-4813-BB78-11A8103061A0}"/>
              </a:ext>
            </a:extLst>
          </p:cNvPr>
          <p:cNvSpPr/>
          <p:nvPr/>
        </p:nvSpPr>
        <p:spPr>
          <a:xfrm>
            <a:off x="2642924" y="4991738"/>
            <a:ext cx="788311" cy="1434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910855" y="949798"/>
            <a:ext cx="3793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Interceptor,</a:t>
            </a:r>
            <a:r>
              <a:rPr lang="ko-KR" altLang="en-US" b="1" dirty="0"/>
              <a:t> </a:t>
            </a:r>
            <a:r>
              <a:rPr lang="en-US" altLang="ko-KR" b="1" dirty="0"/>
              <a:t>JWT</a:t>
            </a:r>
            <a:r>
              <a:rPr lang="ko-KR" altLang="en-US" b="1" dirty="0"/>
              <a:t>를 사용한 보안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757078" y="1361315"/>
            <a:ext cx="4771629" cy="484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en-US" altLang="ko-KR" sz="1200" dirty="0"/>
              <a:t>- </a:t>
            </a:r>
            <a:r>
              <a:rPr lang="ko-KR" altLang="en-US" sz="1200" dirty="0"/>
              <a:t>개인 정보가 많이 사용되는 서비스였기 때문에 권한이 필요한 모든 요청마다 </a:t>
            </a:r>
            <a:r>
              <a:rPr lang="en-US" altLang="ko-KR" sz="1200" dirty="0"/>
              <a:t>token</a:t>
            </a:r>
            <a:r>
              <a:rPr lang="ko-KR" altLang="en-US" sz="1200" dirty="0"/>
              <a:t>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추출하여 요청 로직에 대한 권한을 확인하였습니다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Controller</a:t>
            </a:r>
            <a:r>
              <a:rPr lang="ko-KR" altLang="en-US" sz="1200" dirty="0"/>
              <a:t>로 들어가기 전 </a:t>
            </a:r>
            <a:r>
              <a:rPr lang="en-US" altLang="ko-KR" sz="1200" dirty="0"/>
              <a:t>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Token</a:t>
            </a:r>
            <a:r>
              <a:rPr lang="ko-KR" altLang="en-US" sz="1200" dirty="0"/>
              <a:t>의 유효시간을 확인하는 작업을 진행합니다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Token</a:t>
            </a:r>
            <a:r>
              <a:rPr lang="ko-KR" altLang="en-US" sz="1200" dirty="0"/>
              <a:t>의 시간이 유효하다면</a:t>
            </a:r>
            <a:r>
              <a:rPr lang="en-US" altLang="ko-KR" sz="1200" dirty="0"/>
              <a:t>, Interceptor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추출한 후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 값을 넘겨줍니다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넘겨 받은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이용하여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요청 로직에 대해 권한이 있는지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예를 들어 특정 회원의 글을 조회하는 로직을 요청한다면 그 글이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에게 속해 있는 글인지 확인하는 절차를 거칩니다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을 사용하여 보안을 높이고</a:t>
            </a:r>
            <a:r>
              <a:rPr lang="en-US" altLang="ko-KR" sz="1200" dirty="0"/>
              <a:t>,</a:t>
            </a:r>
            <a:r>
              <a:rPr lang="ko-KR" altLang="en-US" sz="1200" dirty="0"/>
              <a:t> 자동 로그인이 가능하도록 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467897" y="222005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552199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 flipV="1">
            <a:off x="1281719" y="1422519"/>
            <a:ext cx="2210411" cy="66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 flipV="1">
            <a:off x="1236814" y="4080906"/>
            <a:ext cx="2309337" cy="17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281719" y="2976489"/>
            <a:ext cx="22207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86173" y="1208267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686160" y="2761045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577810" y="3867414"/>
            <a:ext cx="180641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User</a:t>
            </a:r>
            <a:r>
              <a:rPr lang="ko-KR" altLang="en-US" sz="800" dirty="0"/>
              <a:t> </a:t>
            </a:r>
            <a:r>
              <a:rPr lang="en-US" altLang="ko-KR" sz="800" dirty="0"/>
              <a:t>PK</a:t>
            </a:r>
            <a:r>
              <a:rPr lang="ko-KR" altLang="en-US" sz="800" dirty="0"/>
              <a:t>와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72756" y="5823579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702598" y="4318943"/>
            <a:ext cx="1894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488046" y="3975136"/>
            <a:ext cx="2304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해당 </a:t>
            </a:r>
            <a:r>
              <a:rPr lang="en-US" altLang="ko-KR" sz="800" dirty="0"/>
              <a:t>User</a:t>
            </a:r>
            <a:r>
              <a:rPr lang="ko-KR" altLang="en-US" sz="800" dirty="0"/>
              <a:t>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283582" y="22289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397764" y="299440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295076" y="22878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516008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785127" y="591334"/>
            <a:ext cx="35034" cy="59949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621787" y="598112"/>
            <a:ext cx="19708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>
            <a:off x="5664405" y="591334"/>
            <a:ext cx="15095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01140" y="4912944"/>
            <a:ext cx="2011585" cy="7954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556305" y="4967450"/>
            <a:ext cx="29968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Refresh Token</a:t>
            </a:r>
            <a:r>
              <a:rPr lang="ko-KR" altLang="en-US" sz="800" dirty="0"/>
              <a:t>과 </a:t>
            </a:r>
            <a:r>
              <a:rPr lang="en-US" altLang="ko-KR" sz="800" dirty="0"/>
              <a:t>Db Refresh token</a:t>
            </a:r>
            <a:r>
              <a:rPr lang="ko-KR" altLang="en-US" sz="800" dirty="0"/>
              <a:t>의</a:t>
            </a:r>
            <a:endParaRPr lang="en-US" altLang="ko-KR" sz="800" dirty="0"/>
          </a:p>
          <a:p>
            <a:r>
              <a:rPr lang="ko-KR" altLang="en-US" sz="800" dirty="0"/>
              <a:t>동일성 확인</a:t>
            </a:r>
            <a:endParaRPr lang="en-US" altLang="ko-KR" sz="800" dirty="0"/>
          </a:p>
          <a:p>
            <a:endParaRPr lang="en-US" altLang="ko-KR" sz="800" dirty="0"/>
          </a:p>
          <a:p>
            <a:r>
              <a:rPr lang="en-US" altLang="ko-KR" sz="800" dirty="0"/>
              <a:t>2. Refresh token</a:t>
            </a:r>
            <a:r>
              <a:rPr lang="ko-KR" altLang="en-US" sz="800" dirty="0"/>
              <a:t>의 유효시간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203522" y="6054522"/>
            <a:ext cx="2292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520880" y="3766379"/>
            <a:ext cx="612442" cy="24507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560163" y="4552361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702598" y="4552361"/>
            <a:ext cx="18975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51010" y="4379611"/>
            <a:ext cx="15726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Db 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777658" y="107409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519301" y="1011012"/>
            <a:ext cx="612442" cy="23973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548103" y="1845916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709275" y="6047238"/>
            <a:ext cx="1887349" cy="9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855584" y="5793848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A65F57D3-817A-4372-9CC0-C97CE0AF9AA0}"/>
              </a:ext>
            </a:extLst>
          </p:cNvPr>
          <p:cNvSpPr/>
          <p:nvPr/>
        </p:nvSpPr>
        <p:spPr>
          <a:xfrm>
            <a:off x="2228795" y="1592911"/>
            <a:ext cx="2496784" cy="994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7836FD-1AFA-4DE8-8153-AE3710F94EF8}"/>
              </a:ext>
            </a:extLst>
          </p:cNvPr>
          <p:cNvSpPr txBox="1"/>
          <p:nvPr/>
        </p:nvSpPr>
        <p:spPr>
          <a:xfrm>
            <a:off x="2302526" y="1674729"/>
            <a:ext cx="24816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Access token</a:t>
            </a:r>
            <a:r>
              <a:rPr lang="ko-KR" altLang="en-US" sz="800" dirty="0"/>
              <a:t>에서 </a:t>
            </a:r>
            <a:r>
              <a:rPr lang="en-US" altLang="ko-KR" sz="800" dirty="0" err="1"/>
              <a:t>userId</a:t>
            </a:r>
            <a:r>
              <a:rPr lang="ko-KR" altLang="en-US" sz="800" dirty="0"/>
              <a:t>를 추출한 후</a:t>
            </a:r>
            <a:r>
              <a:rPr lang="en-US" altLang="ko-KR" sz="800" dirty="0"/>
              <a:t>,</a:t>
            </a:r>
          </a:p>
          <a:p>
            <a:r>
              <a:rPr lang="en-US" altLang="ko-KR" sz="800" dirty="0"/>
              <a:t>User</a:t>
            </a:r>
            <a:r>
              <a:rPr lang="ko-KR" altLang="en-US" sz="800" dirty="0"/>
              <a:t>가 요청 로직에 대해 권한이 있는지 확인 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2-1) </a:t>
            </a:r>
            <a:r>
              <a:rPr lang="ko-KR" altLang="en-US" sz="800" dirty="0"/>
              <a:t>권한이 있는 경우 로직을 수행한다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2-2)</a:t>
            </a:r>
            <a:r>
              <a:rPr lang="ko-KR" altLang="en-US" sz="800" dirty="0"/>
              <a:t>권한이 없는 경우 </a:t>
            </a:r>
            <a:r>
              <a:rPr lang="en-US" altLang="ko-KR" sz="800" dirty="0"/>
              <a:t>Exception</a:t>
            </a:r>
            <a:r>
              <a:rPr lang="ko-KR" altLang="en-US" sz="800" dirty="0"/>
              <a:t>을 발생시킨다</a:t>
            </a:r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341245" y="248258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08048" y="372559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244896" y="736677"/>
            <a:ext cx="5513135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⨀ 기능에 필요한 테이블</a:t>
            </a:r>
            <a:endParaRPr lang="en-US" altLang="ko-KR" sz="1200" dirty="0"/>
          </a:p>
          <a:p>
            <a:r>
              <a:rPr lang="en-US" altLang="ko-KR" sz="1200" dirty="0"/>
              <a:t>     </a:t>
            </a:r>
          </a:p>
          <a:p>
            <a:pPr marL="228600" indent="-228600">
              <a:buAutoNum type="arabicPeriod"/>
            </a:pPr>
            <a:r>
              <a:rPr lang="en-US" altLang="ko-KR" sz="1200" dirty="0"/>
              <a:t>User Table(User</a:t>
            </a:r>
            <a:r>
              <a:rPr lang="ko-KR" altLang="en-US" sz="1200" dirty="0"/>
              <a:t>의 </a:t>
            </a:r>
            <a:r>
              <a:rPr lang="en-US" altLang="ko-KR" sz="1200" dirty="0"/>
              <a:t>‘Avoid Acquaintance’</a:t>
            </a:r>
            <a:r>
              <a:rPr lang="ko-KR" altLang="en-US" sz="1200" dirty="0"/>
              <a:t>가 </a:t>
            </a:r>
            <a:r>
              <a:rPr lang="en-US" altLang="ko-KR" sz="1200" dirty="0"/>
              <a:t>True</a:t>
            </a:r>
            <a:r>
              <a:rPr lang="ko-KR" altLang="en-US" sz="1200" dirty="0"/>
              <a:t>이면 아는 사람 피하기 기능을 사용하는 것임</a:t>
            </a:r>
            <a:r>
              <a:rPr lang="en-US" altLang="ko-KR" sz="1200" dirty="0"/>
              <a:t>)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en-US" altLang="ko-KR" sz="1200" dirty="0" err="1"/>
              <a:t>AcquaintancePhoneNumber</a:t>
            </a:r>
            <a:r>
              <a:rPr lang="en-US" altLang="ko-KR" sz="1200" dirty="0"/>
              <a:t> Table</a:t>
            </a:r>
          </a:p>
          <a:p>
            <a:r>
              <a:rPr lang="en-US" altLang="ko-KR" sz="1200" dirty="0"/>
              <a:t>  - User</a:t>
            </a:r>
            <a:r>
              <a:rPr lang="ko-KR" altLang="en-US" sz="1200" dirty="0"/>
              <a:t> </a:t>
            </a:r>
            <a:r>
              <a:rPr lang="en-US" altLang="ko-KR" sz="1200" dirty="0"/>
              <a:t>Table</a:t>
            </a:r>
            <a:r>
              <a:rPr lang="ko-KR" altLang="en-US" sz="1200" dirty="0"/>
              <a:t>과 </a:t>
            </a:r>
            <a:r>
              <a:rPr lang="en-US" altLang="ko-KR" sz="1200" dirty="0"/>
              <a:t>N : 1</a:t>
            </a:r>
            <a:r>
              <a:rPr lang="ko-KR" altLang="en-US" sz="1200" dirty="0"/>
              <a:t>의 관계로 </a:t>
            </a:r>
            <a:r>
              <a:rPr lang="ko-KR" altLang="en-US" sz="1200" dirty="0" err="1"/>
              <a:t>매핑된</a:t>
            </a:r>
            <a:r>
              <a:rPr lang="ko-KR" altLang="en-US" sz="1200" dirty="0"/>
              <a:t> 테이블입니다</a:t>
            </a:r>
            <a:r>
              <a:rPr lang="en-US" altLang="ko-KR" sz="1200" dirty="0"/>
              <a:t>. User</a:t>
            </a:r>
            <a:r>
              <a:rPr lang="ko-KR" altLang="en-US" sz="1200" dirty="0"/>
              <a:t>의 핸드폰에 저장된 모든 연락처를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en-US" altLang="ko-KR" sz="1200" dirty="0" err="1"/>
              <a:t>AcquaintanceRelation</a:t>
            </a:r>
            <a:r>
              <a:rPr lang="ko-KR" altLang="en-US" sz="1200" dirty="0"/>
              <a:t> </a:t>
            </a:r>
            <a:r>
              <a:rPr lang="en-US" altLang="ko-KR" sz="1200" dirty="0"/>
              <a:t>Table (</a:t>
            </a:r>
            <a:r>
              <a:rPr lang="ko-KR" altLang="en-US" sz="1200" dirty="0"/>
              <a:t>두 이용자가 아는 사이임을 나타내는 테이블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 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풀어낸 테이블입니다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즉 </a:t>
            </a:r>
            <a:r>
              <a:rPr lang="en-US" altLang="ko-KR" sz="1200" dirty="0"/>
              <a:t>FK</a:t>
            </a:r>
            <a:r>
              <a:rPr lang="ko-KR" altLang="en-US" sz="1200" dirty="0"/>
              <a:t>로 두 유저의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갖습니다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1 –  </a:t>
            </a:r>
            <a:r>
              <a:rPr lang="ko-KR" altLang="en-US" sz="1200" b="1" dirty="0"/>
              <a:t>아는 사람 피하기 기능 </a:t>
            </a:r>
            <a:r>
              <a:rPr lang="en-US" altLang="ko-KR" sz="1200" b="1" dirty="0"/>
              <a:t>On</a:t>
            </a:r>
          </a:p>
          <a:p>
            <a:endParaRPr lang="en-US" altLang="ko-KR" sz="1200" dirty="0"/>
          </a:p>
          <a:p>
            <a:r>
              <a:rPr lang="en-US" altLang="ko-KR" sz="1200" dirty="0"/>
              <a:t>1) </a:t>
            </a:r>
            <a:r>
              <a:rPr lang="ko-KR" altLang="en-US" sz="1200" dirty="0"/>
              <a:t>신규 유저의 핸드폰에 저장된 모든 번호를 받아옵니다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이후 </a:t>
            </a:r>
            <a:r>
              <a:rPr lang="en-US" altLang="ko-KR" sz="1200" dirty="0"/>
              <a:t>Acquaintance </a:t>
            </a:r>
            <a:r>
              <a:rPr lang="en-US" altLang="ko-KR" sz="1200" dirty="0" err="1"/>
              <a:t>PhoneNumber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2) </a:t>
            </a:r>
            <a:r>
              <a:rPr lang="ko-KR" altLang="en-US" sz="1200" dirty="0"/>
              <a:t>해당 번호로 가입한 기존 유저를 리스트로 받아옵니다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3) </a:t>
            </a:r>
            <a:r>
              <a:rPr lang="ko-KR" altLang="en-US" sz="1200" dirty="0"/>
              <a:t>기존 유저들과 신규 유저가 아는 사이임을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저장합니다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4) </a:t>
            </a:r>
            <a:r>
              <a:rPr lang="ko-KR" altLang="en-US" sz="1200" dirty="0"/>
              <a:t>이미 아는 사이로 등록된 관계인 경우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데이터를 </a:t>
            </a:r>
            <a:r>
              <a:rPr lang="ko-KR" altLang="en-US" sz="1200" dirty="0" err="1"/>
              <a:t>추가등록하지</a:t>
            </a:r>
            <a:r>
              <a:rPr lang="ko-KR" altLang="en-US" sz="1200" dirty="0"/>
              <a:t> 않습니다</a:t>
            </a:r>
            <a:r>
              <a:rPr lang="en-US" altLang="ko-KR" sz="1200" dirty="0"/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51FE0-D35F-480F-8B99-5B0800433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5837" y="1052826"/>
            <a:ext cx="3498318" cy="3693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select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a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from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AcquaintancePhoneNumber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a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where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a.user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=: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and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a.acquaintancePhoneNumber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=: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"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909CA5-1DE6-43C9-83F4-147148F20DB1}"/>
              </a:ext>
            </a:extLst>
          </p:cNvPr>
          <p:cNvSpPr txBox="1"/>
          <p:nvPr/>
        </p:nvSpPr>
        <p:spPr>
          <a:xfrm>
            <a:off x="6096000" y="-11803"/>
            <a:ext cx="551313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2 - </a:t>
            </a:r>
            <a:r>
              <a:rPr lang="ko-KR" altLang="en-US" sz="1200" b="1" dirty="0"/>
              <a:t>새로운 유저 가입</a:t>
            </a:r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ko-KR" altLang="en-US" sz="1200" dirty="0"/>
              <a:t>새로운 유저 가입시 신규 유저의 전화번호를 통해 기존 유저와 아는 사이인지 확인한 후 리스트로 </a:t>
            </a:r>
            <a:r>
              <a:rPr lang="ko-KR" altLang="en-US" sz="1200" dirty="0" err="1"/>
              <a:t>받아옴</a:t>
            </a:r>
            <a:r>
              <a:rPr lang="en-US" altLang="ko-KR" sz="1200" dirty="0"/>
              <a:t>(</a:t>
            </a:r>
            <a:r>
              <a:rPr lang="en-US" altLang="ko-KR" sz="1200" dirty="0" err="1"/>
              <a:t>AcquaintancePhoneNumble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 이용</a:t>
            </a:r>
            <a:r>
              <a:rPr lang="en-US" altLang="ko-KR" sz="1200" dirty="0"/>
              <a:t>)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2) 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테이블에 리스트에 있는 기존 유저와 신규유저가 아는 사이임을 등록합니다</a:t>
            </a:r>
            <a:r>
              <a:rPr lang="en-US" altLang="ko-KR" sz="1200" dirty="0"/>
              <a:t>.</a:t>
            </a:r>
            <a:endParaRPr lang="en-US" altLang="ko-KR" sz="9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b="1" dirty="0"/>
              <a:t>⨀ 상황 </a:t>
            </a:r>
            <a:r>
              <a:rPr lang="en-US" altLang="ko-KR" sz="1200" b="1" dirty="0"/>
              <a:t>3 – </a:t>
            </a:r>
            <a:r>
              <a:rPr lang="ko-KR" altLang="en-US" sz="1200" b="1" dirty="0"/>
              <a:t>아는 사람 피하기 기능 </a:t>
            </a:r>
            <a:r>
              <a:rPr lang="en-US" altLang="ko-KR" sz="1200" b="1" dirty="0"/>
              <a:t>Off</a:t>
            </a:r>
          </a:p>
          <a:p>
            <a:r>
              <a:rPr lang="en-US" altLang="ko-KR" sz="1200" dirty="0"/>
              <a:t> </a:t>
            </a:r>
          </a:p>
          <a:p>
            <a:pPr marL="228600" indent="-228600">
              <a:buAutoNum type="arabicParenR"/>
            </a:pPr>
            <a:r>
              <a:rPr lang="en-US" altLang="ko-KR" sz="1200" dirty="0" err="1"/>
              <a:t>AcquaintancePhoneNumber</a:t>
            </a:r>
            <a:r>
              <a:rPr lang="ko-KR" altLang="en-US" sz="1200" dirty="0"/>
              <a:t> 테이블에서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와 </a:t>
            </a:r>
            <a:r>
              <a:rPr lang="ko-KR" altLang="en-US" sz="1200" dirty="0" err="1"/>
              <a:t>연결되어있는</a:t>
            </a:r>
            <a:r>
              <a:rPr lang="ko-KR" altLang="en-US" sz="1200" dirty="0"/>
              <a:t> 모든 </a:t>
            </a:r>
            <a:r>
              <a:rPr lang="en-US" altLang="ko-KR" sz="1200" dirty="0"/>
              <a:t>Row</a:t>
            </a:r>
            <a:r>
              <a:rPr lang="ko-KR" altLang="en-US" sz="1200" dirty="0"/>
              <a:t>를 삭제합니다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주의할 점 </a:t>
            </a:r>
            <a:r>
              <a:rPr lang="en-US" altLang="ko-KR" sz="1200" dirty="0"/>
              <a:t>: ‘</a:t>
            </a:r>
            <a:r>
              <a:rPr lang="en-US" altLang="ko-KR" sz="1200" dirty="0" err="1"/>
              <a:t>AcquaintanceRelation</a:t>
            </a:r>
            <a:r>
              <a:rPr lang="en-US" altLang="ko-KR" sz="1200" dirty="0"/>
              <a:t>’ </a:t>
            </a:r>
            <a:r>
              <a:rPr lang="ko-KR" altLang="en-US" sz="1200" dirty="0"/>
              <a:t>테이블은 </a:t>
            </a:r>
            <a:r>
              <a:rPr lang="en-US" altLang="ko-KR" sz="1200" dirty="0"/>
              <a:t>‘</a:t>
            </a:r>
            <a:r>
              <a:rPr lang="en-US" altLang="ko-KR" sz="1200" dirty="0" err="1"/>
              <a:t>AcquaintancePhoneNumber</a:t>
            </a:r>
            <a:r>
              <a:rPr lang="en-US" altLang="ko-KR" sz="1200" dirty="0"/>
              <a:t>’</a:t>
            </a:r>
            <a:r>
              <a:rPr lang="ko-KR" altLang="en-US" sz="1200" dirty="0"/>
              <a:t> 테이블과 달리 </a:t>
            </a:r>
            <a:r>
              <a:rPr lang="en-US" altLang="ko-KR" sz="1200" dirty="0"/>
              <a:t>User</a:t>
            </a:r>
            <a:r>
              <a:rPr lang="ko-KR" altLang="en-US" sz="1200" dirty="0"/>
              <a:t>와 연결되어 있는 모든 </a:t>
            </a:r>
            <a:r>
              <a:rPr lang="en-US" altLang="ko-KR" sz="1200" dirty="0"/>
              <a:t>Row</a:t>
            </a:r>
            <a:r>
              <a:rPr lang="ko-KR" altLang="en-US" sz="1200" dirty="0"/>
              <a:t>를 지우면 안됩니다</a:t>
            </a:r>
            <a:r>
              <a:rPr lang="en-US" altLang="ko-KR" sz="1200" dirty="0"/>
              <a:t>. 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 -  </a:t>
            </a:r>
            <a:r>
              <a:rPr lang="en-US" altLang="ko-KR" sz="1200" dirty="0" err="1"/>
              <a:t>UserA</a:t>
            </a:r>
            <a:r>
              <a:rPr lang="ko-KR" altLang="en-US" sz="1200" dirty="0"/>
              <a:t>와 아는 사이라고 </a:t>
            </a:r>
            <a:r>
              <a:rPr lang="ko-KR" altLang="en-US" sz="1200" dirty="0" err="1"/>
              <a:t>등록되어있는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UserB</a:t>
            </a:r>
            <a:r>
              <a:rPr lang="ko-KR" altLang="en-US" sz="1200" dirty="0"/>
              <a:t>가 아는 사람 피하기 기능을 사용하고 있다면 </a:t>
            </a:r>
            <a:r>
              <a:rPr lang="en-US" altLang="ko-KR" sz="1200" dirty="0"/>
              <a:t>Row</a:t>
            </a:r>
            <a:r>
              <a:rPr lang="ko-KR" altLang="en-US" sz="1200" dirty="0"/>
              <a:t>을 삭제하면 안됩니다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-  </a:t>
            </a:r>
            <a:r>
              <a:rPr lang="en-US" altLang="ko-KR" sz="1200" dirty="0" err="1"/>
              <a:t>UserA</a:t>
            </a:r>
            <a:r>
              <a:rPr lang="ko-KR" altLang="en-US" sz="1200" dirty="0"/>
              <a:t>와 아는 사이라고 </a:t>
            </a:r>
            <a:r>
              <a:rPr lang="ko-KR" altLang="en-US" sz="1200" dirty="0" err="1"/>
              <a:t>등록되어있는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UserB</a:t>
            </a:r>
            <a:r>
              <a:rPr lang="ko-KR" altLang="en-US" sz="1200" dirty="0"/>
              <a:t>가 아는 사람 피하기 기능을 사용하지 않는다면 해당 </a:t>
            </a:r>
            <a:r>
              <a:rPr lang="en-US" altLang="ko-KR" sz="1200" dirty="0"/>
              <a:t>Row</a:t>
            </a:r>
            <a:r>
              <a:rPr lang="ko-KR" altLang="en-US" sz="1200" dirty="0"/>
              <a:t>를 삭제할 수 있습니다</a:t>
            </a:r>
            <a:r>
              <a:rPr lang="en-US" altLang="ko-KR" sz="1200" dirty="0"/>
              <a:t>.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D6BB29-C50B-42D0-BAC9-458D8774ED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803" y="5483163"/>
            <a:ext cx="5119262" cy="3693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userRepository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.findByPhoneNumber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phoneNumber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ifPresent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targetUser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{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registerNewAcquaintance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B389C5"/>
                </a:solidFill>
                <a:effectLst/>
                <a:latin typeface="Arial Unicode MS"/>
                <a:ea typeface="JetBrains Mono"/>
              </a:rPr>
              <a:t>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targetUser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})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785243D1-A0FB-4082-9E04-BCB027922D97}"/>
              </a:ext>
            </a:extLst>
          </p:cNvPr>
          <p:cNvCxnSpPr>
            <a:cxnSpLocks/>
          </p:cNvCxnSpPr>
          <p:nvPr/>
        </p:nvCxnSpPr>
        <p:spPr>
          <a:xfrm flipH="1">
            <a:off x="5890996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6">
            <a:extLst>
              <a:ext uri="{FF2B5EF4-FFF2-40B4-BE49-F238E27FC236}">
                <a16:creationId xmlns:a16="http://schemas.microsoft.com/office/drawing/2014/main" id="{26774717-31BF-4E4F-974A-B24EC1988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2236" y="5308860"/>
            <a:ext cx="5641961" cy="1200329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acquaintanceRelationRepository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findMyAcquaintanceList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user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stream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filter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userRepository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.findById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ac.getUserId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isPresent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filter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!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ac.getAvoidingAcquaintance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())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       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forEach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 -&gt;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acquaintanceRelationRepository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.deleteAcquaintanceRelation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Arial Unicode MS"/>
                <a:ea typeface="JetBrains Mono"/>
              </a:rPr>
              <a:t>userRepository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.findById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B389C5"/>
                </a:solidFill>
                <a:effectLst/>
                <a:latin typeface="Arial Unicode MS"/>
                <a:ea typeface="JetBrains Mono"/>
              </a:rPr>
              <a:t>userId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orElseThrow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(()-&gt;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new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NoSuchElementException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존재하지 않는 회원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pk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입니다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,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ac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Arial Unicode MS"/>
                <a:ea typeface="JetBrains Mono"/>
              </a:rPr>
              <a:t>))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Arial Unicode MS"/>
                <a:ea typeface="JetBrains Mono"/>
              </a:rPr>
              <a:t>;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80503" y="1258146"/>
            <a:ext cx="108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암호화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147305" y="1382447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9CD0A36-2C4E-41FA-8609-3C7BD738348D}"/>
              </a:ext>
            </a:extLst>
          </p:cNvPr>
          <p:cNvSpPr/>
          <p:nvPr/>
        </p:nvSpPr>
        <p:spPr>
          <a:xfrm>
            <a:off x="220766" y="617421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F2C02C-C1CC-4F9D-A88C-93D8A6635BD3}"/>
              </a:ext>
            </a:extLst>
          </p:cNvPr>
          <p:cNvSpPr txBox="1"/>
          <p:nvPr/>
        </p:nvSpPr>
        <p:spPr>
          <a:xfrm>
            <a:off x="305068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6AEE795-6D3A-4139-9970-A38B56E1E9D0}"/>
              </a:ext>
            </a:extLst>
          </p:cNvPr>
          <p:cNvSpPr/>
          <p:nvPr/>
        </p:nvSpPr>
        <p:spPr>
          <a:xfrm>
            <a:off x="2671927" y="61830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5A38BF-411C-4277-B32F-E0B133EFF133}"/>
              </a:ext>
            </a:extLst>
          </p:cNvPr>
          <p:cNvSpPr txBox="1"/>
          <p:nvPr/>
        </p:nvSpPr>
        <p:spPr>
          <a:xfrm>
            <a:off x="2786109" y="694856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2E7E611-9115-4ED5-974E-197C352FA1CA}"/>
              </a:ext>
            </a:extLst>
          </p:cNvPr>
          <p:cNvSpPr/>
          <p:nvPr/>
        </p:nvSpPr>
        <p:spPr>
          <a:xfrm>
            <a:off x="5146796" y="62419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481613-7B00-483D-A8D0-E602B999E312}"/>
              </a:ext>
            </a:extLst>
          </p:cNvPr>
          <p:cNvSpPr txBox="1"/>
          <p:nvPr/>
        </p:nvSpPr>
        <p:spPr>
          <a:xfrm>
            <a:off x="5275052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EMAIL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F4D15714-C196-46ED-B010-321F5CC9CB0A}"/>
              </a:ext>
            </a:extLst>
          </p:cNvPr>
          <p:cNvCxnSpPr>
            <a:cxnSpLocks/>
          </p:cNvCxnSpPr>
          <p:nvPr/>
        </p:nvCxnSpPr>
        <p:spPr>
          <a:xfrm flipH="1">
            <a:off x="553322" y="986750"/>
            <a:ext cx="19708" cy="55623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4CE9D00-C90A-495A-8F7F-FA9E3430A674}"/>
              </a:ext>
            </a:extLst>
          </p:cNvPr>
          <p:cNvCxnSpPr>
            <a:cxnSpLocks/>
          </p:cNvCxnSpPr>
          <p:nvPr/>
        </p:nvCxnSpPr>
        <p:spPr>
          <a:xfrm flipH="1">
            <a:off x="3022204" y="1049134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1590DA13-D6CA-4FE5-8A5B-3B5C3E409B8D}"/>
              </a:ext>
            </a:extLst>
          </p:cNvPr>
          <p:cNvCxnSpPr>
            <a:cxnSpLocks/>
          </p:cNvCxnSpPr>
          <p:nvPr/>
        </p:nvCxnSpPr>
        <p:spPr>
          <a:xfrm>
            <a:off x="5516125" y="986750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7EE7BC7-486C-443C-BEE6-32DCE4C0AFE4}"/>
              </a:ext>
            </a:extLst>
          </p:cNvPr>
          <p:cNvCxnSpPr>
            <a:cxnSpLocks/>
          </p:cNvCxnSpPr>
          <p:nvPr/>
        </p:nvCxnSpPr>
        <p:spPr>
          <a:xfrm>
            <a:off x="579207" y="1415408"/>
            <a:ext cx="2449459" cy="2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5895C2B1-8D24-40F1-B152-753305E33BE5}"/>
              </a:ext>
            </a:extLst>
          </p:cNvPr>
          <p:cNvSpPr txBox="1"/>
          <p:nvPr/>
        </p:nvSpPr>
        <p:spPr>
          <a:xfrm>
            <a:off x="636826" y="1227368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    이메일 주소와 함께 비밀번호 변경 요청</a:t>
            </a: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7C9C0E09-7020-4A6C-9E6A-976E07F2EF1F}"/>
              </a:ext>
            </a:extLst>
          </p:cNvPr>
          <p:cNvSpPr/>
          <p:nvPr/>
        </p:nvSpPr>
        <p:spPr>
          <a:xfrm>
            <a:off x="1752095" y="1575026"/>
            <a:ext cx="2496784" cy="9457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등록된 이메일인지 확인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등록된 이메일이라면 이메일과 현재 시간을 조합하여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생성시 암호화 진행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암호화 과정은 오른쪽 설명란  참조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을</a:t>
            </a:r>
            <a:r>
              <a:rPr lang="en-US" altLang="ko-KR" sz="800" dirty="0">
                <a:solidFill>
                  <a:schemeClr val="tx1"/>
                </a:solidFill>
              </a:rPr>
              <a:t> email</a:t>
            </a:r>
            <a:r>
              <a:rPr lang="ko-KR" altLang="en-US" sz="800" dirty="0">
                <a:solidFill>
                  <a:schemeClr val="tx1"/>
                </a:solidFill>
              </a:rPr>
              <a:t>로 전송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0A9FEC5F-43A8-4616-90BD-30BAE0F44BFB}"/>
              </a:ext>
            </a:extLst>
          </p:cNvPr>
          <p:cNvCxnSpPr>
            <a:cxnSpLocks/>
          </p:cNvCxnSpPr>
          <p:nvPr/>
        </p:nvCxnSpPr>
        <p:spPr>
          <a:xfrm>
            <a:off x="3076197" y="2834302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2292667F-04B0-4E05-BD37-521CD8C41291}"/>
              </a:ext>
            </a:extLst>
          </p:cNvPr>
          <p:cNvSpPr txBox="1"/>
          <p:nvPr/>
        </p:nvSpPr>
        <p:spPr>
          <a:xfrm>
            <a:off x="2945258" y="2569430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전송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80E1BC1-8B84-4EA9-B435-76798F627386}"/>
              </a:ext>
            </a:extLst>
          </p:cNvPr>
          <p:cNvCxnSpPr>
            <a:cxnSpLocks/>
          </p:cNvCxnSpPr>
          <p:nvPr/>
        </p:nvCxnSpPr>
        <p:spPr>
          <a:xfrm flipH="1">
            <a:off x="3073086" y="4127169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BC53056F-2B33-4C70-9740-60DE6A1877EF}"/>
              </a:ext>
            </a:extLst>
          </p:cNvPr>
          <p:cNvSpPr txBox="1"/>
          <p:nvPr/>
        </p:nvSpPr>
        <p:spPr>
          <a:xfrm>
            <a:off x="2930026" y="3918439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클릭</a:t>
            </a:r>
          </a:p>
        </p:txBody>
      </p: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20B73B9C-9592-42B8-A101-74748325C9C4}"/>
              </a:ext>
            </a:extLst>
          </p:cNvPr>
          <p:cNvCxnSpPr>
            <a:cxnSpLocks/>
          </p:cNvCxnSpPr>
          <p:nvPr/>
        </p:nvCxnSpPr>
        <p:spPr>
          <a:xfrm>
            <a:off x="3098857" y="4438630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1BD0D182-9996-4AAA-9355-0EE6469E3B3D}"/>
              </a:ext>
            </a:extLst>
          </p:cNvPr>
          <p:cNvSpPr txBox="1"/>
          <p:nvPr/>
        </p:nvSpPr>
        <p:spPr>
          <a:xfrm>
            <a:off x="2967918" y="4223186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페이지 제공</a:t>
            </a: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E4AB057E-0B68-4248-AFB4-690597325D0C}"/>
              </a:ext>
            </a:extLst>
          </p:cNvPr>
          <p:cNvCxnSpPr>
            <a:cxnSpLocks/>
          </p:cNvCxnSpPr>
          <p:nvPr/>
        </p:nvCxnSpPr>
        <p:spPr>
          <a:xfrm flipH="1">
            <a:off x="3086051" y="4839133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79A4A522-E537-4357-879E-43266D77BC77}"/>
              </a:ext>
            </a:extLst>
          </p:cNvPr>
          <p:cNvSpPr txBox="1"/>
          <p:nvPr/>
        </p:nvSpPr>
        <p:spPr>
          <a:xfrm>
            <a:off x="2931927" y="4521868"/>
            <a:ext cx="2669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요청</a:t>
            </a:r>
            <a:endParaRPr lang="en-US" altLang="ko-KR" sz="800" dirty="0"/>
          </a:p>
          <a:p>
            <a:pPr algn="ctr"/>
            <a:r>
              <a:rPr lang="ko-KR" altLang="en-US" sz="800" dirty="0"/>
              <a:t>이 때 암호화 된 값이 함께 </a:t>
            </a:r>
            <a:r>
              <a:rPr lang="en-US" altLang="ko-KR" sz="800" dirty="0"/>
              <a:t>server</a:t>
            </a:r>
            <a:r>
              <a:rPr lang="ko-KR" altLang="en-US" sz="800" dirty="0"/>
              <a:t>로 전송됨</a:t>
            </a:r>
            <a:endParaRPr lang="en-US" altLang="ko-KR" sz="800" dirty="0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6762B5D0-7DE3-4E81-B887-4CA358FBE2F9}"/>
              </a:ext>
            </a:extLst>
          </p:cNvPr>
          <p:cNvSpPr/>
          <p:nvPr/>
        </p:nvSpPr>
        <p:spPr>
          <a:xfrm>
            <a:off x="1721768" y="4997135"/>
            <a:ext cx="2502096" cy="13423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암호화 된 값 복호화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복호화를 통해 </a:t>
            </a:r>
            <a:r>
              <a:rPr lang="en-US" altLang="ko-KR" sz="800" dirty="0">
                <a:solidFill>
                  <a:schemeClr val="tx1"/>
                </a:solidFill>
              </a:rPr>
              <a:t>1)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 </a:t>
            </a:r>
            <a:r>
              <a:rPr lang="en-US" altLang="ko-KR" sz="800" dirty="0">
                <a:solidFill>
                  <a:schemeClr val="tx1"/>
                </a:solidFill>
              </a:rPr>
              <a:t>2)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만들어진 시간을 알 수 있음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생성된 지 </a:t>
            </a:r>
            <a:r>
              <a:rPr lang="en-US" altLang="ko-KR" sz="800" dirty="0">
                <a:solidFill>
                  <a:schemeClr val="tx1"/>
                </a:solidFill>
              </a:rPr>
              <a:t>5</a:t>
            </a:r>
            <a:r>
              <a:rPr lang="ko-KR" altLang="en-US" sz="800" dirty="0">
                <a:solidFill>
                  <a:schemeClr val="tx1"/>
                </a:solidFill>
              </a:rPr>
              <a:t>분이 넘었다면 해당 요청은 수행하지 않음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ko-KR" altLang="en-US" sz="800" dirty="0">
                <a:solidFill>
                  <a:schemeClr val="tx1"/>
                </a:solidFill>
              </a:rPr>
              <a:t>시간이 유효하다면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이메일로 </a:t>
            </a:r>
            <a:r>
              <a:rPr lang="en-US" altLang="ko-KR" sz="800" dirty="0">
                <a:solidFill>
                  <a:schemeClr val="tx1"/>
                </a:solidFill>
              </a:rPr>
              <a:t>user</a:t>
            </a:r>
            <a:r>
              <a:rPr lang="ko-KR" altLang="en-US" sz="800" dirty="0">
                <a:solidFill>
                  <a:schemeClr val="tx1"/>
                </a:solidFill>
              </a:rPr>
              <a:t>를 </a:t>
            </a:r>
            <a:r>
              <a:rPr lang="en-US" altLang="ko-KR" sz="800" dirty="0" err="1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에서 </a:t>
            </a:r>
            <a:r>
              <a:rPr lang="en-US" altLang="ko-KR" sz="800" dirty="0">
                <a:solidFill>
                  <a:schemeClr val="tx1"/>
                </a:solidFill>
              </a:rPr>
              <a:t>select</a:t>
            </a:r>
            <a:r>
              <a:rPr lang="ko-KR" altLang="en-US" sz="800" dirty="0">
                <a:solidFill>
                  <a:schemeClr val="tx1"/>
                </a:solidFill>
              </a:rPr>
              <a:t>하여 비밀번호를 변경함</a:t>
            </a: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7151424" y="1852292"/>
            <a:ext cx="4836539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⨀ 암호화 방법</a:t>
            </a:r>
            <a:endParaRPr lang="en-US" altLang="ko-KR" sz="1200" dirty="0"/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자바의 </a:t>
            </a:r>
            <a:r>
              <a:rPr lang="en-US" altLang="ko-KR" sz="1200" dirty="0"/>
              <a:t>Cipher </a:t>
            </a:r>
            <a:r>
              <a:rPr lang="ko-KR" altLang="en-US" sz="1200" dirty="0"/>
              <a:t>클래스를 사용하였습니다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AES/CBC/PKCS5Padding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r>
              <a:rPr lang="ko-KR" altLang="en-US" sz="1200" dirty="0"/>
              <a:t>⨀ 암호화 이용 과정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현재 시간과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암호화합니다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암호화 된 값과 함께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을 만든 후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로 전송합니다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3. Client</a:t>
            </a:r>
            <a:r>
              <a:rPr lang="ko-KR" altLang="en-US" sz="1200" dirty="0"/>
              <a:t>로부터 암호화 된 값과 함께 비밀번호 변경을 </a:t>
            </a:r>
            <a:r>
              <a:rPr lang="ko-KR" altLang="en-US" sz="1200" dirty="0" err="1"/>
              <a:t>요청받습니다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암호화 된 값을 복호화 하여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이 만들어진 시간과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얻어냅니다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유효시간을 확인 한 후</a:t>
            </a:r>
            <a:r>
              <a:rPr lang="en-US" altLang="ko-KR" sz="1200" dirty="0"/>
              <a:t> </a:t>
            </a:r>
            <a:r>
              <a:rPr lang="ko-KR" altLang="en-US" sz="1200" dirty="0"/>
              <a:t>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의 비밀번호를 변경합니다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3CBDE7AE-29B2-4D89-B27D-D77A46B6E4A3}"/>
              </a:ext>
            </a:extLst>
          </p:cNvPr>
          <p:cNvSpPr/>
          <p:nvPr/>
        </p:nvSpPr>
        <p:spPr>
          <a:xfrm>
            <a:off x="4342348" y="2991685"/>
            <a:ext cx="2387434" cy="88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하나의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은 한 명의 회원에게만 적용되는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임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예시 </a:t>
            </a:r>
            <a:r>
              <a:rPr lang="en-US" altLang="ko-KR" sz="800" dirty="0">
                <a:solidFill>
                  <a:schemeClr val="tx1"/>
                </a:solidFill>
              </a:rPr>
              <a:t>: www.highend.com/reset/password/{askljaflkmdkljasklf(</a:t>
            </a:r>
            <a:r>
              <a:rPr lang="ko-KR" altLang="en-US" sz="800" dirty="0">
                <a:solidFill>
                  <a:schemeClr val="tx1"/>
                </a:solidFill>
              </a:rPr>
              <a:t>회원 </a:t>
            </a:r>
            <a:r>
              <a:rPr lang="en-US" altLang="ko-KR" sz="800" dirty="0">
                <a:solidFill>
                  <a:schemeClr val="tx1"/>
                </a:solidFill>
              </a:rPr>
              <a:t>email</a:t>
            </a:r>
            <a:r>
              <a:rPr lang="ko-KR" altLang="en-US" sz="800" dirty="0">
                <a:solidFill>
                  <a:schemeClr val="tx1"/>
                </a:solidFill>
              </a:rPr>
              <a:t>과 현재 시간으로 암호화 된 값</a:t>
            </a:r>
            <a:r>
              <a:rPr lang="en-US" altLang="ko-KR" sz="800" dirty="0">
                <a:solidFill>
                  <a:schemeClr val="tx1"/>
                </a:solidFill>
              </a:rPr>
              <a:t>)}</a:t>
            </a:r>
            <a:r>
              <a:rPr lang="ko-KR" altLang="en-US" sz="800" dirty="0"/>
              <a:t>원</a:t>
            </a:r>
            <a:endParaRPr lang="en-US" altLang="ko-KR" sz="800" dirty="0"/>
          </a:p>
        </p:txBody>
      </p:sp>
    </p:spTree>
    <p:extLst>
      <p:ext uri="{BB962C8B-B14F-4D97-AF65-F5344CB8AC3E}">
        <p14:creationId xmlns:p14="http://schemas.microsoft.com/office/powerpoint/2010/main" val="4141483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118" y="3090038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5802" y="1190760"/>
            <a:ext cx="1423934" cy="123055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4009" y="5489367"/>
            <a:ext cx="1075624" cy="98488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677" y="3195365"/>
            <a:ext cx="1360287" cy="1454316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4479" y="1310700"/>
            <a:ext cx="2069479" cy="1066742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1898055" y="3699269"/>
            <a:ext cx="2159212" cy="25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FC0CEE3-2FF4-4C53-96C9-38740B73DA1B}"/>
              </a:ext>
            </a:extLst>
          </p:cNvPr>
          <p:cNvSpPr txBox="1"/>
          <p:nvPr/>
        </p:nvSpPr>
        <p:spPr>
          <a:xfrm>
            <a:off x="1580387" y="3492026"/>
            <a:ext cx="27055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Request (</a:t>
            </a:r>
            <a:r>
              <a:rPr lang="ko-KR" altLang="en-US" sz="800" dirty="0"/>
              <a:t>예시 </a:t>
            </a:r>
            <a:r>
              <a:rPr lang="en-US" altLang="ko-KR" sz="800" dirty="0"/>
              <a:t>: </a:t>
            </a:r>
            <a:r>
              <a:rPr lang="ko-KR" altLang="en-US" sz="800" dirty="0"/>
              <a:t>회원가입</a:t>
            </a:r>
            <a:r>
              <a:rPr lang="en-US" altLang="ko-KR" sz="800" dirty="0"/>
              <a:t>, </a:t>
            </a:r>
            <a:r>
              <a:rPr lang="ko-KR" altLang="en-US" sz="800" dirty="0"/>
              <a:t>회원 정보 조회</a:t>
            </a:r>
            <a:r>
              <a:rPr lang="en-US" altLang="ko-KR" sz="800" dirty="0"/>
              <a:t>)</a:t>
            </a:r>
            <a:endParaRPr lang="ko-KR" altLang="en-US" sz="80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V="1">
            <a:off x="4677883" y="2324090"/>
            <a:ext cx="454556" cy="8915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4950454" y="2744793"/>
            <a:ext cx="15113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Client</a:t>
            </a:r>
            <a:r>
              <a:rPr lang="ko-KR" altLang="en-US" sz="800" dirty="0"/>
              <a:t>로부터 받은 파일 저장</a:t>
            </a:r>
            <a:r>
              <a:rPr lang="en-US" altLang="ko-KR" sz="800" dirty="0"/>
              <a:t>(</a:t>
            </a:r>
            <a:r>
              <a:rPr lang="ko-KR" altLang="en-US" sz="800" dirty="0"/>
              <a:t>예시 </a:t>
            </a:r>
            <a:r>
              <a:rPr lang="en-US" altLang="ko-KR" sz="800" dirty="0"/>
              <a:t>: </a:t>
            </a:r>
            <a:r>
              <a:rPr lang="ko-KR" altLang="en-US" sz="800" dirty="0"/>
              <a:t>사진</a:t>
            </a:r>
            <a:r>
              <a:rPr lang="en-US" altLang="ko-KR" sz="800" dirty="0"/>
              <a:t>)</a:t>
            </a:r>
            <a:endParaRPr lang="ko-KR" altLang="en-US" sz="800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309538" y="1657728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4520870" y="4819951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4757431" y="4818532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4086873" y="5046937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4752962" y="5059377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286459" y="2018893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3679942" y="1421762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3684045" y="1801428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243315" y="2265096"/>
            <a:ext cx="1053410" cy="8198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1454679" y="2377442"/>
            <a:ext cx="886752" cy="705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914544" y="2377442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196439" y="2553530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801779" y="47383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668581" y="598132"/>
            <a:ext cx="127155" cy="12105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50739CBA-50AD-4D28-96D8-6020FC9EB336}"/>
              </a:ext>
            </a:extLst>
          </p:cNvPr>
          <p:cNvCxnSpPr>
            <a:cxnSpLocks/>
          </p:cNvCxnSpPr>
          <p:nvPr/>
        </p:nvCxnSpPr>
        <p:spPr>
          <a:xfrm flipH="1" flipV="1">
            <a:off x="1898055" y="3951529"/>
            <a:ext cx="2158761" cy="346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DCDC8C5-A605-45D2-9819-EA7A112DB985}"/>
              </a:ext>
            </a:extLst>
          </p:cNvPr>
          <p:cNvSpPr txBox="1"/>
          <p:nvPr/>
        </p:nvSpPr>
        <p:spPr>
          <a:xfrm>
            <a:off x="2517272" y="377069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Response </a:t>
            </a:r>
            <a:r>
              <a:rPr lang="en-US" altLang="ko-KR" sz="800" dirty="0" err="1"/>
              <a:t>dto</a:t>
            </a:r>
            <a:endParaRPr lang="ko-KR" altLang="en-US" sz="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936693" y="4506872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4152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Project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7174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5673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7" y="9367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1581713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381430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6" y="1820729"/>
            <a:ext cx="48330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</a:p>
          <a:p>
            <a:endParaRPr lang="en-US" altLang="ko-KR" sz="1400" dirty="0"/>
          </a:p>
          <a:p>
            <a:r>
              <a:rPr lang="en-US" altLang="ko-KR" sz="1400" dirty="0"/>
              <a:t>- RDS, EC2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282867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665941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098815"/>
            <a:ext cx="4833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434284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4218711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4718206"/>
            <a:ext cx="3189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2204507-3F39-437E-BB11-2FE8FBEFB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598" y="2402297"/>
            <a:ext cx="2172928" cy="3759713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CC4ED2A3-ECC2-4ACA-BE35-A6F0BB9834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612" y="2269488"/>
            <a:ext cx="2279686" cy="3892521"/>
          </a:xfrm>
          <a:prstGeom prst="rect">
            <a:avLst/>
          </a:prstGeom>
        </p:spPr>
      </p:pic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5977276" y="6006650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375970" y="5918873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372837" y="6307450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55144" y="36784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70297" y="24370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82298" y="697085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315127" y="3365064"/>
            <a:ext cx="5766807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63701" y="2332359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628995" y="2537471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374648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057900" y="5728257"/>
            <a:ext cx="6388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3130</TotalTime>
  <Words>1421</Words>
  <Application>Microsoft Office PowerPoint</Application>
  <PresentationFormat>와이드스크린</PresentationFormat>
  <Paragraphs>255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Arial Unicode MS</vt:lpstr>
      <vt:lpstr>맑은 고딕</vt:lpstr>
      <vt:lpstr>Arial</vt:lpstr>
      <vt:lpstr>Arial Rounded MT Bold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156</cp:revision>
  <dcterms:created xsi:type="dcterms:W3CDTF">2021-09-02T08:00:50Z</dcterms:created>
  <dcterms:modified xsi:type="dcterms:W3CDTF">2022-01-23T17:07:51Z</dcterms:modified>
</cp:coreProperties>
</file>