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8" r:id="rId3"/>
    <p:sldId id="269" r:id="rId4"/>
    <p:sldId id="270" r:id="rId5"/>
    <p:sldId id="271" r:id="rId6"/>
    <p:sldId id="260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00" d="100"/>
          <a:sy n="100" d="100"/>
        </p:scale>
        <p:origin x="-1400" y="-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06EAE-9ED8-4493-8307-E0CBB87D5314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7C8723-B0A8-44DF-B11C-1529A2C957B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206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EEDD1A-FA7A-434E-9B66-FC6209522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28C861-011E-4490-8EB3-D6B78A380A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2949AD-E147-4013-99FF-2D4FA55AC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199DBB-B2C3-4721-AAB9-D30B21FD8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910567-EA62-4EDC-9619-23EF37049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396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983461-3589-47C9-BC84-1F6774FC5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54A376-77FE-4F01-8822-8CBBBBADE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2D8F8-AD77-49DC-BA99-52ECACFFD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0A9B4-60CD-4A93-84AA-4AA1D209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393833-3554-460E-A120-8DDB080CB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077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745B1B-F050-4A2E-B57E-319B1C151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77761F-5150-4DF9-90F4-FF93ECB039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44BEF7-2AFC-49B8-997E-D079E85BD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AC3AFE-7BEC-4BD7-8F3D-86E2498A0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22FAAA-4AC4-4900-B217-DDC5EF04A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24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06BFD-C93D-465A-A1BB-06A08E91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B60447-EBBC-4A0D-85FE-8138E59D23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2DDACD-F475-4279-A52A-FC383F7C7C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719B81-9EF5-48B5-9F19-81D0EC8B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6D725C-7393-4A0F-A51C-8C027A295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426847-7F7E-4006-BB97-B2BC9E684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6556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C919D5-CD33-4C17-8E2A-F118161B5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F24C9D-D6D6-46A1-95F2-108C46885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0F65BC-44EC-41FC-A9DE-AAC9AB6B9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786B56-9E80-44D6-A8C6-86E45EAFA3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A721A22-D187-400F-ABCB-7050B71CAD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804F337-125F-45E4-8955-5378A8373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8BC0B01-4F3B-4208-8467-E19A95B00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81BDFEF-3759-495D-93CB-A30309D0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509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B6692B-4DB1-477F-8B2E-E14A7B04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54098E-EAF2-43FE-B149-05BFB8AD5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4559DEC-B562-4D7A-98D6-03916C74F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AA102E4-8946-4025-B68A-DA96B5A9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8698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7A45C2-3C32-4A6B-B928-5F793752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A053D21-9CC7-4967-ACA6-83B5DB911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57EC49-987B-4C80-B3D1-362EC260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0499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89BE49-7F10-4C93-A11F-FAE538C9D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AEC39CF-03FF-4F26-8B3A-9FEA98024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642CD6-3AEF-4525-94E7-237EE094FB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A85488-BC5C-4363-A379-A8E4EFDA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2C6A69-6D5A-42C1-8E2F-D9C680443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BF19BC-229C-4365-AD57-0682792CD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83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BBB45-7470-45A7-8EDB-1DDFB4E69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FC7D90B-075C-4168-ABCD-C1736F09F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7F0EB17-CC0E-4C44-9611-02A3EA736A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BE52177-2A67-47BC-8871-A32F29A00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5F624-CEF9-4E83-9A21-A05DEE08E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A94CA1-DBCD-45E2-B760-4E65B206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701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49C12-874F-4399-86CB-E5EEB7A96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A78AB1-E5E4-4A97-A836-4FD4651CD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65C709-F1DC-4C8C-B086-1E83CF964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9BC370C-0849-47CE-B076-DA641B06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A398DF-CA33-4612-81A2-CF2006DB4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5233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4D70B29-E381-4250-AF87-56596084E7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3C664-F4C6-4766-864B-D8BAA1385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8103BF-587F-40C1-B45E-0E35C7C9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C9230-EE9A-4001-BD76-F6E1055B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0A6A60-EC7C-49AA-A82E-3D553D88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891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F0BA2D-27E8-4ED2-89A1-2FA10A13F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D9D619A-8D01-4053-9EB1-7BC4E9DA0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2646E7-6A4E-4A9D-B6CE-B600874297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1FD04A-7A57-4ABB-A4D2-40192FED31D2}" type="datetimeFigureOut">
              <a:rPr lang="ko-KR" altLang="en-US" smtClean="0"/>
              <a:t>2022-01-17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77F178-130D-4E3E-86C3-65F2AFFC8D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B19FC-C1E5-43E9-88F3-0DEB5E755C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F57EAD-A5CB-47A6-8230-E4A6D0A2B9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504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ohjinho7@gmail.com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ohjinhoko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벽, 실내, 사람이(가) 표시된 사진&#10;&#10;자동 생성된 설명">
            <a:extLst>
              <a:ext uri="{FF2B5EF4-FFF2-40B4-BE49-F238E27FC236}">
                <a16:creationId xmlns:a16="http://schemas.microsoft.com/office/drawing/2014/main" id="{F400C45B-EF0D-436F-8A0E-2754E15A2D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080" y="453390"/>
            <a:ext cx="5288280" cy="53416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7BCA0CD-2103-4879-BA3D-3B0748FB66AF}"/>
              </a:ext>
            </a:extLst>
          </p:cNvPr>
          <p:cNvSpPr txBox="1"/>
          <p:nvPr/>
        </p:nvSpPr>
        <p:spPr>
          <a:xfrm>
            <a:off x="5783580" y="2648419"/>
            <a:ext cx="51739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숭실대학교 </a:t>
            </a:r>
            <a:r>
              <a:rPr lang="en-US" altLang="ko-KR" sz="1100" dirty="0"/>
              <a:t>IT</a:t>
            </a:r>
            <a:r>
              <a:rPr lang="ko-KR" altLang="en-US" sz="1100" dirty="0"/>
              <a:t>대학 글로벌미디어학부</a:t>
            </a:r>
            <a:r>
              <a:rPr lang="en-US" altLang="ko-KR" sz="1100" dirty="0"/>
              <a:t>(2016.03 ~)</a:t>
            </a:r>
            <a:endParaRPr lang="ko-KR" altLang="en-US" sz="11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CFDEF8A-92A1-4EF9-859A-584344041B80}"/>
              </a:ext>
            </a:extLst>
          </p:cNvPr>
          <p:cNvSpPr txBox="1"/>
          <p:nvPr/>
        </p:nvSpPr>
        <p:spPr>
          <a:xfrm>
            <a:off x="5783580" y="3578227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숭실대학교 창업지원단 소속 </a:t>
            </a:r>
            <a:r>
              <a:rPr lang="ko-KR" altLang="en-US" sz="1100" dirty="0" err="1"/>
              <a:t>온더브릿지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개발자</a:t>
            </a:r>
            <a:r>
              <a:rPr lang="en-US" altLang="ko-KR" sz="1100" dirty="0"/>
              <a:t>(2021. 04 ~ 2021.08)</a:t>
            </a:r>
            <a:endParaRPr lang="ko-KR" altLang="en-US" sz="11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F5C8A2-14A3-4EB8-890A-39A82BF61709}"/>
              </a:ext>
            </a:extLst>
          </p:cNvPr>
          <p:cNvSpPr txBox="1"/>
          <p:nvPr/>
        </p:nvSpPr>
        <p:spPr>
          <a:xfrm>
            <a:off x="5783580" y="592475"/>
            <a:ext cx="27355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Be</a:t>
            </a:r>
            <a:r>
              <a:rPr lang="en-US" altLang="ko-KR" sz="2800" dirty="0">
                <a:latin typeface="Arial Rounded MT Bold" panose="020F0704030504030204" pitchFamily="34" charset="0"/>
              </a:rPr>
              <a:t>st </a:t>
            </a:r>
            <a:r>
              <a:rPr lang="en-US" altLang="ko-KR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P</a:t>
            </a:r>
            <a:r>
              <a:rPr lang="en-US" altLang="ko-KR" sz="2800" dirty="0">
                <a:latin typeface="Arial Rounded MT Bold" panose="020F0704030504030204" pitchFamily="34" charset="0"/>
              </a:rPr>
              <a:t>ract</a:t>
            </a:r>
            <a:r>
              <a:rPr lang="en-US" altLang="ko-KR" sz="2800" dirty="0">
                <a:solidFill>
                  <a:srgbClr val="00B050"/>
                </a:solidFill>
                <a:latin typeface="Arial Rounded MT Bold" panose="020F0704030504030204" pitchFamily="34" charset="0"/>
              </a:rPr>
              <a:t>i</a:t>
            </a:r>
            <a:r>
              <a:rPr lang="en-US" altLang="ko-KR" sz="2800" dirty="0">
                <a:latin typeface="Arial Rounded MT Bold" panose="020F0704030504030204" pitchFamily="34" charset="0"/>
              </a:rPr>
              <a:t>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2AD1C1-A19B-4AC8-A413-FE5F5F43CBCB}"/>
              </a:ext>
            </a:extLst>
          </p:cNvPr>
          <p:cNvSpPr txBox="1"/>
          <p:nvPr/>
        </p:nvSpPr>
        <p:spPr>
          <a:xfrm>
            <a:off x="1695450" y="6069568"/>
            <a:ext cx="2415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백엔드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개발자 오진호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C8D3ACA-DCCA-4D45-A3EB-63540921026B}"/>
              </a:ext>
            </a:extLst>
          </p:cNvPr>
          <p:cNvSpPr txBox="1"/>
          <p:nvPr/>
        </p:nvSpPr>
        <p:spPr>
          <a:xfrm>
            <a:off x="8803668" y="6042546"/>
            <a:ext cx="339451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   기술 스택 </a:t>
            </a:r>
            <a:r>
              <a:rPr lang="en-US" altLang="ko-KR" sz="1100" b="1" dirty="0"/>
              <a:t>: Java, Spring, </a:t>
            </a:r>
            <a:r>
              <a:rPr lang="en-US" altLang="ko-KR" sz="1100" b="1" dirty="0" err="1"/>
              <a:t>Springboot</a:t>
            </a:r>
            <a:r>
              <a:rPr lang="en-US" altLang="ko-KR" sz="1100" b="1" dirty="0"/>
              <a:t>, </a:t>
            </a:r>
            <a:r>
              <a:rPr lang="en-US" altLang="ko-KR" sz="1100" b="1" dirty="0" err="1"/>
              <a:t>DataJPA</a:t>
            </a:r>
            <a:endParaRPr lang="en-US" altLang="ko-KR" sz="1100" dirty="0"/>
          </a:p>
          <a:p>
            <a:endParaRPr lang="en-US" altLang="ko-KR" sz="1100" dirty="0"/>
          </a:p>
          <a:p>
            <a:pPr algn="r"/>
            <a:r>
              <a:rPr lang="en-US" altLang="ko-KR" sz="1100" dirty="0"/>
              <a:t>Email: </a:t>
            </a:r>
            <a:r>
              <a:rPr lang="en-US" altLang="ko-KR" sz="1100" dirty="0">
                <a:hlinkClick r:id="rId3"/>
              </a:rPr>
              <a:t>ohjinho7@gmail.com</a:t>
            </a:r>
            <a:endParaRPr lang="en-US" altLang="ko-KR" sz="1100" dirty="0"/>
          </a:p>
          <a:p>
            <a:pPr algn="r"/>
            <a:r>
              <a:rPr lang="en-US" altLang="ko-KR" sz="1100" dirty="0" err="1"/>
              <a:t>Github</a:t>
            </a:r>
            <a:r>
              <a:rPr lang="en-US" altLang="ko-KR" sz="1100" dirty="0"/>
              <a:t>: </a:t>
            </a:r>
            <a:r>
              <a:rPr lang="en-US" altLang="ko-KR" sz="1100" dirty="0">
                <a:hlinkClick r:id="rId4"/>
              </a:rPr>
              <a:t>https://github.com/ohjinhokor</a:t>
            </a:r>
            <a:endParaRPr lang="en-US" altLang="ko-KR" sz="1100" dirty="0"/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204CD73-0EED-42FC-8D21-86A2373FAD75}"/>
              </a:ext>
            </a:extLst>
          </p:cNvPr>
          <p:cNvCxnSpPr>
            <a:cxnSpLocks/>
          </p:cNvCxnSpPr>
          <p:nvPr/>
        </p:nvCxnSpPr>
        <p:spPr>
          <a:xfrm>
            <a:off x="5650302" y="2093651"/>
            <a:ext cx="64294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DFEB9F6-477D-471E-9FF8-F2E06E67C0B4}"/>
              </a:ext>
            </a:extLst>
          </p:cNvPr>
          <p:cNvSpPr txBox="1"/>
          <p:nvPr/>
        </p:nvSpPr>
        <p:spPr>
          <a:xfrm>
            <a:off x="5783580" y="1180851"/>
            <a:ext cx="4317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세상을 바꿀 수 있는 아이디어를 </a:t>
            </a:r>
            <a:endParaRPr lang="en-US" altLang="ko-KR" dirty="0"/>
          </a:p>
          <a:p>
            <a:r>
              <a:rPr lang="ko-KR" altLang="en-US" dirty="0"/>
              <a:t>실체화 하는 것을 꿈꾸는 개발자입니다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A6887C-B1DA-4C65-92C8-63DC460BC854}"/>
              </a:ext>
            </a:extLst>
          </p:cNvPr>
          <p:cNvSpPr txBox="1"/>
          <p:nvPr/>
        </p:nvSpPr>
        <p:spPr>
          <a:xfrm>
            <a:off x="5783580" y="5036874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Google Developers Student Club </a:t>
            </a:r>
            <a:r>
              <a:rPr lang="ko-KR" altLang="en-US" sz="1100" dirty="0"/>
              <a:t>숭실대 지부 </a:t>
            </a:r>
            <a:r>
              <a:rPr lang="en-US" altLang="ko-KR" sz="1100" dirty="0"/>
              <a:t>Server/Cloud Member(2021.09~)</a:t>
            </a:r>
            <a:endParaRPr lang="ko-KR" altLang="en-US" sz="11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B9BA9AE-E79D-4B05-BFF5-BCCBB1FB312E}"/>
              </a:ext>
            </a:extLst>
          </p:cNvPr>
          <p:cNvSpPr txBox="1"/>
          <p:nvPr/>
        </p:nvSpPr>
        <p:spPr>
          <a:xfrm>
            <a:off x="5800832" y="5298484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숭실대학교</a:t>
            </a:r>
            <a:r>
              <a:rPr lang="en-US" altLang="ko-KR" sz="1100" dirty="0"/>
              <a:t> </a:t>
            </a:r>
            <a:r>
              <a:rPr lang="ko-KR" altLang="en-US" sz="1100" dirty="0"/>
              <a:t>개발동아리 </a:t>
            </a:r>
            <a:r>
              <a:rPr lang="ko-KR" altLang="en-US" sz="1100" dirty="0" err="1"/>
              <a:t>유어슈</a:t>
            </a:r>
            <a:r>
              <a:rPr lang="ko-KR" altLang="en-US" sz="1100" dirty="0"/>
              <a:t>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팀원</a:t>
            </a:r>
            <a:r>
              <a:rPr lang="en-US" altLang="ko-KR" sz="1100" dirty="0"/>
              <a:t>(2021.10~)</a:t>
            </a:r>
            <a:endParaRPr lang="ko-KR" altLang="en-US" sz="11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70CFAB-9590-4219-B702-399DF8CA6F33}"/>
              </a:ext>
            </a:extLst>
          </p:cNvPr>
          <p:cNvSpPr txBox="1"/>
          <p:nvPr/>
        </p:nvSpPr>
        <p:spPr>
          <a:xfrm>
            <a:off x="5783580" y="4791344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대학 연합 개발동아리 </a:t>
            </a:r>
            <a:r>
              <a:rPr lang="en-US" altLang="ko-KR" sz="1100" dirty="0"/>
              <a:t>UMC </a:t>
            </a:r>
            <a:r>
              <a:rPr lang="ko-KR" altLang="en-US" sz="1100" dirty="0"/>
              <a:t>숭실대 지부 </a:t>
            </a:r>
            <a:r>
              <a:rPr lang="en-US" altLang="ko-KR" sz="1100" dirty="0"/>
              <a:t>Server Member(2021.08 ~ 2021.11)</a:t>
            </a:r>
            <a:endParaRPr lang="ko-KR" alt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95444D-8F9D-425E-8D71-6F757D1A70DC}"/>
              </a:ext>
            </a:extLst>
          </p:cNvPr>
          <p:cNvSpPr txBox="1"/>
          <p:nvPr/>
        </p:nvSpPr>
        <p:spPr>
          <a:xfrm>
            <a:off x="5783580" y="3850618"/>
            <a:ext cx="62788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- </a:t>
            </a:r>
            <a:r>
              <a:rPr lang="ko-KR" altLang="en-US" sz="1100" dirty="0"/>
              <a:t>스타트업 겨울방학 인턴십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개발자 </a:t>
            </a:r>
            <a:r>
              <a:rPr lang="en-US" altLang="ko-KR" sz="1100" dirty="0"/>
              <a:t>(DINO</a:t>
            </a:r>
            <a:r>
              <a:rPr lang="ko-KR" altLang="en-US" sz="1100" dirty="0"/>
              <a:t> </a:t>
            </a:r>
            <a:r>
              <a:rPr lang="en-US" altLang="ko-KR" sz="1100" dirty="0"/>
              <a:t>STUDIO</a:t>
            </a:r>
            <a:r>
              <a:rPr lang="ko-KR" altLang="en-US" sz="1100" dirty="0"/>
              <a:t> </a:t>
            </a:r>
            <a:r>
              <a:rPr lang="en-US" altLang="ko-KR" sz="1100" dirty="0"/>
              <a:t>– 2021.12.29 ~ 2021.02)</a:t>
            </a:r>
            <a:endParaRPr lang="ko-KR" altLang="en-US" sz="11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FCE5EC8-14B3-4915-9389-EE0F9D29C9B4}"/>
              </a:ext>
            </a:extLst>
          </p:cNvPr>
          <p:cNvSpPr txBox="1"/>
          <p:nvPr/>
        </p:nvSpPr>
        <p:spPr>
          <a:xfrm>
            <a:off x="5783580" y="2294474"/>
            <a:ext cx="5173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학력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A6B76A-7240-4F37-96D3-DD897417E7B7}"/>
              </a:ext>
            </a:extLst>
          </p:cNvPr>
          <p:cNvSpPr txBox="1"/>
          <p:nvPr/>
        </p:nvSpPr>
        <p:spPr>
          <a:xfrm>
            <a:off x="5783580" y="3256858"/>
            <a:ext cx="5173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이력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349158-CF0F-4051-9153-867EC6C84947}"/>
              </a:ext>
            </a:extLst>
          </p:cNvPr>
          <p:cNvSpPr txBox="1"/>
          <p:nvPr/>
        </p:nvSpPr>
        <p:spPr>
          <a:xfrm>
            <a:off x="5783580" y="4459153"/>
            <a:ext cx="51739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동아리 및 커뮤니티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F3775D8-2904-41BC-9A6A-F8862BF45D72}"/>
              </a:ext>
            </a:extLst>
          </p:cNvPr>
          <p:cNvCxnSpPr>
            <a:cxnSpLocks/>
          </p:cNvCxnSpPr>
          <p:nvPr/>
        </p:nvCxnSpPr>
        <p:spPr>
          <a:xfrm>
            <a:off x="5650302" y="5812218"/>
            <a:ext cx="642941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9090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FE91A0-2471-4BD7-9D1C-6ABE3C9F2579}"/>
              </a:ext>
            </a:extLst>
          </p:cNvPr>
          <p:cNvSpPr txBox="1"/>
          <p:nvPr/>
        </p:nvSpPr>
        <p:spPr>
          <a:xfrm>
            <a:off x="658601" y="453182"/>
            <a:ext cx="7481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400" b="1" dirty="0">
                <a:latin typeface="Arial" panose="020B0604020202020204" pitchFamily="34" charset="0"/>
                <a:cs typeface="Arial" panose="020B0604020202020204" pitchFamily="34" charset="0"/>
              </a:rPr>
              <a:t>DINO STUDIO </a:t>
            </a:r>
          </a:p>
          <a:p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스타트업 인턴십</a:t>
            </a:r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493EB-D5F6-4DB4-BB22-2ADD6AEAEA33}"/>
              </a:ext>
            </a:extLst>
          </p:cNvPr>
          <p:cNvSpPr txBox="1"/>
          <p:nvPr/>
        </p:nvSpPr>
        <p:spPr>
          <a:xfrm>
            <a:off x="605618" y="1878564"/>
            <a:ext cx="456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명 </a:t>
            </a:r>
            <a:r>
              <a:rPr lang="en-US" altLang="ko-KR" b="1" dirty="0"/>
              <a:t>: </a:t>
            </a:r>
            <a:r>
              <a:rPr lang="ko-KR" altLang="en-US" b="1" dirty="0"/>
              <a:t>하이엔드</a:t>
            </a:r>
            <a:r>
              <a:rPr lang="en-US" altLang="ko-KR" b="1" dirty="0"/>
              <a:t>(High-End)</a:t>
            </a:r>
            <a:endParaRPr lang="ko-KR" altLang="en-US" b="1" dirty="0"/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453229-C69C-46B4-B575-5C14E564D955}"/>
              </a:ext>
            </a:extLst>
          </p:cNvPr>
          <p:cNvSpPr/>
          <p:nvPr/>
        </p:nvSpPr>
        <p:spPr>
          <a:xfrm>
            <a:off x="5599771" y="697174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6A10-35E7-4DC2-AF2A-FCBF83B159FB}"/>
              </a:ext>
            </a:extLst>
          </p:cNvPr>
          <p:cNvSpPr txBox="1"/>
          <p:nvPr/>
        </p:nvSpPr>
        <p:spPr>
          <a:xfrm>
            <a:off x="6096000" y="547081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기간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0076C-0F5F-4092-A177-2D82071AB988}"/>
              </a:ext>
            </a:extLst>
          </p:cNvPr>
          <p:cNvSpPr txBox="1"/>
          <p:nvPr/>
        </p:nvSpPr>
        <p:spPr>
          <a:xfrm>
            <a:off x="6116831" y="916413"/>
            <a:ext cx="23491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2021. 12. 29 ~ </a:t>
            </a:r>
            <a:r>
              <a:rPr lang="ko-KR" altLang="en-US" sz="1400" dirty="0"/>
              <a:t>진행 중</a:t>
            </a:r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3FFE767E-0F5C-46D1-9455-679FDE04FD44}"/>
              </a:ext>
            </a:extLst>
          </p:cNvPr>
          <p:cNvSpPr/>
          <p:nvPr/>
        </p:nvSpPr>
        <p:spPr>
          <a:xfrm>
            <a:off x="5599771" y="1629319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A47425-E295-4884-955F-16710AF06B62}"/>
              </a:ext>
            </a:extLst>
          </p:cNvPr>
          <p:cNvSpPr txBox="1"/>
          <p:nvPr/>
        </p:nvSpPr>
        <p:spPr>
          <a:xfrm>
            <a:off x="6096000" y="1479226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기술 스택</a:t>
            </a:r>
            <a:endParaRPr lang="en-US" altLang="ko-KR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D25C7-6AA2-459D-89DC-FE2876FCC063}"/>
              </a:ext>
            </a:extLst>
          </p:cNvPr>
          <p:cNvSpPr txBox="1"/>
          <p:nvPr/>
        </p:nvSpPr>
        <p:spPr>
          <a:xfrm>
            <a:off x="6096000" y="1801620"/>
            <a:ext cx="5835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Java,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SpringBoot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DataJpa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MySql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Jwt</a:t>
            </a:r>
            <a:endParaRPr lang="en-US" altLang="ko-KR" sz="1400" dirty="0"/>
          </a:p>
          <a:p>
            <a:r>
              <a:rPr lang="en-US" altLang="ko-KR" sz="1400" dirty="0"/>
              <a:t>- EC2, RDS, S3, CloudFront, CICD (Travis CI, Code Deploy, S3 </a:t>
            </a:r>
            <a:r>
              <a:rPr lang="ko-KR" altLang="en-US" sz="1400" dirty="0"/>
              <a:t>이용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39DEE50-AA2F-41D9-AE3A-503F35537DCF}"/>
              </a:ext>
            </a:extLst>
          </p:cNvPr>
          <p:cNvSpPr/>
          <p:nvPr/>
        </p:nvSpPr>
        <p:spPr>
          <a:xfrm>
            <a:off x="5600623" y="2694132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109568-ED4B-474C-B8FC-D8DF923E81CF}"/>
              </a:ext>
            </a:extLst>
          </p:cNvPr>
          <p:cNvSpPr txBox="1"/>
          <p:nvPr/>
        </p:nvSpPr>
        <p:spPr>
          <a:xfrm>
            <a:off x="6116831" y="2544039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개요</a:t>
            </a:r>
            <a:endParaRPr lang="en-US" altLang="ko-KR" b="1" dirty="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1AADEE6-DBEB-42E0-87F8-D260129E2BA8}"/>
              </a:ext>
            </a:extLst>
          </p:cNvPr>
          <p:cNvSpPr/>
          <p:nvPr/>
        </p:nvSpPr>
        <p:spPr>
          <a:xfrm>
            <a:off x="5599772" y="3918481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02A62-FFDD-4FC0-8B75-67D4CDA6615E}"/>
              </a:ext>
            </a:extLst>
          </p:cNvPr>
          <p:cNvSpPr txBox="1"/>
          <p:nvPr/>
        </p:nvSpPr>
        <p:spPr>
          <a:xfrm>
            <a:off x="6096001" y="3768388"/>
            <a:ext cx="2390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나의 구현 내용</a:t>
            </a:r>
            <a:endParaRPr lang="en-US" altLang="ko-KR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A8802D-994C-46BB-8F06-E3B54DD130A8}"/>
              </a:ext>
            </a:extLst>
          </p:cNvPr>
          <p:cNvSpPr txBox="1"/>
          <p:nvPr/>
        </p:nvSpPr>
        <p:spPr>
          <a:xfrm>
            <a:off x="6116831" y="4231802"/>
            <a:ext cx="5881580" cy="2816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⨀ </a:t>
            </a:r>
            <a:r>
              <a:rPr lang="en-US" altLang="ko-KR" sz="1100" dirty="0"/>
              <a:t>JWT</a:t>
            </a:r>
            <a:r>
              <a:rPr lang="ko-KR" altLang="en-US" sz="1100" dirty="0"/>
              <a:t>와 </a:t>
            </a:r>
            <a:r>
              <a:rPr lang="en-US" altLang="ko-KR" sz="1100" dirty="0"/>
              <a:t>Interceptor</a:t>
            </a:r>
            <a:r>
              <a:rPr lang="ko-KR" altLang="en-US" sz="1100" dirty="0"/>
              <a:t>를 이용한 로그인 및 보안 강화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⨀ 비밀번호 변경 </a:t>
            </a:r>
            <a:r>
              <a:rPr lang="en-US" altLang="ko-KR" sz="1100" dirty="0" err="1"/>
              <a:t>url</a:t>
            </a:r>
            <a:r>
              <a:rPr lang="en-US" altLang="ko-KR" sz="1100" dirty="0"/>
              <a:t> </a:t>
            </a:r>
            <a:r>
              <a:rPr lang="ko-KR" altLang="en-US" sz="1100" dirty="0"/>
              <a:t>생성 시 암호화</a:t>
            </a:r>
            <a:r>
              <a:rPr lang="en-US" altLang="ko-KR" sz="1100" dirty="0"/>
              <a:t> </a:t>
            </a:r>
            <a:r>
              <a:rPr lang="ko-KR" altLang="en-US" sz="1100" dirty="0"/>
              <a:t>진행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⨀ </a:t>
            </a:r>
            <a:r>
              <a:rPr lang="en-US" altLang="ko-KR" sz="1100" dirty="0"/>
              <a:t>AWS Cloud </a:t>
            </a:r>
            <a:r>
              <a:rPr lang="ko-KR" altLang="en-US" sz="1100" dirty="0"/>
              <a:t>서비스 사용 </a:t>
            </a:r>
            <a:r>
              <a:rPr lang="en-US" altLang="ko-KR" sz="1100" dirty="0"/>
              <a:t>- EC2, RDS, S3, CloudFront</a:t>
            </a:r>
          </a:p>
          <a:p>
            <a:endParaRPr lang="en-US" altLang="ko-KR" sz="1100" dirty="0"/>
          </a:p>
          <a:p>
            <a:r>
              <a:rPr lang="ko-KR" altLang="en-US" sz="1100" dirty="0"/>
              <a:t>⨀ </a:t>
            </a:r>
            <a:r>
              <a:rPr lang="ko-KR" altLang="en-US" sz="1100" dirty="0" err="1"/>
              <a:t>스웨거를</a:t>
            </a:r>
            <a:r>
              <a:rPr lang="ko-KR" altLang="en-US" sz="1100" dirty="0"/>
              <a:t> 이용한 </a:t>
            </a:r>
            <a:r>
              <a:rPr lang="en-US" altLang="ko-KR" sz="1100" dirty="0"/>
              <a:t>API </a:t>
            </a:r>
            <a:r>
              <a:rPr lang="ko-KR" altLang="en-US" sz="1100" dirty="0"/>
              <a:t>문서 자동화 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⨀ 자바</a:t>
            </a:r>
            <a:r>
              <a:rPr lang="en-US" altLang="ko-KR" sz="1100" dirty="0"/>
              <a:t>, </a:t>
            </a:r>
            <a:r>
              <a:rPr lang="ko-KR" altLang="en-US" sz="1100" dirty="0"/>
              <a:t>스프링에서 제공하는 </a:t>
            </a:r>
            <a:r>
              <a:rPr lang="en-US" altLang="ko-KR" sz="1100" dirty="0"/>
              <a:t>Optional, </a:t>
            </a:r>
            <a:r>
              <a:rPr lang="en-US" altLang="ko-KR" sz="1100" dirty="0" err="1"/>
              <a:t>ExceptionHandler</a:t>
            </a:r>
            <a:r>
              <a:rPr lang="en-US" altLang="ko-KR" sz="1100" dirty="0"/>
              <a:t>, </a:t>
            </a:r>
          </a:p>
          <a:p>
            <a:r>
              <a:rPr lang="en-US" altLang="ko-KR" sz="1100" dirty="0"/>
              <a:t>    </a:t>
            </a:r>
            <a:r>
              <a:rPr lang="en-US" altLang="ko-KR" sz="1100" dirty="0" err="1"/>
              <a:t>ControllerAdvice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ResponseEntity</a:t>
            </a:r>
            <a:r>
              <a:rPr lang="en-US" altLang="ko-KR" sz="1100" dirty="0"/>
              <a:t> </a:t>
            </a:r>
            <a:r>
              <a:rPr lang="ko-KR" altLang="en-US" sz="1100" dirty="0"/>
              <a:t>등을 이용하여 코드의 통일성 추구</a:t>
            </a:r>
            <a:endParaRPr lang="en-US" altLang="ko-KR" sz="1100" dirty="0"/>
          </a:p>
          <a:p>
            <a:endParaRPr lang="en-US" altLang="ko-KR" sz="1100" dirty="0"/>
          </a:p>
          <a:p>
            <a:r>
              <a:rPr lang="ko-KR" altLang="en-US" sz="1100" dirty="0"/>
              <a:t>⨀ 데이터베이스 설계 </a:t>
            </a:r>
            <a:r>
              <a:rPr lang="en-US" altLang="ko-KR" sz="1100" dirty="0"/>
              <a:t>–&gt; </a:t>
            </a:r>
            <a:r>
              <a:rPr lang="ko-KR" altLang="en-US" sz="1100" dirty="0" err="1"/>
              <a:t>백엔드</a:t>
            </a:r>
            <a:r>
              <a:rPr lang="ko-KR" altLang="en-US" sz="1100" dirty="0"/>
              <a:t> </a:t>
            </a:r>
            <a:r>
              <a:rPr lang="en-US" altLang="ko-KR" sz="1100" dirty="0"/>
              <a:t>API </a:t>
            </a:r>
            <a:r>
              <a:rPr lang="ko-KR" altLang="en-US" sz="1100" dirty="0"/>
              <a:t>구현 </a:t>
            </a:r>
            <a:r>
              <a:rPr lang="en-US" altLang="ko-KR" sz="1100" dirty="0"/>
              <a:t>–&gt; </a:t>
            </a:r>
            <a:r>
              <a:rPr lang="ko-KR" altLang="en-US" sz="1100" dirty="0"/>
              <a:t>배포</a:t>
            </a:r>
            <a:r>
              <a:rPr lang="en-US" altLang="ko-KR" sz="1100" dirty="0"/>
              <a:t>(CICD)</a:t>
            </a:r>
            <a:r>
              <a:rPr lang="ko-KR" altLang="en-US" sz="1100" dirty="0"/>
              <a:t>의 모든 과정을 진행</a:t>
            </a:r>
            <a:endParaRPr lang="en-US" altLang="ko-KR" sz="1100" dirty="0"/>
          </a:p>
          <a:p>
            <a:r>
              <a:rPr lang="en-US" altLang="ko-KR" sz="1100" dirty="0"/>
              <a:t>       </a:t>
            </a:r>
          </a:p>
          <a:p>
            <a:r>
              <a:rPr lang="en-US" altLang="ko-KR" sz="1100" dirty="0"/>
              <a:t> </a:t>
            </a:r>
            <a:r>
              <a:rPr lang="en-US" altLang="ko-KR" sz="1050" dirty="0"/>
              <a:t>- CTO</a:t>
            </a:r>
            <a:r>
              <a:rPr lang="ko-KR" altLang="en-US" sz="1050" dirty="0"/>
              <a:t>님을 제외한 유일한 </a:t>
            </a:r>
            <a:r>
              <a:rPr lang="ko-KR" altLang="en-US" sz="1050" dirty="0" err="1"/>
              <a:t>백엔드</a:t>
            </a:r>
            <a:r>
              <a:rPr lang="ko-KR" altLang="en-US" sz="1050" dirty="0"/>
              <a:t> 개발자로 참여하였습니다</a:t>
            </a:r>
            <a:r>
              <a:rPr lang="en-US" altLang="ko-KR" sz="1050" dirty="0"/>
              <a:t>.</a:t>
            </a:r>
          </a:p>
          <a:p>
            <a:endParaRPr lang="en-US" altLang="ko-KR" sz="1100" dirty="0"/>
          </a:p>
          <a:p>
            <a:r>
              <a:rPr lang="ko-KR" altLang="en-US" sz="1200" dirty="0"/>
              <a:t>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427E50-B330-4DAB-8331-9469154D2C22}"/>
              </a:ext>
            </a:extLst>
          </p:cNvPr>
          <p:cNvSpPr txBox="1"/>
          <p:nvPr/>
        </p:nvSpPr>
        <p:spPr>
          <a:xfrm>
            <a:off x="6063740" y="2913371"/>
            <a:ext cx="4817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200" dirty="0"/>
              <a:t>남녀의 만남을 주선하는 소개팅 어플입니다</a:t>
            </a:r>
            <a:r>
              <a:rPr lang="en-US" altLang="ko-KR" sz="1200" dirty="0"/>
              <a:t>. 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특정 조건이 충족하는 사람만 서비스를 이용할 수 있습니다</a:t>
            </a:r>
            <a:r>
              <a:rPr lang="en-US" altLang="ko-KR" sz="1200" dirty="0"/>
              <a:t>.</a:t>
            </a:r>
          </a:p>
        </p:txBody>
      </p:sp>
      <p:pic>
        <p:nvPicPr>
          <p:cNvPr id="10" name="그림 9" descr="텍스트, 실내, 빨간색이(가) 표시된 사진&#10;&#10;자동 생성된 설명">
            <a:extLst>
              <a:ext uri="{FF2B5EF4-FFF2-40B4-BE49-F238E27FC236}">
                <a16:creationId xmlns:a16="http://schemas.microsoft.com/office/drawing/2014/main" id="{81BC3CD9-7753-4406-A33A-31FE6EF23E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93" y="2583228"/>
            <a:ext cx="2087115" cy="3768388"/>
          </a:xfrm>
          <a:prstGeom prst="rect">
            <a:avLst/>
          </a:prstGeom>
        </p:spPr>
      </p:pic>
      <p:pic>
        <p:nvPicPr>
          <p:cNvPr id="14" name="그림 13" descr="텍스트, 명함이(가) 표시된 사진&#10;&#10;자동 생성된 설명">
            <a:extLst>
              <a:ext uri="{FF2B5EF4-FFF2-40B4-BE49-F238E27FC236}">
                <a16:creationId xmlns:a16="http://schemas.microsoft.com/office/drawing/2014/main" id="{8E12564A-DF15-4ECD-BB14-D7BA871F89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2915" y="2583228"/>
            <a:ext cx="2012779" cy="376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9003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A28C2D6D-FAFE-4813-BB78-11A8103061A0}"/>
              </a:ext>
            </a:extLst>
          </p:cNvPr>
          <p:cNvSpPr/>
          <p:nvPr/>
        </p:nvSpPr>
        <p:spPr>
          <a:xfrm>
            <a:off x="2815879" y="5327609"/>
            <a:ext cx="788311" cy="1434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94AA78-5634-4ABD-9C2B-FA205AAF2888}"/>
              </a:ext>
            </a:extLst>
          </p:cNvPr>
          <p:cNvSpPr txBox="1"/>
          <p:nvPr/>
        </p:nvSpPr>
        <p:spPr>
          <a:xfrm>
            <a:off x="6910855" y="949798"/>
            <a:ext cx="3793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Interceptor,</a:t>
            </a:r>
            <a:r>
              <a:rPr lang="ko-KR" altLang="en-US" b="1" dirty="0"/>
              <a:t> </a:t>
            </a:r>
            <a:r>
              <a:rPr lang="en-US" altLang="ko-KR" b="1" dirty="0"/>
              <a:t>JWT</a:t>
            </a:r>
            <a:r>
              <a:rPr lang="ko-KR" altLang="en-US" b="1" dirty="0"/>
              <a:t>를 사용한 보안 </a:t>
            </a:r>
            <a:endParaRPr lang="en-US" altLang="ko-KR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08083-D226-4FD5-8E5F-6CD98967450A}"/>
              </a:ext>
            </a:extLst>
          </p:cNvPr>
          <p:cNvSpPr txBox="1"/>
          <p:nvPr/>
        </p:nvSpPr>
        <p:spPr>
          <a:xfrm>
            <a:off x="6757078" y="1361315"/>
            <a:ext cx="4771629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/>
          </a:p>
          <a:p>
            <a:r>
              <a:rPr lang="en-US" altLang="ko-KR" sz="1200" dirty="0"/>
              <a:t>- </a:t>
            </a:r>
            <a:r>
              <a:rPr lang="ko-KR" altLang="en-US" sz="1200" dirty="0"/>
              <a:t>개인 정보가 많이 사용되는 서비스였기 때문에 권한이 필요한 모든 요청마다 </a:t>
            </a:r>
            <a:r>
              <a:rPr lang="en-US" altLang="ko-KR" sz="1200" dirty="0"/>
              <a:t>token</a:t>
            </a:r>
            <a:r>
              <a:rPr lang="ko-KR" altLang="en-US" sz="1200" dirty="0"/>
              <a:t>에서 </a:t>
            </a:r>
            <a:r>
              <a:rPr lang="en-US" altLang="ko-KR" sz="1200" dirty="0"/>
              <a:t>user</a:t>
            </a:r>
            <a:r>
              <a:rPr lang="ko-KR" altLang="en-US" sz="1200" dirty="0"/>
              <a:t>의 </a:t>
            </a:r>
            <a:r>
              <a:rPr lang="en-US" altLang="ko-KR" sz="1200" dirty="0"/>
              <a:t>pk</a:t>
            </a:r>
            <a:r>
              <a:rPr lang="ko-KR" altLang="en-US" sz="1200" dirty="0"/>
              <a:t>를 추출하여 요청 로직에 대한 권한을 확인하였습니다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Controller</a:t>
            </a:r>
            <a:r>
              <a:rPr lang="ko-KR" altLang="en-US" sz="1200" dirty="0"/>
              <a:t>로 들어가기 전 </a:t>
            </a:r>
            <a:r>
              <a:rPr lang="en-US" altLang="ko-KR" sz="1200" dirty="0"/>
              <a:t>Interceptor</a:t>
            </a:r>
            <a:r>
              <a:rPr lang="ko-KR" altLang="en-US" sz="1200" dirty="0"/>
              <a:t>에서 </a:t>
            </a:r>
            <a:r>
              <a:rPr lang="en-US" altLang="ko-KR" sz="1200" dirty="0"/>
              <a:t>Token</a:t>
            </a:r>
            <a:r>
              <a:rPr lang="ko-KR" altLang="en-US" sz="1200" dirty="0"/>
              <a:t>의 유효시간을 확인하는 작업을 진행합니다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Token</a:t>
            </a:r>
            <a:r>
              <a:rPr lang="ko-KR" altLang="en-US" sz="1200" dirty="0"/>
              <a:t>의 시간이 유효하다면</a:t>
            </a:r>
            <a:r>
              <a:rPr lang="en-US" altLang="ko-KR" sz="1200" dirty="0"/>
              <a:t>, Interceptor</a:t>
            </a:r>
            <a:r>
              <a:rPr lang="ko-KR" altLang="en-US" sz="1200" dirty="0"/>
              <a:t>에서 </a:t>
            </a:r>
            <a:r>
              <a:rPr lang="en-US" altLang="ko-KR" sz="1200" dirty="0" err="1"/>
              <a:t>userId</a:t>
            </a:r>
            <a:r>
              <a:rPr lang="ko-KR" altLang="en-US" sz="1200" dirty="0"/>
              <a:t>를 추출한 후 </a:t>
            </a:r>
            <a:r>
              <a:rPr lang="en-US" altLang="ko-KR" sz="1200" dirty="0"/>
              <a:t>Controller</a:t>
            </a:r>
            <a:r>
              <a:rPr lang="ko-KR" altLang="en-US" sz="1200" dirty="0"/>
              <a:t>로 </a:t>
            </a:r>
            <a:r>
              <a:rPr lang="en-US" altLang="ko-KR" sz="1200" dirty="0" err="1"/>
              <a:t>userId</a:t>
            </a:r>
            <a:r>
              <a:rPr lang="ko-KR" altLang="en-US" sz="1200" dirty="0"/>
              <a:t> 값을 넘겨줍니다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넘겨 받은 </a:t>
            </a:r>
            <a:r>
              <a:rPr lang="en-US" altLang="ko-KR" sz="1200" dirty="0" err="1"/>
              <a:t>userId</a:t>
            </a:r>
            <a:r>
              <a:rPr lang="ko-KR" altLang="en-US" sz="1200" dirty="0"/>
              <a:t>를 이용하여 </a:t>
            </a:r>
            <a:r>
              <a:rPr lang="en-US" altLang="ko-KR" sz="1200" dirty="0"/>
              <a:t>User</a:t>
            </a:r>
            <a:r>
              <a:rPr lang="ko-KR" altLang="en-US" sz="1200" dirty="0"/>
              <a:t>가 요청 로직에 대해 권한이 있는지 확인합니다</a:t>
            </a:r>
            <a:r>
              <a:rPr lang="en-US" altLang="ko-KR" sz="1200" dirty="0"/>
              <a:t>. </a:t>
            </a:r>
            <a:r>
              <a:rPr lang="ko-KR" altLang="en-US" sz="1200" dirty="0"/>
              <a:t>예를 들어 특정 회원의 글을 조회하는 로직을 요청한다면 그 글이 해당 </a:t>
            </a:r>
            <a:r>
              <a:rPr lang="en-US" altLang="ko-KR" sz="1200" dirty="0"/>
              <a:t>User</a:t>
            </a:r>
            <a:r>
              <a:rPr lang="ko-KR" altLang="en-US" sz="1200" dirty="0"/>
              <a:t>에게 속해 있는 글인지 확인하는 절차를 거칩니다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endParaRPr lang="en-US" altLang="ko-KR" sz="1200" dirty="0"/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Refresh Token</a:t>
            </a:r>
            <a:r>
              <a:rPr lang="ko-KR" altLang="en-US" sz="1200" dirty="0"/>
              <a:t>을 사용하여 보안을 높이고</a:t>
            </a:r>
            <a:r>
              <a:rPr lang="en-US" altLang="ko-KR" sz="1200" dirty="0"/>
              <a:t>,</a:t>
            </a:r>
            <a:r>
              <a:rPr lang="ko-KR" altLang="en-US" sz="1200" dirty="0"/>
              <a:t> 자동 로그인이 가능하도록 하였습니다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ko-KR" altLang="en-US" sz="1200" dirty="0"/>
              <a:t>로그아웃을 하면 </a:t>
            </a:r>
            <a:r>
              <a:rPr lang="en-US" altLang="ko-KR" sz="1200" dirty="0"/>
              <a:t>Refresh Token</a:t>
            </a:r>
            <a:r>
              <a:rPr lang="ko-KR" altLang="en-US" sz="1200" dirty="0"/>
              <a:t>을 무효화 시킵니다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Refresh Token</a:t>
            </a:r>
            <a:r>
              <a:rPr lang="ko-KR" altLang="en-US" sz="1200" dirty="0"/>
              <a:t>의 저장위치는 </a:t>
            </a:r>
            <a:r>
              <a:rPr lang="en-US" altLang="ko-KR" sz="1200" dirty="0"/>
              <a:t>DB</a:t>
            </a:r>
            <a:r>
              <a:rPr lang="ko-KR" altLang="en-US" sz="1200" dirty="0"/>
              <a:t>로 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endParaRPr lang="en-US" altLang="ko-KR" sz="900" dirty="0"/>
          </a:p>
          <a:p>
            <a:pPr marL="228600" indent="-228600">
              <a:buAutoNum type="arabicPeriod"/>
            </a:pPr>
            <a:endParaRPr lang="en-US" altLang="ko-KR" sz="12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BDF2FF74-54BD-4DF7-AFC3-8559026B5F9A}"/>
              </a:ext>
            </a:extLst>
          </p:cNvPr>
          <p:cNvSpPr/>
          <p:nvPr/>
        </p:nvSpPr>
        <p:spPr>
          <a:xfrm>
            <a:off x="467897" y="222005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A9A8AB30-3F88-42CD-81D9-215589A6D62C}"/>
              </a:ext>
            </a:extLst>
          </p:cNvPr>
          <p:cNvCxnSpPr>
            <a:cxnSpLocks/>
          </p:cNvCxnSpPr>
          <p:nvPr/>
        </p:nvCxnSpPr>
        <p:spPr>
          <a:xfrm>
            <a:off x="1071608" y="674127"/>
            <a:ext cx="2495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818F613F-EB1F-4BFE-847A-4334F108C6AE}"/>
              </a:ext>
            </a:extLst>
          </p:cNvPr>
          <p:cNvSpPr txBox="1"/>
          <p:nvPr/>
        </p:nvSpPr>
        <p:spPr>
          <a:xfrm>
            <a:off x="552199" y="293343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CLIENT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3372B1F-6B80-4291-8A15-E9FC1249F175}"/>
              </a:ext>
            </a:extLst>
          </p:cNvPr>
          <p:cNvSpPr txBox="1"/>
          <p:nvPr/>
        </p:nvSpPr>
        <p:spPr>
          <a:xfrm>
            <a:off x="2083464" y="438974"/>
            <a:ext cx="21441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로그인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A14F0017-020E-4976-99B9-40C5D4D84687}"/>
              </a:ext>
            </a:extLst>
          </p:cNvPr>
          <p:cNvCxnSpPr>
            <a:cxnSpLocks/>
          </p:cNvCxnSpPr>
          <p:nvPr/>
        </p:nvCxnSpPr>
        <p:spPr>
          <a:xfrm>
            <a:off x="1672697" y="2102937"/>
            <a:ext cx="1852305" cy="1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B988BB6-B96E-4754-ACF4-AA2C8A1A4676}"/>
              </a:ext>
            </a:extLst>
          </p:cNvPr>
          <p:cNvCxnSpPr>
            <a:cxnSpLocks/>
          </p:cNvCxnSpPr>
          <p:nvPr/>
        </p:nvCxnSpPr>
        <p:spPr>
          <a:xfrm>
            <a:off x="1654749" y="4705838"/>
            <a:ext cx="1843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A75056B8-1E8C-451F-9B51-47277FD83441}"/>
              </a:ext>
            </a:extLst>
          </p:cNvPr>
          <p:cNvCxnSpPr>
            <a:cxnSpLocks/>
          </p:cNvCxnSpPr>
          <p:nvPr/>
        </p:nvCxnSpPr>
        <p:spPr>
          <a:xfrm>
            <a:off x="3727435" y="1282785"/>
            <a:ext cx="1864643" cy="3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ABC1E173-1F7D-4A17-8A10-69276C5A2BE2}"/>
              </a:ext>
            </a:extLst>
          </p:cNvPr>
          <p:cNvCxnSpPr>
            <a:cxnSpLocks/>
          </p:cNvCxnSpPr>
          <p:nvPr/>
        </p:nvCxnSpPr>
        <p:spPr>
          <a:xfrm flipH="1">
            <a:off x="1029851" y="1286875"/>
            <a:ext cx="249515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482ADBD5-6E00-4B1D-A4CC-EC1DA74A1DBB}"/>
              </a:ext>
            </a:extLst>
          </p:cNvPr>
          <p:cNvCxnSpPr>
            <a:cxnSpLocks/>
          </p:cNvCxnSpPr>
          <p:nvPr/>
        </p:nvCxnSpPr>
        <p:spPr>
          <a:xfrm flipH="1">
            <a:off x="1621939" y="4038106"/>
            <a:ext cx="19030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388393E-0002-4714-BCE2-31AD8B4B24B9}"/>
              </a:ext>
            </a:extLst>
          </p:cNvPr>
          <p:cNvSpPr txBox="1"/>
          <p:nvPr/>
        </p:nvSpPr>
        <p:spPr>
          <a:xfrm>
            <a:off x="1386227" y="1069966"/>
            <a:ext cx="186591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 token</a:t>
            </a:r>
            <a:r>
              <a:rPr lang="ko-KR" altLang="en-US" sz="800" dirty="0"/>
              <a:t>과 </a:t>
            </a:r>
            <a:r>
              <a:rPr lang="en-US" altLang="ko-KR" sz="800" dirty="0"/>
              <a:t>Refresh token </a:t>
            </a:r>
            <a:r>
              <a:rPr lang="ko-KR" altLang="en-US" sz="800" dirty="0"/>
              <a:t>반환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47B4CCE-B9CD-4445-A8E0-CA92748937D2}"/>
              </a:ext>
            </a:extLst>
          </p:cNvPr>
          <p:cNvSpPr txBox="1"/>
          <p:nvPr/>
        </p:nvSpPr>
        <p:spPr>
          <a:xfrm>
            <a:off x="1514666" y="1895180"/>
            <a:ext cx="219521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 token</a:t>
            </a:r>
            <a:r>
              <a:rPr lang="ko-KR" altLang="en-US" sz="800" dirty="0"/>
              <a:t>과 함께 원하는 로직 요청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C64D2EB-5269-4F11-A3C8-74584E4D35A2}"/>
              </a:ext>
            </a:extLst>
          </p:cNvPr>
          <p:cNvSpPr txBox="1"/>
          <p:nvPr/>
        </p:nvSpPr>
        <p:spPr>
          <a:xfrm>
            <a:off x="1708730" y="3822662"/>
            <a:ext cx="222163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로직 수행 후 </a:t>
            </a:r>
            <a:r>
              <a:rPr lang="en-US" altLang="ko-KR" sz="800" dirty="0"/>
              <a:t>response </a:t>
            </a:r>
            <a:r>
              <a:rPr lang="ko-KR" altLang="en-US" sz="800" dirty="0"/>
              <a:t>반환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5FE7C44-683F-41D6-85F7-3422BE4D35BA}"/>
              </a:ext>
            </a:extLst>
          </p:cNvPr>
          <p:cNvSpPr txBox="1"/>
          <p:nvPr/>
        </p:nvSpPr>
        <p:spPr>
          <a:xfrm>
            <a:off x="2053216" y="4392886"/>
            <a:ext cx="1262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err="1"/>
              <a:t>userName</a:t>
            </a:r>
            <a:r>
              <a:rPr lang="ko-KR" altLang="en-US" sz="800" dirty="0"/>
              <a:t>과</a:t>
            </a:r>
            <a:endParaRPr lang="en-US" altLang="ko-KR" sz="800" dirty="0"/>
          </a:p>
          <a:p>
            <a:r>
              <a:rPr lang="en-US" altLang="ko-KR" sz="800" dirty="0"/>
              <a:t>Refresh Token</a:t>
            </a:r>
            <a:r>
              <a:rPr lang="ko-KR" altLang="en-US" sz="800" dirty="0"/>
              <a:t> 보냄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022745-CA87-4756-A736-1A42FB412CB8}"/>
              </a:ext>
            </a:extLst>
          </p:cNvPr>
          <p:cNvSpPr txBox="1"/>
          <p:nvPr/>
        </p:nvSpPr>
        <p:spPr>
          <a:xfrm>
            <a:off x="1703706" y="6092861"/>
            <a:ext cx="232383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 token</a:t>
            </a:r>
            <a:r>
              <a:rPr lang="ko-KR" altLang="en-US" sz="800" dirty="0"/>
              <a:t>과 </a:t>
            </a:r>
            <a:r>
              <a:rPr lang="en-US" altLang="ko-KR" sz="800" dirty="0"/>
              <a:t>Refresh token</a:t>
            </a:r>
            <a:r>
              <a:rPr lang="ko-KR" altLang="en-US" sz="800" dirty="0"/>
              <a:t> 반환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645C855-2A98-4F4F-A168-1D38762833CA}"/>
              </a:ext>
            </a:extLst>
          </p:cNvPr>
          <p:cNvSpPr txBox="1"/>
          <p:nvPr/>
        </p:nvSpPr>
        <p:spPr>
          <a:xfrm>
            <a:off x="3867374" y="1059019"/>
            <a:ext cx="16477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DB</a:t>
            </a:r>
            <a:r>
              <a:rPr lang="ko-KR" altLang="en-US" sz="800" dirty="0">
                <a:solidFill>
                  <a:schemeClr val="tx1"/>
                </a:solidFill>
              </a:rPr>
              <a:t>에 </a:t>
            </a:r>
            <a:r>
              <a:rPr lang="en-US" altLang="ko-KR" sz="800" dirty="0">
                <a:solidFill>
                  <a:schemeClr val="tx1"/>
                </a:solidFill>
              </a:rPr>
              <a:t>refresh token </a:t>
            </a:r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C7EC3059-A0FE-4EEE-A84D-1469DA4E2B97}"/>
              </a:ext>
            </a:extLst>
          </p:cNvPr>
          <p:cNvCxnSpPr>
            <a:cxnSpLocks/>
          </p:cNvCxnSpPr>
          <p:nvPr/>
        </p:nvCxnSpPr>
        <p:spPr>
          <a:xfrm>
            <a:off x="3642928" y="4827287"/>
            <a:ext cx="19043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2D552E2D-DB8B-428D-8439-7D870E86F0B8}"/>
              </a:ext>
            </a:extLst>
          </p:cNvPr>
          <p:cNvSpPr txBox="1"/>
          <p:nvPr/>
        </p:nvSpPr>
        <p:spPr>
          <a:xfrm>
            <a:off x="3442762" y="4477200"/>
            <a:ext cx="2304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해당 </a:t>
            </a:r>
            <a:r>
              <a:rPr lang="en-US" altLang="ko-KR" sz="800" dirty="0"/>
              <a:t>User</a:t>
            </a:r>
            <a:r>
              <a:rPr lang="ko-KR" altLang="en-US" sz="800" dirty="0"/>
              <a:t>의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Refresh token ‘select </a:t>
            </a:r>
            <a:r>
              <a:rPr lang="ko-KR" altLang="en-US" sz="800" dirty="0"/>
              <a:t>요청</a:t>
            </a:r>
            <a:r>
              <a:rPr lang="en-US" altLang="ko-KR" sz="800" dirty="0"/>
              <a:t>’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CE99E567-6F4A-4034-A57B-F27A563B57E4}"/>
              </a:ext>
            </a:extLst>
          </p:cNvPr>
          <p:cNvSpPr/>
          <p:nvPr/>
        </p:nvSpPr>
        <p:spPr>
          <a:xfrm>
            <a:off x="3283582" y="222892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1804700-0ACD-44EE-9688-CD628F231871}"/>
              </a:ext>
            </a:extLst>
          </p:cNvPr>
          <p:cNvSpPr txBox="1"/>
          <p:nvPr/>
        </p:nvSpPr>
        <p:spPr>
          <a:xfrm>
            <a:off x="3397764" y="299440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Server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EB2CB53-59DE-4F38-9319-310C97C61075}"/>
              </a:ext>
            </a:extLst>
          </p:cNvPr>
          <p:cNvSpPr/>
          <p:nvPr/>
        </p:nvSpPr>
        <p:spPr>
          <a:xfrm>
            <a:off x="5295076" y="228782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BC83AB-A5A1-4CCE-9CBE-E4E0DFB95EDF}"/>
              </a:ext>
            </a:extLst>
          </p:cNvPr>
          <p:cNvSpPr txBox="1"/>
          <p:nvPr/>
        </p:nvSpPr>
        <p:spPr>
          <a:xfrm>
            <a:off x="5516008" y="293343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DB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7FACC415-DD06-4024-8D8F-26CA7B151557}"/>
              </a:ext>
            </a:extLst>
          </p:cNvPr>
          <p:cNvCxnSpPr>
            <a:cxnSpLocks/>
          </p:cNvCxnSpPr>
          <p:nvPr/>
        </p:nvCxnSpPr>
        <p:spPr>
          <a:xfrm flipH="1">
            <a:off x="785127" y="591334"/>
            <a:ext cx="35034" cy="599499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직선 연결선 44">
            <a:extLst>
              <a:ext uri="{FF2B5EF4-FFF2-40B4-BE49-F238E27FC236}">
                <a16:creationId xmlns:a16="http://schemas.microsoft.com/office/drawing/2014/main" id="{12927674-36F1-4A75-A7EF-BFAC6F2D8E0F}"/>
              </a:ext>
            </a:extLst>
          </p:cNvPr>
          <p:cNvCxnSpPr>
            <a:cxnSpLocks/>
          </p:cNvCxnSpPr>
          <p:nvPr/>
        </p:nvCxnSpPr>
        <p:spPr>
          <a:xfrm flipH="1">
            <a:off x="3621787" y="598112"/>
            <a:ext cx="19708" cy="6036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F3373778-024F-436D-B2D3-EB925500FEFB}"/>
              </a:ext>
            </a:extLst>
          </p:cNvPr>
          <p:cNvCxnSpPr>
            <a:cxnSpLocks/>
          </p:cNvCxnSpPr>
          <p:nvPr/>
        </p:nvCxnSpPr>
        <p:spPr>
          <a:xfrm>
            <a:off x="5664405" y="591334"/>
            <a:ext cx="15095" cy="6036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B26972A-E740-414B-B294-C15C0F06D364}"/>
              </a:ext>
            </a:extLst>
          </p:cNvPr>
          <p:cNvSpPr/>
          <p:nvPr/>
        </p:nvSpPr>
        <p:spPr>
          <a:xfrm>
            <a:off x="495880" y="1465472"/>
            <a:ext cx="5545956" cy="29374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E01F07C-58A0-4387-BD9D-D735B2794A92}"/>
              </a:ext>
            </a:extLst>
          </p:cNvPr>
          <p:cNvSpPr txBox="1"/>
          <p:nvPr/>
        </p:nvSpPr>
        <p:spPr>
          <a:xfrm>
            <a:off x="1228250" y="1487936"/>
            <a:ext cx="49402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로그인 이후 </a:t>
            </a:r>
            <a:r>
              <a:rPr lang="en-US" altLang="ko-KR" sz="1000" dirty="0"/>
              <a:t>Access token</a:t>
            </a:r>
            <a:r>
              <a:rPr lang="ko-KR" altLang="en-US" sz="1000" dirty="0"/>
              <a:t>의 유효성에 따라 </a:t>
            </a:r>
            <a:r>
              <a:rPr lang="en-US" altLang="ko-KR" sz="1000" dirty="0"/>
              <a:t>2</a:t>
            </a:r>
            <a:r>
              <a:rPr lang="ko-KR" altLang="en-US" sz="1000" dirty="0"/>
              <a:t>가지의 상황이 발생한다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56EE5DF-ABE4-480E-A791-7A4D5156F472}"/>
              </a:ext>
            </a:extLst>
          </p:cNvPr>
          <p:cNvSpPr/>
          <p:nvPr/>
        </p:nvSpPr>
        <p:spPr>
          <a:xfrm>
            <a:off x="2674095" y="5248815"/>
            <a:ext cx="2011585" cy="79549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B500238-20FC-4F6B-A9E2-ED6390FAD625}"/>
              </a:ext>
            </a:extLst>
          </p:cNvPr>
          <p:cNvSpPr txBox="1"/>
          <p:nvPr/>
        </p:nvSpPr>
        <p:spPr>
          <a:xfrm>
            <a:off x="2729260" y="5303321"/>
            <a:ext cx="29968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1. Refresh Token</a:t>
            </a:r>
            <a:r>
              <a:rPr lang="ko-KR" altLang="en-US" sz="800" dirty="0"/>
              <a:t>과 </a:t>
            </a:r>
            <a:r>
              <a:rPr lang="en-US" altLang="ko-KR" sz="800" dirty="0"/>
              <a:t>Db Refresh token</a:t>
            </a:r>
            <a:r>
              <a:rPr lang="ko-KR" altLang="en-US" sz="800" dirty="0"/>
              <a:t>의</a:t>
            </a:r>
            <a:endParaRPr lang="en-US" altLang="ko-KR" sz="800" dirty="0"/>
          </a:p>
          <a:p>
            <a:r>
              <a:rPr lang="ko-KR" altLang="en-US" sz="800" dirty="0"/>
              <a:t>동일성 확인</a:t>
            </a:r>
            <a:endParaRPr lang="en-US" altLang="ko-KR" sz="800" dirty="0"/>
          </a:p>
          <a:p>
            <a:endParaRPr lang="en-US" altLang="ko-KR" sz="800" dirty="0"/>
          </a:p>
          <a:p>
            <a:r>
              <a:rPr lang="en-US" altLang="ko-KR" sz="800" dirty="0"/>
              <a:t>2. Refresh token</a:t>
            </a:r>
            <a:r>
              <a:rPr lang="ko-KR" altLang="en-US" sz="800" dirty="0"/>
              <a:t>의 유효시간 검사 및</a:t>
            </a:r>
            <a:endParaRPr lang="en-US" altLang="ko-KR" sz="800" dirty="0"/>
          </a:p>
          <a:p>
            <a:r>
              <a:rPr lang="en-US" altLang="ko-KR" sz="800" dirty="0" err="1"/>
              <a:t>Aceess</a:t>
            </a:r>
            <a:r>
              <a:rPr lang="ko-KR" altLang="en-US" sz="800" dirty="0"/>
              <a:t> </a:t>
            </a:r>
            <a:r>
              <a:rPr lang="en-US" altLang="ko-KR" sz="800" dirty="0"/>
              <a:t>token,</a:t>
            </a:r>
            <a:r>
              <a:rPr lang="ko-KR" altLang="en-US" sz="800" dirty="0"/>
              <a:t> </a:t>
            </a:r>
            <a:r>
              <a:rPr lang="en-US" altLang="ko-KR" sz="800" dirty="0"/>
              <a:t>refresh token </a:t>
            </a:r>
            <a:r>
              <a:rPr lang="ko-KR" altLang="en-US" sz="800" dirty="0"/>
              <a:t>재발급</a:t>
            </a:r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ABC0AC0C-58E4-4CD5-8871-63D2BF153C07}"/>
              </a:ext>
            </a:extLst>
          </p:cNvPr>
          <p:cNvCxnSpPr>
            <a:cxnSpLocks/>
          </p:cNvCxnSpPr>
          <p:nvPr/>
        </p:nvCxnSpPr>
        <p:spPr>
          <a:xfrm flipH="1">
            <a:off x="1552312" y="6286085"/>
            <a:ext cx="20518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85B0B5F-2A26-4AE2-AEB8-6D6923DD7932}"/>
              </a:ext>
            </a:extLst>
          </p:cNvPr>
          <p:cNvSpPr/>
          <p:nvPr/>
        </p:nvSpPr>
        <p:spPr>
          <a:xfrm>
            <a:off x="888545" y="4572894"/>
            <a:ext cx="612442" cy="197158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F7DFFE8-A026-4FF1-87F9-1451AAA264C2}"/>
              </a:ext>
            </a:extLst>
          </p:cNvPr>
          <p:cNvSpPr txBox="1"/>
          <p:nvPr/>
        </p:nvSpPr>
        <p:spPr>
          <a:xfrm>
            <a:off x="915512" y="5154777"/>
            <a:ext cx="8083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상황 </a:t>
            </a:r>
            <a:r>
              <a:rPr lang="en-US" altLang="ko-KR" sz="1000" dirty="0"/>
              <a:t>B</a:t>
            </a:r>
          </a:p>
          <a:p>
            <a:endParaRPr lang="en-US" altLang="ko-KR" sz="1000" dirty="0"/>
          </a:p>
          <a:p>
            <a:r>
              <a:rPr lang="en-US" altLang="ko-KR" sz="1000" dirty="0"/>
              <a:t>Access token </a:t>
            </a:r>
          </a:p>
          <a:p>
            <a:r>
              <a:rPr lang="ko-KR" altLang="en-US" sz="1000" dirty="0"/>
              <a:t>유효</a:t>
            </a:r>
            <a:r>
              <a:rPr lang="en-US" altLang="ko-KR" sz="1000" dirty="0"/>
              <a:t>x</a:t>
            </a:r>
            <a:endParaRPr lang="ko-KR" altLang="en-US" sz="1000" dirty="0"/>
          </a:p>
        </p:txBody>
      </p: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CE46C643-941D-4BE7-8C47-0F82854FD958}"/>
              </a:ext>
            </a:extLst>
          </p:cNvPr>
          <p:cNvCxnSpPr>
            <a:cxnSpLocks/>
          </p:cNvCxnSpPr>
          <p:nvPr/>
        </p:nvCxnSpPr>
        <p:spPr>
          <a:xfrm flipH="1">
            <a:off x="3649741" y="5167126"/>
            <a:ext cx="18975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D9CEC72-13DE-417C-BD41-E66BC3EA41D4}"/>
              </a:ext>
            </a:extLst>
          </p:cNvPr>
          <p:cNvSpPr txBox="1"/>
          <p:nvPr/>
        </p:nvSpPr>
        <p:spPr>
          <a:xfrm>
            <a:off x="3905105" y="4869994"/>
            <a:ext cx="15726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Db Refresh token </a:t>
            </a:r>
            <a:r>
              <a:rPr lang="ko-KR" altLang="en-US" sz="800" dirty="0"/>
              <a:t>반환</a:t>
            </a:r>
          </a:p>
        </p:txBody>
      </p:sp>
      <p:sp>
        <p:nvSpPr>
          <p:cNvPr id="79" name="object 6">
            <a:extLst>
              <a:ext uri="{FF2B5EF4-FFF2-40B4-BE49-F238E27FC236}">
                <a16:creationId xmlns:a16="http://schemas.microsoft.com/office/drawing/2014/main" id="{4F544C21-56AA-4A5C-80E1-69AA06A445D6}"/>
              </a:ext>
            </a:extLst>
          </p:cNvPr>
          <p:cNvSpPr/>
          <p:nvPr/>
        </p:nvSpPr>
        <p:spPr>
          <a:xfrm>
            <a:off x="6777658" y="1074099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7933DD7C-74D0-492B-900B-898CEFBE2103}"/>
              </a:ext>
            </a:extLst>
          </p:cNvPr>
          <p:cNvSpPr/>
          <p:nvPr/>
        </p:nvSpPr>
        <p:spPr>
          <a:xfrm>
            <a:off x="886709" y="1862829"/>
            <a:ext cx="612442" cy="23973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4C1E80B-0FA8-4E09-8EA9-A1C7C5406C28}"/>
              </a:ext>
            </a:extLst>
          </p:cNvPr>
          <p:cNvSpPr txBox="1"/>
          <p:nvPr/>
        </p:nvSpPr>
        <p:spPr>
          <a:xfrm>
            <a:off x="915511" y="2697733"/>
            <a:ext cx="80834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상황 </a:t>
            </a:r>
            <a:r>
              <a:rPr lang="en-US" altLang="ko-KR" sz="1000" dirty="0"/>
              <a:t>A</a:t>
            </a:r>
          </a:p>
          <a:p>
            <a:endParaRPr lang="en-US" altLang="ko-KR" sz="1000" dirty="0"/>
          </a:p>
          <a:p>
            <a:r>
              <a:rPr lang="en-US" altLang="ko-KR" sz="1000" dirty="0"/>
              <a:t>Access token </a:t>
            </a:r>
          </a:p>
          <a:p>
            <a:r>
              <a:rPr lang="ko-KR" altLang="en-US" sz="1000" dirty="0"/>
              <a:t>유효 </a:t>
            </a:r>
            <a:r>
              <a:rPr lang="en-US" altLang="ko-KR" sz="1000" dirty="0"/>
              <a:t>o</a:t>
            </a:r>
            <a:endParaRPr lang="ko-KR" altLang="en-US" sz="1000" dirty="0"/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3921F717-3BC9-492F-A8B1-2F6FC2339111}"/>
              </a:ext>
            </a:extLst>
          </p:cNvPr>
          <p:cNvCxnSpPr>
            <a:cxnSpLocks/>
          </p:cNvCxnSpPr>
          <p:nvPr/>
        </p:nvCxnSpPr>
        <p:spPr>
          <a:xfrm>
            <a:off x="3648462" y="6276565"/>
            <a:ext cx="1864643" cy="31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265BCF5C-F163-481F-86F3-E5C378DC93FF}"/>
              </a:ext>
            </a:extLst>
          </p:cNvPr>
          <p:cNvSpPr txBox="1"/>
          <p:nvPr/>
        </p:nvSpPr>
        <p:spPr>
          <a:xfrm>
            <a:off x="3752126" y="6080508"/>
            <a:ext cx="16637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DB</a:t>
            </a:r>
            <a:r>
              <a:rPr lang="ko-KR" altLang="en-US" sz="800" dirty="0">
                <a:solidFill>
                  <a:schemeClr val="tx1"/>
                </a:solidFill>
              </a:rPr>
              <a:t>에 </a:t>
            </a:r>
            <a:r>
              <a:rPr lang="en-US" altLang="ko-KR" sz="800" dirty="0">
                <a:solidFill>
                  <a:schemeClr val="tx1"/>
                </a:solidFill>
              </a:rPr>
              <a:t>refresh token </a:t>
            </a:r>
            <a:r>
              <a:rPr lang="ko-KR" altLang="en-US" sz="800" dirty="0">
                <a:solidFill>
                  <a:schemeClr val="tx1"/>
                </a:solidFill>
              </a:rPr>
              <a:t>저장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531155D-331E-4371-BCD7-11EB65153757}"/>
              </a:ext>
            </a:extLst>
          </p:cNvPr>
          <p:cNvSpPr/>
          <p:nvPr/>
        </p:nvSpPr>
        <p:spPr>
          <a:xfrm>
            <a:off x="2815879" y="784707"/>
            <a:ext cx="1663419" cy="25041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CB42709-213A-4885-98EE-70E05156280C}"/>
              </a:ext>
            </a:extLst>
          </p:cNvPr>
          <p:cNvSpPr txBox="1"/>
          <p:nvPr/>
        </p:nvSpPr>
        <p:spPr>
          <a:xfrm>
            <a:off x="2815879" y="809604"/>
            <a:ext cx="299680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Access</a:t>
            </a:r>
            <a:r>
              <a:rPr lang="ko-KR" altLang="en-US" sz="800" dirty="0"/>
              <a:t> </a:t>
            </a:r>
            <a:r>
              <a:rPr lang="en-US" altLang="ko-KR" sz="800" dirty="0"/>
              <a:t>token,</a:t>
            </a:r>
            <a:r>
              <a:rPr lang="ko-KR" altLang="en-US" sz="800" dirty="0"/>
              <a:t> </a:t>
            </a:r>
            <a:r>
              <a:rPr lang="en-US" altLang="ko-KR" sz="800" dirty="0"/>
              <a:t>refresh token </a:t>
            </a:r>
            <a:r>
              <a:rPr lang="ko-KR" altLang="en-US" sz="800" dirty="0"/>
              <a:t>발급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3D98E341-C1A1-460A-BCD1-363DB214DBCE}"/>
              </a:ext>
            </a:extLst>
          </p:cNvPr>
          <p:cNvCxnSpPr>
            <a:cxnSpLocks/>
          </p:cNvCxnSpPr>
          <p:nvPr/>
        </p:nvCxnSpPr>
        <p:spPr>
          <a:xfrm flipH="1" flipV="1">
            <a:off x="2738662" y="4724961"/>
            <a:ext cx="416904" cy="602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94A83DB7-29A9-455A-BC1B-20BD5B9C7A1B}"/>
              </a:ext>
            </a:extLst>
          </p:cNvPr>
          <p:cNvCxnSpPr>
            <a:stCxn id="55" idx="0"/>
          </p:cNvCxnSpPr>
          <p:nvPr/>
        </p:nvCxnSpPr>
        <p:spPr>
          <a:xfrm flipV="1">
            <a:off x="4227662" y="5085438"/>
            <a:ext cx="251636" cy="217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A65F57D3-817A-4372-9CC0-C97CE0AF9AA0}"/>
              </a:ext>
            </a:extLst>
          </p:cNvPr>
          <p:cNvSpPr/>
          <p:nvPr/>
        </p:nvSpPr>
        <p:spPr>
          <a:xfrm>
            <a:off x="2342386" y="2538952"/>
            <a:ext cx="2496784" cy="994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D7836FD-1AFA-4DE8-8153-AE3710F94EF8}"/>
              </a:ext>
            </a:extLst>
          </p:cNvPr>
          <p:cNvSpPr txBox="1"/>
          <p:nvPr/>
        </p:nvSpPr>
        <p:spPr>
          <a:xfrm>
            <a:off x="2416117" y="2620770"/>
            <a:ext cx="24816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1) Access token</a:t>
            </a:r>
            <a:r>
              <a:rPr lang="ko-KR" altLang="en-US" sz="800" dirty="0"/>
              <a:t>에서 </a:t>
            </a:r>
            <a:r>
              <a:rPr lang="en-US" altLang="ko-KR" sz="800" dirty="0" err="1"/>
              <a:t>userId</a:t>
            </a:r>
            <a:r>
              <a:rPr lang="ko-KR" altLang="en-US" sz="800" dirty="0"/>
              <a:t>를 추출한 후</a:t>
            </a:r>
            <a:r>
              <a:rPr lang="en-US" altLang="ko-KR" sz="800" dirty="0"/>
              <a:t>,</a:t>
            </a:r>
          </a:p>
          <a:p>
            <a:r>
              <a:rPr lang="en-US" altLang="ko-KR" sz="800" dirty="0"/>
              <a:t>User</a:t>
            </a:r>
            <a:r>
              <a:rPr lang="ko-KR" altLang="en-US" sz="800" dirty="0"/>
              <a:t>가 요청 로직에 대해 권한이 있는지 확인 한다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2-1) </a:t>
            </a:r>
            <a:r>
              <a:rPr lang="ko-KR" altLang="en-US" sz="800" dirty="0"/>
              <a:t>권한이 있는 경우 로직을 수행한다</a:t>
            </a:r>
            <a:r>
              <a:rPr lang="en-US" altLang="ko-KR" sz="800" dirty="0"/>
              <a:t>.</a:t>
            </a:r>
          </a:p>
          <a:p>
            <a:endParaRPr lang="en-US" altLang="ko-KR" sz="800" dirty="0"/>
          </a:p>
          <a:p>
            <a:r>
              <a:rPr lang="en-US" altLang="ko-KR" sz="800" dirty="0"/>
              <a:t>2-2)</a:t>
            </a:r>
            <a:r>
              <a:rPr lang="ko-KR" altLang="en-US" sz="800" dirty="0"/>
              <a:t>권한이 없는 경우 </a:t>
            </a:r>
            <a:r>
              <a:rPr lang="en-US" altLang="ko-KR" sz="800" dirty="0"/>
              <a:t>Exception</a:t>
            </a:r>
            <a:r>
              <a:rPr lang="ko-KR" altLang="en-US" sz="800" dirty="0"/>
              <a:t>을 발생시킨다</a:t>
            </a:r>
          </a:p>
        </p:txBody>
      </p:sp>
    </p:spTree>
    <p:extLst>
      <p:ext uri="{BB962C8B-B14F-4D97-AF65-F5344CB8AC3E}">
        <p14:creationId xmlns:p14="http://schemas.microsoft.com/office/powerpoint/2010/main" val="266192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94AA78-5634-4ABD-9C2B-FA205AAF2888}"/>
              </a:ext>
            </a:extLst>
          </p:cNvPr>
          <p:cNvSpPr txBox="1"/>
          <p:nvPr/>
        </p:nvSpPr>
        <p:spPr>
          <a:xfrm>
            <a:off x="7280503" y="1258146"/>
            <a:ext cx="1085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암호화</a:t>
            </a:r>
            <a:endParaRPr lang="en-US" altLang="ko-KR" b="1" dirty="0"/>
          </a:p>
        </p:txBody>
      </p:sp>
      <p:sp>
        <p:nvSpPr>
          <p:cNvPr id="79" name="object 6">
            <a:extLst>
              <a:ext uri="{FF2B5EF4-FFF2-40B4-BE49-F238E27FC236}">
                <a16:creationId xmlns:a16="http://schemas.microsoft.com/office/drawing/2014/main" id="{4F544C21-56AA-4A5C-80E1-69AA06A445D6}"/>
              </a:ext>
            </a:extLst>
          </p:cNvPr>
          <p:cNvSpPr/>
          <p:nvPr/>
        </p:nvSpPr>
        <p:spPr>
          <a:xfrm>
            <a:off x="7147305" y="1382447"/>
            <a:ext cx="139510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9CD0A36-2C4E-41FA-8609-3C7BD738348D}"/>
              </a:ext>
            </a:extLst>
          </p:cNvPr>
          <p:cNvSpPr/>
          <p:nvPr/>
        </p:nvSpPr>
        <p:spPr>
          <a:xfrm>
            <a:off x="220766" y="617421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6F2C02C-C1CC-4F9D-A88C-93D8A6635BD3}"/>
              </a:ext>
            </a:extLst>
          </p:cNvPr>
          <p:cNvSpPr txBox="1"/>
          <p:nvPr/>
        </p:nvSpPr>
        <p:spPr>
          <a:xfrm>
            <a:off x="305068" y="688759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CLIENT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C6AEE795-6D3A-4139-9970-A38B56E1E9D0}"/>
              </a:ext>
            </a:extLst>
          </p:cNvPr>
          <p:cNvSpPr/>
          <p:nvPr/>
        </p:nvSpPr>
        <p:spPr>
          <a:xfrm>
            <a:off x="2671927" y="618308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D5A38BF-411C-4277-B32F-E0B133EFF133}"/>
              </a:ext>
            </a:extLst>
          </p:cNvPr>
          <p:cNvSpPr txBox="1"/>
          <p:nvPr/>
        </p:nvSpPr>
        <p:spPr>
          <a:xfrm>
            <a:off x="2786109" y="694856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Server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32E7E611-9115-4ED5-974E-197C352FA1CA}"/>
              </a:ext>
            </a:extLst>
          </p:cNvPr>
          <p:cNvSpPr/>
          <p:nvPr/>
        </p:nvSpPr>
        <p:spPr>
          <a:xfrm>
            <a:off x="5146796" y="624198"/>
            <a:ext cx="746760" cy="369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F481613-7B00-483D-A8D0-E602B999E312}"/>
              </a:ext>
            </a:extLst>
          </p:cNvPr>
          <p:cNvSpPr txBox="1"/>
          <p:nvPr/>
        </p:nvSpPr>
        <p:spPr>
          <a:xfrm>
            <a:off x="5275052" y="688759"/>
            <a:ext cx="579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/>
              <a:t>EMAIL</a:t>
            </a:r>
          </a:p>
          <a:p>
            <a:endParaRPr lang="en-US" altLang="ko-KR" sz="900" dirty="0"/>
          </a:p>
          <a:p>
            <a:endParaRPr lang="ko-KR" altLang="en-US" dirty="0"/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F4D15714-C196-46ED-B010-321F5CC9CB0A}"/>
              </a:ext>
            </a:extLst>
          </p:cNvPr>
          <p:cNvCxnSpPr>
            <a:cxnSpLocks/>
          </p:cNvCxnSpPr>
          <p:nvPr/>
        </p:nvCxnSpPr>
        <p:spPr>
          <a:xfrm flipH="1">
            <a:off x="553322" y="986750"/>
            <a:ext cx="19708" cy="55623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94CE9D00-C90A-495A-8F7F-FA9E3430A674}"/>
              </a:ext>
            </a:extLst>
          </p:cNvPr>
          <p:cNvCxnSpPr>
            <a:cxnSpLocks/>
          </p:cNvCxnSpPr>
          <p:nvPr/>
        </p:nvCxnSpPr>
        <p:spPr>
          <a:xfrm flipH="1">
            <a:off x="3022204" y="1049134"/>
            <a:ext cx="19708" cy="5499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직선 연결선 96">
            <a:extLst>
              <a:ext uri="{FF2B5EF4-FFF2-40B4-BE49-F238E27FC236}">
                <a16:creationId xmlns:a16="http://schemas.microsoft.com/office/drawing/2014/main" id="{1590DA13-D6CA-4FE5-8A5B-3B5C3E409B8D}"/>
              </a:ext>
            </a:extLst>
          </p:cNvPr>
          <p:cNvCxnSpPr>
            <a:cxnSpLocks/>
          </p:cNvCxnSpPr>
          <p:nvPr/>
        </p:nvCxnSpPr>
        <p:spPr>
          <a:xfrm>
            <a:off x="5516125" y="986750"/>
            <a:ext cx="19708" cy="549994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7EE7BC7-486C-443C-BEE6-32DCE4C0AFE4}"/>
              </a:ext>
            </a:extLst>
          </p:cNvPr>
          <p:cNvCxnSpPr>
            <a:cxnSpLocks/>
          </p:cNvCxnSpPr>
          <p:nvPr/>
        </p:nvCxnSpPr>
        <p:spPr>
          <a:xfrm>
            <a:off x="579207" y="1415408"/>
            <a:ext cx="2449459" cy="23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5895C2B1-8D24-40F1-B152-753305E33BE5}"/>
              </a:ext>
            </a:extLst>
          </p:cNvPr>
          <p:cNvSpPr txBox="1"/>
          <p:nvPr/>
        </p:nvSpPr>
        <p:spPr>
          <a:xfrm>
            <a:off x="636826" y="1227368"/>
            <a:ext cx="2669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    이메일 주소와 함께 비밀번호 변경 요청</a:t>
            </a:r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7C9C0E09-7020-4A6C-9E6A-976E07F2EF1F}"/>
              </a:ext>
            </a:extLst>
          </p:cNvPr>
          <p:cNvSpPr/>
          <p:nvPr/>
        </p:nvSpPr>
        <p:spPr>
          <a:xfrm>
            <a:off x="1752095" y="1575026"/>
            <a:ext cx="2496784" cy="94575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800" dirty="0">
                <a:solidFill>
                  <a:schemeClr val="tx1"/>
                </a:solidFill>
              </a:rPr>
              <a:t>등록된 이메일인지 확인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800" dirty="0">
                <a:solidFill>
                  <a:schemeClr val="tx1"/>
                </a:solidFill>
              </a:rPr>
              <a:t>등록된 이메일이라면 이메일과 현재 시간을 조합하여 </a:t>
            </a: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생성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생성시 암호화 진행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암호화 과정은 오른쪽 설명란  참조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pPr marL="228600" indent="-228600">
              <a:buAutoNum type="arabicPeriod"/>
            </a:pP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을</a:t>
            </a:r>
            <a:r>
              <a:rPr lang="en-US" altLang="ko-KR" sz="800" dirty="0">
                <a:solidFill>
                  <a:schemeClr val="tx1"/>
                </a:solidFill>
              </a:rPr>
              <a:t> email</a:t>
            </a:r>
            <a:r>
              <a:rPr lang="ko-KR" altLang="en-US" sz="800" dirty="0">
                <a:solidFill>
                  <a:schemeClr val="tx1"/>
                </a:solidFill>
              </a:rPr>
              <a:t>로 전송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0A9FEC5F-43A8-4616-90BD-30BAE0F44BFB}"/>
              </a:ext>
            </a:extLst>
          </p:cNvPr>
          <p:cNvCxnSpPr>
            <a:cxnSpLocks/>
          </p:cNvCxnSpPr>
          <p:nvPr/>
        </p:nvCxnSpPr>
        <p:spPr>
          <a:xfrm>
            <a:off x="3076197" y="2834302"/>
            <a:ext cx="2387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2292667F-04B0-4E05-BD37-521CD8C41291}"/>
              </a:ext>
            </a:extLst>
          </p:cNvPr>
          <p:cNvSpPr txBox="1"/>
          <p:nvPr/>
        </p:nvSpPr>
        <p:spPr>
          <a:xfrm>
            <a:off x="2945258" y="2569430"/>
            <a:ext cx="2669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URL </a:t>
            </a:r>
            <a:r>
              <a:rPr lang="ko-KR" altLang="en-US" sz="800" dirty="0"/>
              <a:t>전송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880E1BC1-8B84-4EA9-B435-76798F627386}"/>
              </a:ext>
            </a:extLst>
          </p:cNvPr>
          <p:cNvCxnSpPr>
            <a:cxnSpLocks/>
          </p:cNvCxnSpPr>
          <p:nvPr/>
        </p:nvCxnSpPr>
        <p:spPr>
          <a:xfrm flipH="1">
            <a:off x="3073086" y="4127169"/>
            <a:ext cx="2387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TextBox 120">
            <a:extLst>
              <a:ext uri="{FF2B5EF4-FFF2-40B4-BE49-F238E27FC236}">
                <a16:creationId xmlns:a16="http://schemas.microsoft.com/office/drawing/2014/main" id="{BC53056F-2B33-4C70-9740-60DE6A1877EF}"/>
              </a:ext>
            </a:extLst>
          </p:cNvPr>
          <p:cNvSpPr txBox="1"/>
          <p:nvPr/>
        </p:nvSpPr>
        <p:spPr>
          <a:xfrm>
            <a:off x="2930026" y="3918439"/>
            <a:ext cx="2669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/>
              <a:t>URL </a:t>
            </a:r>
            <a:r>
              <a:rPr lang="ko-KR" altLang="en-US" sz="800" dirty="0"/>
              <a:t>클릭</a:t>
            </a:r>
          </a:p>
        </p:txBody>
      </p:sp>
      <p:cxnSp>
        <p:nvCxnSpPr>
          <p:cNvPr id="126" name="직선 화살표 연결선 125">
            <a:extLst>
              <a:ext uri="{FF2B5EF4-FFF2-40B4-BE49-F238E27FC236}">
                <a16:creationId xmlns:a16="http://schemas.microsoft.com/office/drawing/2014/main" id="{20B73B9C-9592-42B8-A101-74748325C9C4}"/>
              </a:ext>
            </a:extLst>
          </p:cNvPr>
          <p:cNvCxnSpPr>
            <a:cxnSpLocks/>
          </p:cNvCxnSpPr>
          <p:nvPr/>
        </p:nvCxnSpPr>
        <p:spPr>
          <a:xfrm>
            <a:off x="3098857" y="4438630"/>
            <a:ext cx="2387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1BD0D182-9996-4AAA-9355-0EE6469E3B3D}"/>
              </a:ext>
            </a:extLst>
          </p:cNvPr>
          <p:cNvSpPr txBox="1"/>
          <p:nvPr/>
        </p:nvSpPr>
        <p:spPr>
          <a:xfrm>
            <a:off x="2967918" y="4223186"/>
            <a:ext cx="266902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비밀번호 변경 페이지 제공</a:t>
            </a:r>
          </a:p>
        </p:txBody>
      </p:sp>
      <p:cxnSp>
        <p:nvCxnSpPr>
          <p:cNvPr id="132" name="직선 화살표 연결선 131">
            <a:extLst>
              <a:ext uri="{FF2B5EF4-FFF2-40B4-BE49-F238E27FC236}">
                <a16:creationId xmlns:a16="http://schemas.microsoft.com/office/drawing/2014/main" id="{E4AB057E-0B68-4248-AFB4-690597325D0C}"/>
              </a:ext>
            </a:extLst>
          </p:cNvPr>
          <p:cNvCxnSpPr>
            <a:cxnSpLocks/>
          </p:cNvCxnSpPr>
          <p:nvPr/>
        </p:nvCxnSpPr>
        <p:spPr>
          <a:xfrm flipH="1">
            <a:off x="3086051" y="4839133"/>
            <a:ext cx="23874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79A4A522-E537-4357-879E-43266D77BC77}"/>
              </a:ext>
            </a:extLst>
          </p:cNvPr>
          <p:cNvSpPr txBox="1"/>
          <p:nvPr/>
        </p:nvSpPr>
        <p:spPr>
          <a:xfrm>
            <a:off x="2931927" y="4521868"/>
            <a:ext cx="26690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/>
              <a:t>비밀번호 변경 요청</a:t>
            </a:r>
            <a:endParaRPr lang="en-US" altLang="ko-KR" sz="800" dirty="0"/>
          </a:p>
          <a:p>
            <a:pPr algn="ctr"/>
            <a:r>
              <a:rPr lang="ko-KR" altLang="en-US" sz="800" dirty="0"/>
              <a:t>이 때 암호화 된 값이 함께 </a:t>
            </a:r>
            <a:r>
              <a:rPr lang="en-US" altLang="ko-KR" sz="800" dirty="0"/>
              <a:t>server</a:t>
            </a:r>
            <a:r>
              <a:rPr lang="ko-KR" altLang="en-US" sz="800" dirty="0"/>
              <a:t>로 전송됨</a:t>
            </a:r>
            <a:endParaRPr lang="en-US" altLang="ko-KR" sz="800" dirty="0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6762B5D0-7DE3-4E81-B887-4CA358FBE2F9}"/>
              </a:ext>
            </a:extLst>
          </p:cNvPr>
          <p:cNvSpPr/>
          <p:nvPr/>
        </p:nvSpPr>
        <p:spPr>
          <a:xfrm>
            <a:off x="1721768" y="4997135"/>
            <a:ext cx="2502096" cy="134234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800" dirty="0">
                <a:solidFill>
                  <a:schemeClr val="tx1"/>
                </a:solidFill>
              </a:rPr>
              <a:t>암호화 된 값 복호화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r>
              <a:rPr lang="ko-KR" altLang="en-US" sz="800" dirty="0">
                <a:solidFill>
                  <a:schemeClr val="tx1"/>
                </a:solidFill>
              </a:rPr>
              <a:t>복호화를 통해 </a:t>
            </a:r>
            <a:r>
              <a:rPr lang="en-US" altLang="ko-KR" sz="800" dirty="0">
                <a:solidFill>
                  <a:schemeClr val="tx1"/>
                </a:solidFill>
              </a:rPr>
              <a:t>1) </a:t>
            </a:r>
            <a:r>
              <a:rPr lang="ko-KR" altLang="en-US" sz="800" dirty="0">
                <a:solidFill>
                  <a:schemeClr val="tx1"/>
                </a:solidFill>
              </a:rPr>
              <a:t>사용자 이메일 </a:t>
            </a:r>
            <a:r>
              <a:rPr lang="en-US" altLang="ko-KR" sz="800" dirty="0">
                <a:solidFill>
                  <a:schemeClr val="tx1"/>
                </a:solidFill>
              </a:rPr>
              <a:t>2) </a:t>
            </a: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이 만들어진 시간을 알 수 있음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 startAt="3"/>
            </a:pPr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이 생성된 지 </a:t>
            </a:r>
            <a:r>
              <a:rPr lang="en-US" altLang="ko-KR" sz="800" dirty="0">
                <a:solidFill>
                  <a:schemeClr val="tx1"/>
                </a:solidFill>
              </a:rPr>
              <a:t>5</a:t>
            </a:r>
            <a:r>
              <a:rPr lang="ko-KR" altLang="en-US" sz="800" dirty="0">
                <a:solidFill>
                  <a:schemeClr val="tx1"/>
                </a:solidFill>
              </a:rPr>
              <a:t>분이 넘었다면 해당 요청은 수행하지 않음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 startAt="3"/>
            </a:pPr>
            <a:endParaRPr lang="en-US" altLang="ko-KR" sz="800" dirty="0">
              <a:solidFill>
                <a:schemeClr val="tx1"/>
              </a:solidFill>
            </a:endParaRPr>
          </a:p>
          <a:p>
            <a:pPr marL="228600" indent="-228600">
              <a:buAutoNum type="arabicPeriod" startAt="3"/>
            </a:pPr>
            <a:r>
              <a:rPr lang="ko-KR" altLang="en-US" sz="800" dirty="0">
                <a:solidFill>
                  <a:schemeClr val="tx1"/>
                </a:solidFill>
              </a:rPr>
              <a:t>시간이 유효하다면</a:t>
            </a:r>
            <a:r>
              <a:rPr lang="en-US" altLang="ko-KR" sz="800" dirty="0">
                <a:solidFill>
                  <a:schemeClr val="tx1"/>
                </a:solidFill>
              </a:rPr>
              <a:t>, </a:t>
            </a:r>
            <a:r>
              <a:rPr lang="ko-KR" altLang="en-US" sz="800" dirty="0">
                <a:solidFill>
                  <a:schemeClr val="tx1"/>
                </a:solidFill>
              </a:rPr>
              <a:t>사용자 이메일로 </a:t>
            </a:r>
            <a:r>
              <a:rPr lang="en-US" altLang="ko-KR" sz="800" dirty="0">
                <a:solidFill>
                  <a:schemeClr val="tx1"/>
                </a:solidFill>
              </a:rPr>
              <a:t>user</a:t>
            </a:r>
            <a:r>
              <a:rPr lang="ko-KR" altLang="en-US" sz="800" dirty="0">
                <a:solidFill>
                  <a:schemeClr val="tx1"/>
                </a:solidFill>
              </a:rPr>
              <a:t>를 </a:t>
            </a:r>
            <a:r>
              <a:rPr lang="en-US" altLang="ko-KR" sz="800" dirty="0" err="1">
                <a:solidFill>
                  <a:schemeClr val="tx1"/>
                </a:solidFill>
              </a:rPr>
              <a:t>db</a:t>
            </a:r>
            <a:r>
              <a:rPr lang="ko-KR" altLang="en-US" sz="800" dirty="0">
                <a:solidFill>
                  <a:schemeClr val="tx1"/>
                </a:solidFill>
              </a:rPr>
              <a:t>에서 </a:t>
            </a:r>
            <a:r>
              <a:rPr lang="en-US" altLang="ko-KR" sz="800" dirty="0">
                <a:solidFill>
                  <a:schemeClr val="tx1"/>
                </a:solidFill>
              </a:rPr>
              <a:t>select</a:t>
            </a:r>
            <a:r>
              <a:rPr lang="ko-KR" altLang="en-US" sz="800" dirty="0">
                <a:solidFill>
                  <a:schemeClr val="tx1"/>
                </a:solidFill>
              </a:rPr>
              <a:t>하여 비밀번호를 변경함</a:t>
            </a:r>
            <a:endParaRPr lang="en-US" altLang="ko-KR" sz="800" dirty="0">
              <a:solidFill>
                <a:schemeClr val="tx1"/>
              </a:solidFill>
            </a:endParaRPr>
          </a:p>
          <a:p>
            <a:endParaRPr lang="en-US" altLang="ko-KR" sz="800" dirty="0">
              <a:solidFill>
                <a:schemeClr val="tx1"/>
              </a:solidFill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1102772D-1A8B-4FBE-9DE2-A45A8749E250}"/>
              </a:ext>
            </a:extLst>
          </p:cNvPr>
          <p:cNvSpPr txBox="1"/>
          <p:nvPr/>
        </p:nvSpPr>
        <p:spPr>
          <a:xfrm>
            <a:off x="7151424" y="1852292"/>
            <a:ext cx="4836539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sz="1200" dirty="0"/>
          </a:p>
          <a:p>
            <a:r>
              <a:rPr lang="ko-KR" altLang="en-US" sz="1200" dirty="0"/>
              <a:t>⨀ 암호화 방법</a:t>
            </a:r>
            <a:endParaRPr lang="en-US" altLang="ko-KR" sz="1200" dirty="0"/>
          </a:p>
          <a:p>
            <a:endParaRPr lang="en-US" altLang="ko-KR" sz="1200" dirty="0"/>
          </a:p>
          <a:p>
            <a:pPr marL="171450" indent="-171450">
              <a:buFontTx/>
              <a:buChar char="-"/>
            </a:pPr>
            <a:r>
              <a:rPr lang="ko-KR" altLang="en-US" sz="1200" dirty="0"/>
              <a:t>자바의 </a:t>
            </a:r>
            <a:r>
              <a:rPr lang="en-US" altLang="ko-KR" sz="1200" dirty="0"/>
              <a:t>Cipher </a:t>
            </a:r>
            <a:r>
              <a:rPr lang="ko-KR" altLang="en-US" sz="1200" dirty="0"/>
              <a:t>클래스를 사용하였습니다</a:t>
            </a:r>
            <a:r>
              <a:rPr lang="en-US" altLang="ko-KR" sz="1200" dirty="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200" dirty="0"/>
              <a:t>AES/CBC/PKCS5Padding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r>
              <a:rPr lang="ko-KR" altLang="en-US" sz="1200" dirty="0"/>
              <a:t>⨀ 암호화 이용 과정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현재 시간과 </a:t>
            </a:r>
            <a:r>
              <a:rPr lang="en-US" altLang="ko-KR" sz="1200" dirty="0"/>
              <a:t>User</a:t>
            </a:r>
            <a:r>
              <a:rPr lang="ko-KR" altLang="en-US" sz="1200" dirty="0"/>
              <a:t>의 </a:t>
            </a:r>
            <a:r>
              <a:rPr lang="en-US" altLang="ko-KR" sz="1200" dirty="0"/>
              <a:t>Email</a:t>
            </a:r>
            <a:r>
              <a:rPr lang="ko-KR" altLang="en-US" sz="1200" dirty="0"/>
              <a:t>을 암호화합니다</a:t>
            </a:r>
            <a:endParaRPr lang="en-US" altLang="ko-KR" sz="1200" dirty="0"/>
          </a:p>
          <a:p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암호화 된 값과 함께 </a:t>
            </a:r>
            <a:r>
              <a:rPr lang="en-US" altLang="ko-KR" sz="1200" dirty="0" err="1"/>
              <a:t>url</a:t>
            </a:r>
            <a:r>
              <a:rPr lang="ko-KR" altLang="en-US" sz="1200" dirty="0"/>
              <a:t>을 만든 후 </a:t>
            </a:r>
            <a:r>
              <a:rPr lang="en-US" altLang="ko-KR" sz="1200" dirty="0"/>
              <a:t>User</a:t>
            </a:r>
            <a:r>
              <a:rPr lang="ko-KR" altLang="en-US" sz="1200" dirty="0"/>
              <a:t>의 </a:t>
            </a:r>
            <a:r>
              <a:rPr lang="en-US" altLang="ko-KR" sz="1200" dirty="0"/>
              <a:t>email</a:t>
            </a:r>
            <a:r>
              <a:rPr lang="ko-KR" altLang="en-US" sz="1200" dirty="0"/>
              <a:t>로 전송합니다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3. Client</a:t>
            </a:r>
            <a:r>
              <a:rPr lang="ko-KR" altLang="en-US" sz="1200" dirty="0"/>
              <a:t>로부터 암호화 된 값과 함께 비밀번호 변경을 </a:t>
            </a:r>
            <a:r>
              <a:rPr lang="ko-KR" altLang="en-US" sz="1200" dirty="0" err="1"/>
              <a:t>요청받습니다</a:t>
            </a:r>
            <a:r>
              <a:rPr lang="en-US" altLang="ko-KR" sz="1200" dirty="0"/>
              <a:t>.</a:t>
            </a:r>
          </a:p>
          <a:p>
            <a:r>
              <a:rPr lang="en-US" altLang="ko-KR" sz="1200" dirty="0"/>
              <a:t> </a:t>
            </a:r>
          </a:p>
          <a:p>
            <a:r>
              <a:rPr lang="en-US" altLang="ko-KR" sz="1200" dirty="0"/>
              <a:t>4. </a:t>
            </a:r>
            <a:r>
              <a:rPr lang="ko-KR" altLang="en-US" sz="1200" dirty="0"/>
              <a:t>암호화 된 값을 복호화 하여 </a:t>
            </a:r>
            <a:r>
              <a:rPr lang="en-US" altLang="ko-KR" sz="1200" dirty="0" err="1"/>
              <a:t>url</a:t>
            </a:r>
            <a:r>
              <a:rPr lang="ko-KR" altLang="en-US" sz="1200" dirty="0"/>
              <a:t>이 만들어진 시간과 </a:t>
            </a:r>
            <a:r>
              <a:rPr lang="en-US" altLang="ko-KR" sz="1200" dirty="0"/>
              <a:t>Email</a:t>
            </a:r>
            <a:r>
              <a:rPr lang="ko-KR" altLang="en-US" sz="1200" dirty="0"/>
              <a:t>을 얻어냅니다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5. </a:t>
            </a:r>
            <a:r>
              <a:rPr lang="ko-KR" altLang="en-US" sz="1200" dirty="0"/>
              <a:t>유효시간을 확인 한 후</a:t>
            </a:r>
            <a:r>
              <a:rPr lang="en-US" altLang="ko-KR" sz="1200" dirty="0"/>
              <a:t> </a:t>
            </a:r>
            <a:r>
              <a:rPr lang="ko-KR" altLang="en-US" sz="1200" dirty="0"/>
              <a:t>해당 </a:t>
            </a:r>
            <a:r>
              <a:rPr lang="en-US" altLang="ko-KR" sz="1200" dirty="0"/>
              <a:t>User</a:t>
            </a:r>
            <a:r>
              <a:rPr lang="ko-KR" altLang="en-US" sz="1200" dirty="0"/>
              <a:t>의 비밀번호를 변경합니다</a:t>
            </a:r>
            <a:r>
              <a:rPr lang="en-US" altLang="ko-KR" sz="1200" dirty="0"/>
              <a:t>. </a:t>
            </a:r>
          </a:p>
          <a:p>
            <a:pPr marL="171450" indent="-171450">
              <a:buFontTx/>
              <a:buChar char="-"/>
            </a:pPr>
            <a:endParaRPr lang="en-US" altLang="ko-KR" sz="1200" dirty="0"/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/>
          </a:p>
          <a:p>
            <a:endParaRPr lang="en-US" altLang="ko-KR" sz="900" dirty="0"/>
          </a:p>
          <a:p>
            <a:pPr marL="228600" indent="-228600">
              <a:buAutoNum type="arabicPeriod"/>
            </a:pPr>
            <a:endParaRPr lang="en-US" altLang="ko-KR" sz="1200" dirty="0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CBDE7AE-29B2-4D89-B27D-D77A46B6E4A3}"/>
              </a:ext>
            </a:extLst>
          </p:cNvPr>
          <p:cNvSpPr/>
          <p:nvPr/>
        </p:nvSpPr>
        <p:spPr>
          <a:xfrm>
            <a:off x="4342348" y="2991685"/>
            <a:ext cx="2387434" cy="88865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하나의 </a:t>
            </a:r>
            <a:r>
              <a:rPr lang="en-US" altLang="ko-KR" sz="800" dirty="0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은 한 명의 회원에게만 적용되는 </a:t>
            </a:r>
            <a:r>
              <a:rPr lang="en-US" altLang="ko-KR" sz="800" dirty="0">
                <a:solidFill>
                  <a:schemeClr val="tx1"/>
                </a:solidFill>
              </a:rPr>
              <a:t>URL</a:t>
            </a:r>
            <a:r>
              <a:rPr lang="ko-KR" altLang="en-US" sz="800" dirty="0">
                <a:solidFill>
                  <a:schemeClr val="tx1"/>
                </a:solidFill>
              </a:rPr>
              <a:t>임</a:t>
            </a:r>
            <a:endParaRPr lang="en-US" altLang="ko-KR" sz="800" dirty="0">
              <a:solidFill>
                <a:schemeClr val="tx1"/>
              </a:solidFill>
            </a:endParaRPr>
          </a:p>
          <a:p>
            <a:r>
              <a:rPr lang="en-US" altLang="ko-KR" sz="800" dirty="0" err="1">
                <a:solidFill>
                  <a:schemeClr val="tx1"/>
                </a:solidFill>
              </a:rPr>
              <a:t>url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예시 </a:t>
            </a:r>
            <a:r>
              <a:rPr lang="en-US" altLang="ko-KR" sz="800" dirty="0">
                <a:solidFill>
                  <a:schemeClr val="tx1"/>
                </a:solidFill>
              </a:rPr>
              <a:t>: www.highend.com/reset/password/{askljaflkmdkljasklf(</a:t>
            </a:r>
            <a:r>
              <a:rPr lang="ko-KR" altLang="en-US" sz="800" dirty="0">
                <a:solidFill>
                  <a:schemeClr val="tx1"/>
                </a:solidFill>
              </a:rPr>
              <a:t>회원 </a:t>
            </a:r>
            <a:r>
              <a:rPr lang="en-US" altLang="ko-KR" sz="800" dirty="0">
                <a:solidFill>
                  <a:schemeClr val="tx1"/>
                </a:solidFill>
              </a:rPr>
              <a:t>email</a:t>
            </a:r>
            <a:r>
              <a:rPr lang="ko-KR" altLang="en-US" sz="800" dirty="0">
                <a:solidFill>
                  <a:schemeClr val="tx1"/>
                </a:solidFill>
              </a:rPr>
              <a:t>과 현재 시간으로 암호화 된 값</a:t>
            </a:r>
            <a:r>
              <a:rPr lang="en-US" altLang="ko-KR" sz="800" dirty="0">
                <a:solidFill>
                  <a:schemeClr val="tx1"/>
                </a:solidFill>
              </a:rPr>
              <a:t>)}</a:t>
            </a:r>
            <a:r>
              <a:rPr lang="ko-KR" altLang="en-US" sz="800" dirty="0"/>
              <a:t>원</a:t>
            </a:r>
            <a:endParaRPr lang="en-US" altLang="ko-KR" sz="800" dirty="0"/>
          </a:p>
        </p:txBody>
      </p:sp>
    </p:spTree>
    <p:extLst>
      <p:ext uri="{BB962C8B-B14F-4D97-AF65-F5344CB8AC3E}">
        <p14:creationId xmlns:p14="http://schemas.microsoft.com/office/powerpoint/2010/main" val="414148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278058-6E92-4B31-8AE1-BCADDCA5DC04}"/>
              </a:ext>
            </a:extLst>
          </p:cNvPr>
          <p:cNvSpPr/>
          <p:nvPr/>
        </p:nvSpPr>
        <p:spPr>
          <a:xfrm>
            <a:off x="801779" y="3381496"/>
            <a:ext cx="1511306" cy="918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Client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13BC349-6ED3-426E-A8FD-8294867C9EA7}"/>
              </a:ext>
            </a:extLst>
          </p:cNvPr>
          <p:cNvCxnSpPr>
            <a:cxnSpLocks/>
          </p:cNvCxnSpPr>
          <p:nvPr/>
        </p:nvCxnSpPr>
        <p:spPr>
          <a:xfrm>
            <a:off x="2433012" y="3865770"/>
            <a:ext cx="1205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C0CEE3-2FF4-4C53-96C9-38740B73DA1B}"/>
              </a:ext>
            </a:extLst>
          </p:cNvPr>
          <p:cNvSpPr txBox="1"/>
          <p:nvPr/>
        </p:nvSpPr>
        <p:spPr>
          <a:xfrm>
            <a:off x="2394525" y="3507713"/>
            <a:ext cx="13265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Request (</a:t>
            </a:r>
            <a:r>
              <a:rPr lang="ko-KR" altLang="en-US" sz="800" dirty="0"/>
              <a:t>예시 </a:t>
            </a:r>
            <a:r>
              <a:rPr lang="en-US" altLang="ko-KR" sz="800" dirty="0"/>
              <a:t>: </a:t>
            </a:r>
            <a:r>
              <a:rPr lang="ko-KR" altLang="en-US" sz="800" dirty="0"/>
              <a:t>회원가입</a:t>
            </a:r>
            <a:r>
              <a:rPr lang="en-US" altLang="ko-KR" sz="800" dirty="0"/>
              <a:t>, </a:t>
            </a:r>
            <a:r>
              <a:rPr lang="ko-KR" altLang="en-US" sz="800" dirty="0"/>
              <a:t>회원 정보 조회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C914061-D758-469D-8584-2022E8088D9E}"/>
              </a:ext>
            </a:extLst>
          </p:cNvPr>
          <p:cNvSpPr/>
          <p:nvPr/>
        </p:nvSpPr>
        <p:spPr>
          <a:xfrm>
            <a:off x="4039680" y="3487686"/>
            <a:ext cx="1511306" cy="812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Server(Ec2, Linux, Spring)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CAB6D20D-C1BF-43B1-BEB8-F315878472F4}"/>
              </a:ext>
            </a:extLst>
          </p:cNvPr>
          <p:cNvCxnSpPr>
            <a:cxnSpLocks/>
          </p:cNvCxnSpPr>
          <p:nvPr/>
        </p:nvCxnSpPr>
        <p:spPr>
          <a:xfrm flipV="1">
            <a:off x="4682786" y="2554420"/>
            <a:ext cx="606433" cy="846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5181DF-5758-4B29-96CE-01F65998C77F}"/>
              </a:ext>
            </a:extLst>
          </p:cNvPr>
          <p:cNvSpPr/>
          <p:nvPr/>
        </p:nvSpPr>
        <p:spPr>
          <a:xfrm>
            <a:off x="4950454" y="1631774"/>
            <a:ext cx="1511306" cy="812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S3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ADA31A-051D-4242-AB16-727D5A00FE40}"/>
              </a:ext>
            </a:extLst>
          </p:cNvPr>
          <p:cNvSpPr txBox="1"/>
          <p:nvPr/>
        </p:nvSpPr>
        <p:spPr>
          <a:xfrm>
            <a:off x="4950454" y="2921771"/>
            <a:ext cx="1511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Client</a:t>
            </a:r>
            <a:r>
              <a:rPr lang="ko-KR" altLang="en-US" sz="800" dirty="0"/>
              <a:t>로부터 받은 파일 저장</a:t>
            </a:r>
            <a:r>
              <a:rPr lang="en-US" altLang="ko-KR" sz="800" dirty="0"/>
              <a:t>(</a:t>
            </a:r>
            <a:r>
              <a:rPr lang="ko-KR" altLang="en-US" sz="800" dirty="0"/>
              <a:t>예시 </a:t>
            </a:r>
            <a:r>
              <a:rPr lang="en-US" altLang="ko-KR" sz="800" dirty="0"/>
              <a:t>: </a:t>
            </a:r>
            <a:r>
              <a:rPr lang="ko-KR" altLang="en-US" sz="800" dirty="0"/>
              <a:t>사진</a:t>
            </a:r>
            <a:r>
              <a:rPr lang="en-US" altLang="ko-KR" sz="800" dirty="0"/>
              <a:t>)</a:t>
            </a:r>
            <a:endParaRPr lang="ko-KR" altLang="en-US" sz="8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BBA36E-0AD7-4606-AF54-4AC6FA042EB1}"/>
              </a:ext>
            </a:extLst>
          </p:cNvPr>
          <p:cNvSpPr/>
          <p:nvPr/>
        </p:nvSpPr>
        <p:spPr>
          <a:xfrm>
            <a:off x="2121319" y="1631774"/>
            <a:ext cx="1511306" cy="812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CloudFront(CDN)</a:t>
            </a:r>
          </a:p>
          <a:p>
            <a:pPr algn="ctr"/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S3</a:t>
            </a:r>
            <a:r>
              <a:rPr lang="ko-KR" altLang="en-US" sz="800" dirty="0">
                <a:solidFill>
                  <a:schemeClr val="tx1"/>
                </a:solidFill>
              </a:rPr>
              <a:t>로 부터 받아온 파일 </a:t>
            </a:r>
            <a:r>
              <a:rPr lang="ko-KR" altLang="en-US" sz="800" dirty="0" err="1">
                <a:solidFill>
                  <a:schemeClr val="tx1"/>
                </a:solidFill>
              </a:rPr>
              <a:t>캐싱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70120EEE-87AC-4B52-8E02-6D2B325E4187}"/>
              </a:ext>
            </a:extLst>
          </p:cNvPr>
          <p:cNvCxnSpPr>
            <a:cxnSpLocks/>
          </p:cNvCxnSpPr>
          <p:nvPr/>
        </p:nvCxnSpPr>
        <p:spPr>
          <a:xfrm>
            <a:off x="3807051" y="1834706"/>
            <a:ext cx="952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3C4A9B0F-C669-46F8-BC7F-C75E07A4EBCD}"/>
              </a:ext>
            </a:extLst>
          </p:cNvPr>
          <p:cNvSpPr/>
          <p:nvPr/>
        </p:nvSpPr>
        <p:spPr>
          <a:xfrm>
            <a:off x="4039680" y="5196797"/>
            <a:ext cx="1511306" cy="8124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RDS(</a:t>
            </a:r>
            <a:r>
              <a:rPr lang="en-US" altLang="ko-KR" sz="1200" dirty="0" err="1">
                <a:solidFill>
                  <a:schemeClr val="tx1"/>
                </a:solidFill>
              </a:rPr>
              <a:t>Mysql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B138F823-6B52-4725-A067-340F083B8228}"/>
              </a:ext>
            </a:extLst>
          </p:cNvPr>
          <p:cNvCxnSpPr>
            <a:cxnSpLocks/>
          </p:cNvCxnSpPr>
          <p:nvPr/>
        </p:nvCxnSpPr>
        <p:spPr>
          <a:xfrm>
            <a:off x="4473677" y="4406818"/>
            <a:ext cx="0" cy="64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FCCC8B95-BFBF-4791-9BAB-5BB10E113FC2}"/>
              </a:ext>
            </a:extLst>
          </p:cNvPr>
          <p:cNvCxnSpPr>
            <a:cxnSpLocks/>
          </p:cNvCxnSpPr>
          <p:nvPr/>
        </p:nvCxnSpPr>
        <p:spPr>
          <a:xfrm flipV="1">
            <a:off x="5293688" y="4406818"/>
            <a:ext cx="0" cy="648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D550D3A4-7E85-4793-87DF-7F69DE4C5364}"/>
              </a:ext>
            </a:extLst>
          </p:cNvPr>
          <p:cNvSpPr txBox="1"/>
          <p:nvPr/>
        </p:nvSpPr>
        <p:spPr>
          <a:xfrm>
            <a:off x="4039680" y="4633804"/>
            <a:ext cx="5084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CRUD</a:t>
            </a:r>
            <a:endParaRPr lang="ko-KR" altLang="en-US" sz="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FB030E-21BE-451F-A3AB-E90418ABBE40}"/>
              </a:ext>
            </a:extLst>
          </p:cNvPr>
          <p:cNvSpPr txBox="1"/>
          <p:nvPr/>
        </p:nvSpPr>
        <p:spPr>
          <a:xfrm>
            <a:off x="5289219" y="4647663"/>
            <a:ext cx="74778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/>
              <a:t>데이터 제공</a:t>
            </a:r>
            <a:endParaRPr lang="ko-KR" altLang="en-US" sz="800" dirty="0"/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E2BCB56A-25FF-4DC0-98A5-D980E3E6B619}"/>
              </a:ext>
            </a:extLst>
          </p:cNvPr>
          <p:cNvCxnSpPr>
            <a:cxnSpLocks/>
          </p:cNvCxnSpPr>
          <p:nvPr/>
        </p:nvCxnSpPr>
        <p:spPr>
          <a:xfrm flipH="1">
            <a:off x="3807051" y="2318453"/>
            <a:ext cx="9528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98E68A65-84CA-4A76-A433-D4E9923DF8CF}"/>
              </a:ext>
            </a:extLst>
          </p:cNvPr>
          <p:cNvSpPr txBox="1"/>
          <p:nvPr/>
        </p:nvSpPr>
        <p:spPr>
          <a:xfrm>
            <a:off x="3936123" y="1634606"/>
            <a:ext cx="711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파일 요청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B3215CE-062B-431D-A14B-396D6A0FFAEF}"/>
              </a:ext>
            </a:extLst>
          </p:cNvPr>
          <p:cNvSpPr txBox="1"/>
          <p:nvPr/>
        </p:nvSpPr>
        <p:spPr>
          <a:xfrm>
            <a:off x="3966615" y="2101701"/>
            <a:ext cx="711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파일 제공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0C5A208-BBF2-4079-B615-8CDA55FF9DD6}"/>
              </a:ext>
            </a:extLst>
          </p:cNvPr>
          <p:cNvCxnSpPr>
            <a:cxnSpLocks/>
          </p:cNvCxnSpPr>
          <p:nvPr/>
        </p:nvCxnSpPr>
        <p:spPr>
          <a:xfrm flipV="1">
            <a:off x="1059536" y="2317145"/>
            <a:ext cx="896702" cy="943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70567B36-AA95-4094-99CC-538597F7E02A}"/>
              </a:ext>
            </a:extLst>
          </p:cNvPr>
          <p:cNvCxnSpPr>
            <a:cxnSpLocks/>
          </p:cNvCxnSpPr>
          <p:nvPr/>
        </p:nvCxnSpPr>
        <p:spPr>
          <a:xfrm flipH="1">
            <a:off x="1655371" y="2554420"/>
            <a:ext cx="686060" cy="7059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6F90489A-D6E7-461E-B574-A83A083621A3}"/>
              </a:ext>
            </a:extLst>
          </p:cNvPr>
          <p:cNvSpPr txBox="1"/>
          <p:nvPr/>
        </p:nvSpPr>
        <p:spPr>
          <a:xfrm>
            <a:off x="914544" y="2554420"/>
            <a:ext cx="71126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dirty="0"/>
              <a:t>파일 요청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1A21E6-32E2-4FFC-B987-440175EB5A72}"/>
              </a:ext>
            </a:extLst>
          </p:cNvPr>
          <p:cNvSpPr txBox="1"/>
          <p:nvPr/>
        </p:nvSpPr>
        <p:spPr>
          <a:xfrm>
            <a:off x="2196439" y="2730508"/>
            <a:ext cx="17396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1) </a:t>
            </a:r>
            <a:r>
              <a:rPr lang="ko-KR" altLang="en-US" sz="800" dirty="0" err="1"/>
              <a:t>캐싱</a:t>
            </a:r>
            <a:r>
              <a:rPr lang="ko-KR" altLang="en-US" sz="800" dirty="0"/>
              <a:t> 된 파일 제공</a:t>
            </a:r>
            <a:endParaRPr lang="en-US" altLang="ko-KR" sz="800" dirty="0"/>
          </a:p>
          <a:p>
            <a:r>
              <a:rPr lang="en-US" altLang="ko-KR" sz="800" dirty="0"/>
              <a:t>2) </a:t>
            </a:r>
            <a:r>
              <a:rPr lang="ko-KR" altLang="en-US" sz="800" dirty="0" err="1"/>
              <a:t>캐싱</a:t>
            </a:r>
            <a:r>
              <a:rPr lang="ko-KR" altLang="en-US" sz="800" dirty="0"/>
              <a:t> 되어있는 파일이 없을 경우 </a:t>
            </a:r>
            <a:r>
              <a:rPr lang="en-US" altLang="ko-KR" sz="800" dirty="0"/>
              <a:t>s3</a:t>
            </a:r>
            <a:r>
              <a:rPr lang="ko-KR" altLang="en-US" sz="800" dirty="0"/>
              <a:t>에 요청 후 제공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FB38C0-C2CB-4BC9-8576-35967547CAD4}"/>
              </a:ext>
            </a:extLst>
          </p:cNvPr>
          <p:cNvSpPr txBox="1"/>
          <p:nvPr/>
        </p:nvSpPr>
        <p:spPr>
          <a:xfrm>
            <a:off x="801779" y="650809"/>
            <a:ext cx="18659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/>
              <a:t>서버 구조도</a:t>
            </a:r>
            <a:endParaRPr lang="en-US" altLang="ko-KR" b="1" dirty="0"/>
          </a:p>
        </p:txBody>
      </p:sp>
      <p:sp>
        <p:nvSpPr>
          <p:cNvPr id="48" name="object 6">
            <a:extLst>
              <a:ext uri="{FF2B5EF4-FFF2-40B4-BE49-F238E27FC236}">
                <a16:creationId xmlns:a16="http://schemas.microsoft.com/office/drawing/2014/main" id="{5AB057B5-6CA2-42D4-9A59-9492C1D3C1D6}"/>
              </a:ext>
            </a:extLst>
          </p:cNvPr>
          <p:cNvSpPr/>
          <p:nvPr/>
        </p:nvSpPr>
        <p:spPr>
          <a:xfrm>
            <a:off x="668581" y="775110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50739CBA-50AD-4D28-96D8-6020FC9EB336}"/>
              </a:ext>
            </a:extLst>
          </p:cNvPr>
          <p:cNvCxnSpPr>
            <a:cxnSpLocks/>
          </p:cNvCxnSpPr>
          <p:nvPr/>
        </p:nvCxnSpPr>
        <p:spPr>
          <a:xfrm flipH="1">
            <a:off x="2407922" y="4163115"/>
            <a:ext cx="1313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7DCDC8C5-A605-45D2-9819-EA7A112DB985}"/>
              </a:ext>
            </a:extLst>
          </p:cNvPr>
          <p:cNvSpPr txBox="1"/>
          <p:nvPr/>
        </p:nvSpPr>
        <p:spPr>
          <a:xfrm>
            <a:off x="2667775" y="3978481"/>
            <a:ext cx="106514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Response </a:t>
            </a:r>
            <a:r>
              <a:rPr lang="en-US" altLang="ko-KR" sz="800" dirty="0" err="1"/>
              <a:t>dto</a:t>
            </a:r>
            <a:endParaRPr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014103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9FE91A0-2471-4BD7-9D1C-6ABE3C9F2579}"/>
              </a:ext>
            </a:extLst>
          </p:cNvPr>
          <p:cNvSpPr txBox="1"/>
          <p:nvPr/>
        </p:nvSpPr>
        <p:spPr>
          <a:xfrm>
            <a:off x="622221" y="572366"/>
            <a:ext cx="41529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Side</a:t>
            </a:r>
            <a:r>
              <a:rPr lang="ko-KR" alt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sz="2800" b="1" dirty="0">
                <a:latin typeface="Arial" panose="020B0604020202020204" pitchFamily="34" charset="0"/>
                <a:cs typeface="Arial" panose="020B0604020202020204" pitchFamily="34" charset="0"/>
              </a:rPr>
              <a:t>Project 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ko-KR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소규모 프로젝트</a:t>
            </a:r>
            <a:r>
              <a:rPr lang="en-US" altLang="ko-KR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lang="ko-KR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2493EB-D5F6-4DB4-BB22-2ADD6AEAEA33}"/>
              </a:ext>
            </a:extLst>
          </p:cNvPr>
          <p:cNvSpPr txBox="1"/>
          <p:nvPr/>
        </p:nvSpPr>
        <p:spPr>
          <a:xfrm>
            <a:off x="622221" y="1282966"/>
            <a:ext cx="50243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 dirty="0"/>
              <a:t>프로젝트 명 </a:t>
            </a:r>
            <a:r>
              <a:rPr lang="en-US" altLang="ko-KR" sz="2200" b="1" dirty="0"/>
              <a:t>: </a:t>
            </a:r>
            <a:r>
              <a:rPr lang="ko-KR" altLang="en-US" sz="2200" b="1" dirty="0"/>
              <a:t>숭실대학교 학식 알림이</a:t>
            </a:r>
          </a:p>
        </p:txBody>
      </p:sp>
      <p:sp>
        <p:nvSpPr>
          <p:cNvPr id="7" name="object 6">
            <a:extLst>
              <a:ext uri="{FF2B5EF4-FFF2-40B4-BE49-F238E27FC236}">
                <a16:creationId xmlns:a16="http://schemas.microsoft.com/office/drawing/2014/main" id="{05453229-C69C-46B4-B575-5C14E564D955}"/>
              </a:ext>
            </a:extLst>
          </p:cNvPr>
          <p:cNvSpPr/>
          <p:nvPr/>
        </p:nvSpPr>
        <p:spPr>
          <a:xfrm>
            <a:off x="5977276" y="717477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8B76A10-35E7-4DC2-AF2A-FCBF83B159FB}"/>
              </a:ext>
            </a:extLst>
          </p:cNvPr>
          <p:cNvSpPr txBox="1"/>
          <p:nvPr/>
        </p:nvSpPr>
        <p:spPr>
          <a:xfrm>
            <a:off x="6372837" y="567384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기간</a:t>
            </a:r>
            <a:endParaRPr lang="en-US" altLang="ko-KR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00076C-0F5F-4092-A177-2D82071AB988}"/>
              </a:ext>
            </a:extLst>
          </p:cNvPr>
          <p:cNvSpPr txBox="1"/>
          <p:nvPr/>
        </p:nvSpPr>
        <p:spPr>
          <a:xfrm>
            <a:off x="6393667" y="936716"/>
            <a:ext cx="2465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2021. 11 ~ 2021. 12</a:t>
            </a:r>
            <a:endParaRPr lang="ko-KR" altLang="en-US" sz="1400" dirty="0"/>
          </a:p>
        </p:txBody>
      </p:sp>
      <p:sp>
        <p:nvSpPr>
          <p:cNvPr id="17" name="object 6">
            <a:extLst>
              <a:ext uri="{FF2B5EF4-FFF2-40B4-BE49-F238E27FC236}">
                <a16:creationId xmlns:a16="http://schemas.microsoft.com/office/drawing/2014/main" id="{3FFE767E-0F5C-46D1-9455-679FDE04FD44}"/>
              </a:ext>
            </a:extLst>
          </p:cNvPr>
          <p:cNvSpPr/>
          <p:nvPr/>
        </p:nvSpPr>
        <p:spPr>
          <a:xfrm>
            <a:off x="5977275" y="1581713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A47425-E295-4884-955F-16710AF06B62}"/>
              </a:ext>
            </a:extLst>
          </p:cNvPr>
          <p:cNvSpPr txBox="1"/>
          <p:nvPr/>
        </p:nvSpPr>
        <p:spPr>
          <a:xfrm>
            <a:off x="6372837" y="1381430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기술 스택</a:t>
            </a:r>
            <a:endParaRPr lang="en-US" altLang="ko-KR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4D25C7-6AA2-459D-89DC-FE2876FCC063}"/>
              </a:ext>
            </a:extLst>
          </p:cNvPr>
          <p:cNvSpPr txBox="1"/>
          <p:nvPr/>
        </p:nvSpPr>
        <p:spPr>
          <a:xfrm>
            <a:off x="6372836" y="1820729"/>
            <a:ext cx="48330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- Java,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SpringBoot</a:t>
            </a:r>
            <a:r>
              <a:rPr lang="en-US" altLang="ko-KR" sz="1400" dirty="0"/>
              <a:t>,</a:t>
            </a:r>
            <a:r>
              <a:rPr lang="ko-KR" altLang="en-US" sz="1400" dirty="0"/>
              <a:t> </a:t>
            </a:r>
            <a:r>
              <a:rPr lang="en-US" altLang="ko-KR" sz="1400" dirty="0" err="1"/>
              <a:t>DataJpa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Jsoup</a:t>
            </a:r>
            <a:r>
              <a:rPr lang="ko-KR" altLang="en-US" sz="1400" dirty="0"/>
              <a:t>라이브러리</a:t>
            </a:r>
            <a:r>
              <a:rPr lang="en-US" altLang="ko-KR" sz="1400" dirty="0"/>
              <a:t> </a:t>
            </a:r>
            <a:r>
              <a:rPr lang="ko-KR" altLang="en-US" sz="1400" dirty="0"/>
              <a:t>카카오 </a:t>
            </a:r>
            <a:r>
              <a:rPr lang="en-US" altLang="ko-KR" sz="1400" dirty="0"/>
              <a:t>API</a:t>
            </a:r>
          </a:p>
          <a:p>
            <a:endParaRPr lang="en-US" altLang="ko-KR" sz="1400" dirty="0"/>
          </a:p>
          <a:p>
            <a:r>
              <a:rPr lang="en-US" altLang="ko-KR" sz="1400" dirty="0"/>
              <a:t>- RDS, EC2</a:t>
            </a:r>
            <a:endParaRPr lang="ko-KR" altLang="en-US" sz="1400"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439DEE50-AA2F-41D9-AE3A-503F35537DCF}"/>
              </a:ext>
            </a:extLst>
          </p:cNvPr>
          <p:cNvSpPr/>
          <p:nvPr/>
        </p:nvSpPr>
        <p:spPr>
          <a:xfrm>
            <a:off x="5977274" y="2828671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C109568-ED4B-474C-B8FC-D8DF923E81CF}"/>
              </a:ext>
            </a:extLst>
          </p:cNvPr>
          <p:cNvSpPr txBox="1"/>
          <p:nvPr/>
        </p:nvSpPr>
        <p:spPr>
          <a:xfrm>
            <a:off x="6393668" y="2665941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프로젝트 개요</a:t>
            </a:r>
            <a:endParaRPr lang="en-US" altLang="ko-KR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F88A96-EB2F-45F6-B26D-067646A3588B}"/>
              </a:ext>
            </a:extLst>
          </p:cNvPr>
          <p:cNvSpPr txBox="1"/>
          <p:nvPr/>
        </p:nvSpPr>
        <p:spPr>
          <a:xfrm>
            <a:off x="6372837" y="3098815"/>
            <a:ext cx="48330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1. </a:t>
            </a:r>
            <a:r>
              <a:rPr lang="ko-KR" altLang="en-US" sz="1200" dirty="0"/>
              <a:t>웹 </a:t>
            </a:r>
            <a:r>
              <a:rPr lang="ko-KR" altLang="en-US" sz="1200" dirty="0" err="1"/>
              <a:t>크롤링을</a:t>
            </a:r>
            <a:r>
              <a:rPr lang="ko-KR" altLang="en-US" sz="1200" dirty="0"/>
              <a:t> 통해 학식메뉴를 보여주는 카카오톡 </a:t>
            </a:r>
            <a:r>
              <a:rPr lang="ko-KR" altLang="en-US" sz="1200" dirty="0" err="1"/>
              <a:t>챗봇입니다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자동화를 통해 성능을 개선하였습니다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서비스 기획 </a:t>
            </a:r>
            <a:r>
              <a:rPr lang="en-US" altLang="ko-KR" sz="1200" dirty="0"/>
              <a:t>~ </a:t>
            </a:r>
            <a:r>
              <a:rPr lang="ko-KR" altLang="en-US" sz="1200" dirty="0"/>
              <a:t>배포까지의 모든 프로세스에 참여하였습니다</a:t>
            </a:r>
            <a:r>
              <a:rPr lang="en-US" altLang="ko-KR" sz="1200" dirty="0"/>
              <a:t>. </a:t>
            </a:r>
          </a:p>
          <a:p>
            <a:endParaRPr lang="en-US" altLang="ko-KR" sz="1200" dirty="0"/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B1AADEE6-DBEB-42E0-87F8-D260129E2BA8}"/>
              </a:ext>
            </a:extLst>
          </p:cNvPr>
          <p:cNvSpPr/>
          <p:nvPr/>
        </p:nvSpPr>
        <p:spPr>
          <a:xfrm>
            <a:off x="5978052" y="4342847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002A62-FFDD-4FC0-8B75-67D4CDA6615E}"/>
              </a:ext>
            </a:extLst>
          </p:cNvPr>
          <p:cNvSpPr txBox="1"/>
          <p:nvPr/>
        </p:nvSpPr>
        <p:spPr>
          <a:xfrm>
            <a:off x="6372838" y="4218711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나의 구현 내용</a:t>
            </a:r>
            <a:endParaRPr lang="en-US" altLang="ko-KR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A8802D-994C-46BB-8F06-E3B54DD130A8}"/>
              </a:ext>
            </a:extLst>
          </p:cNvPr>
          <p:cNvSpPr txBox="1"/>
          <p:nvPr/>
        </p:nvSpPr>
        <p:spPr>
          <a:xfrm>
            <a:off x="6393669" y="4718206"/>
            <a:ext cx="31898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⨀ </a:t>
            </a:r>
            <a:r>
              <a:rPr lang="en-US" altLang="ko-KR" sz="1200" dirty="0" err="1"/>
              <a:t>Jsoup</a:t>
            </a:r>
            <a:r>
              <a:rPr lang="en-US" altLang="ko-KR" sz="1200" dirty="0"/>
              <a:t> </a:t>
            </a:r>
            <a:r>
              <a:rPr lang="ko-KR" altLang="en-US" sz="1200" dirty="0"/>
              <a:t>라이브러리를 이용한 웹 </a:t>
            </a:r>
            <a:r>
              <a:rPr lang="ko-KR" altLang="en-US" sz="1200" dirty="0" err="1"/>
              <a:t>크롤링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자동화를 통한 성능 개선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 dirty="0"/>
              <a:t>⨀ 카카오 오픈 </a:t>
            </a:r>
            <a:r>
              <a:rPr lang="ko-KR" altLang="en-US" sz="1200" dirty="0" err="1"/>
              <a:t>빌더</a:t>
            </a:r>
            <a:r>
              <a:rPr lang="ko-KR" altLang="en-US" sz="1200" dirty="0"/>
              <a:t> </a:t>
            </a:r>
            <a:r>
              <a:rPr lang="en-US" altLang="ko-KR" sz="1200" dirty="0"/>
              <a:t>API </a:t>
            </a:r>
            <a:r>
              <a:rPr lang="ko-KR" altLang="en-US" sz="1200" dirty="0"/>
              <a:t>활용</a:t>
            </a:r>
            <a:endParaRPr lang="en-US" altLang="ko-KR" sz="1200" dirty="0"/>
          </a:p>
          <a:p>
            <a:endParaRPr lang="en-US" altLang="ko-KR" sz="12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396974-5F29-4DDB-986A-79F0CD091C64}"/>
              </a:ext>
            </a:extLst>
          </p:cNvPr>
          <p:cNvSpPr txBox="1"/>
          <p:nvPr/>
        </p:nvSpPr>
        <p:spPr>
          <a:xfrm>
            <a:off x="681697" y="1798387"/>
            <a:ext cx="42724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약 </a:t>
            </a:r>
            <a:r>
              <a:rPr lang="en-US" altLang="ko-KR" sz="1100" dirty="0"/>
              <a:t>2000</a:t>
            </a:r>
            <a:r>
              <a:rPr lang="ko-KR" altLang="en-US" sz="1100" dirty="0"/>
              <a:t>명의 사용자를 보유하고 있는 학식 알림이 서비스입니다</a:t>
            </a:r>
            <a:r>
              <a:rPr lang="en-US" altLang="ko-KR" sz="1050" dirty="0"/>
              <a:t>.</a:t>
            </a:r>
            <a:endParaRPr lang="ko-KR" altLang="en-US" sz="1050" dirty="0"/>
          </a:p>
        </p:txBody>
      </p:sp>
      <p:pic>
        <p:nvPicPr>
          <p:cNvPr id="3" name="그림 2" descr="텍스트이(가) 표시된 사진&#10;&#10;자동 생성된 설명">
            <a:extLst>
              <a:ext uri="{FF2B5EF4-FFF2-40B4-BE49-F238E27FC236}">
                <a16:creationId xmlns:a16="http://schemas.microsoft.com/office/drawing/2014/main" id="{D2204507-3F39-437E-BB11-2FE8FBEFB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1598" y="2402297"/>
            <a:ext cx="2172928" cy="3759713"/>
          </a:xfrm>
          <a:prstGeom prst="rect">
            <a:avLst/>
          </a:prstGeom>
        </p:spPr>
      </p:pic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CC4ED2A3-ECC2-4ACA-BE35-A6F0BB9834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612" y="2269488"/>
            <a:ext cx="2279686" cy="3892521"/>
          </a:xfrm>
          <a:prstGeom prst="rect">
            <a:avLst/>
          </a:prstGeom>
        </p:spPr>
      </p:pic>
      <p:sp>
        <p:nvSpPr>
          <p:cNvPr id="27" name="object 6">
            <a:extLst>
              <a:ext uri="{FF2B5EF4-FFF2-40B4-BE49-F238E27FC236}">
                <a16:creationId xmlns:a16="http://schemas.microsoft.com/office/drawing/2014/main" id="{E496C3E9-755C-4066-9165-4E8051C47E2D}"/>
              </a:ext>
            </a:extLst>
          </p:cNvPr>
          <p:cNvSpPr/>
          <p:nvPr/>
        </p:nvSpPr>
        <p:spPr>
          <a:xfrm>
            <a:off x="5977276" y="6006650"/>
            <a:ext cx="133449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3B1500-AEC2-4D57-9B5A-677112BE2866}"/>
              </a:ext>
            </a:extLst>
          </p:cNvPr>
          <p:cNvSpPr txBox="1"/>
          <p:nvPr/>
        </p:nvSpPr>
        <p:spPr>
          <a:xfrm>
            <a:off x="6375970" y="5918873"/>
            <a:ext cx="2509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/>
              <a:t>깃허브</a:t>
            </a:r>
            <a:endParaRPr lang="en-US" altLang="ko-KR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21A9CA9-3DD8-4EA1-85AA-C825A52810D8}"/>
              </a:ext>
            </a:extLst>
          </p:cNvPr>
          <p:cNvSpPr txBox="1"/>
          <p:nvPr/>
        </p:nvSpPr>
        <p:spPr>
          <a:xfrm>
            <a:off x="6372837" y="6307450"/>
            <a:ext cx="47584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URL</a:t>
            </a:r>
            <a:r>
              <a:rPr lang="ko-KR" altLang="en-US" sz="1400" dirty="0"/>
              <a:t> </a:t>
            </a:r>
            <a:r>
              <a:rPr lang="en-US" altLang="ko-KR" sz="1400" dirty="0"/>
              <a:t>: </a:t>
            </a:r>
            <a:r>
              <a:rPr lang="ko-KR" altLang="en-US" sz="1400" dirty="0"/>
              <a:t>https://github.com/ohjinhokor/SoongsilHaksik</a:t>
            </a:r>
          </a:p>
        </p:txBody>
      </p:sp>
    </p:spTree>
    <p:extLst>
      <p:ext uri="{BB962C8B-B14F-4D97-AF65-F5344CB8AC3E}">
        <p14:creationId xmlns:p14="http://schemas.microsoft.com/office/powerpoint/2010/main" val="1111871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A545290D-3CA4-4FA2-95E8-9278EA4D17BD}"/>
              </a:ext>
            </a:extLst>
          </p:cNvPr>
          <p:cNvSpPr/>
          <p:nvPr/>
        </p:nvSpPr>
        <p:spPr>
          <a:xfrm>
            <a:off x="6096000" y="668318"/>
            <a:ext cx="127155" cy="1210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C82E3D-6DE0-4E9E-84B2-A115D86CD670}"/>
              </a:ext>
            </a:extLst>
          </p:cNvPr>
          <p:cNvSpPr txBox="1"/>
          <p:nvPr/>
        </p:nvSpPr>
        <p:spPr>
          <a:xfrm>
            <a:off x="6311153" y="544181"/>
            <a:ext cx="524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 err="1"/>
              <a:t>Jsoup</a:t>
            </a:r>
            <a:r>
              <a:rPr lang="en-US" altLang="ko-KR" sz="1800" b="1" dirty="0"/>
              <a:t> Library</a:t>
            </a:r>
            <a:r>
              <a:rPr lang="ko-KR" altLang="en-US" sz="1800" b="1" dirty="0"/>
              <a:t>를 통한 웹 </a:t>
            </a:r>
            <a:r>
              <a:rPr lang="ko-KR" altLang="en-US" sz="1800" b="1" dirty="0" err="1"/>
              <a:t>크롤링</a:t>
            </a:r>
            <a:endParaRPr lang="en-US" altLang="ko-KR" sz="1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F20D144-5A52-4928-B643-7010AFB681FA}"/>
              </a:ext>
            </a:extLst>
          </p:cNvPr>
          <p:cNvSpPr txBox="1"/>
          <p:nvPr/>
        </p:nvSpPr>
        <p:spPr>
          <a:xfrm>
            <a:off x="6223154" y="997562"/>
            <a:ext cx="57668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학식 데이터를 추출한 후</a:t>
            </a:r>
            <a:r>
              <a:rPr lang="en-US" altLang="ko-KR" sz="1200" b="1" dirty="0"/>
              <a:t>, Json</a:t>
            </a:r>
            <a:r>
              <a:rPr lang="ko-KR" altLang="en-US" sz="1200" b="1" dirty="0"/>
              <a:t>형식의 </a:t>
            </a:r>
            <a:r>
              <a:rPr lang="en-US" altLang="ko-KR" sz="1200" b="1" dirty="0"/>
              <a:t>response</a:t>
            </a:r>
            <a:r>
              <a:rPr lang="ko-KR" altLang="en-US" sz="1200" b="1" dirty="0"/>
              <a:t>를 제공하는 </a:t>
            </a:r>
            <a:r>
              <a:rPr lang="en-US" altLang="ko-KR" sz="1200" b="1" dirty="0"/>
              <a:t>API</a:t>
            </a:r>
            <a:r>
              <a:rPr lang="ko-KR" altLang="en-US" sz="1200" b="1" dirty="0"/>
              <a:t>입니다</a:t>
            </a:r>
            <a:r>
              <a:rPr lang="en-US" altLang="ko-KR" sz="1200" b="1" dirty="0"/>
              <a:t>.</a:t>
            </a:r>
          </a:p>
          <a:p>
            <a:endParaRPr lang="en-US" altLang="ko-KR" sz="1200" dirty="0"/>
          </a:p>
          <a:p>
            <a:pPr marL="228600" indent="-228600">
              <a:buAutoNum type="arabicPeriod"/>
            </a:pPr>
            <a:r>
              <a:rPr lang="en-US" altLang="ko-KR" sz="1200" dirty="0"/>
              <a:t>URL</a:t>
            </a:r>
            <a:r>
              <a:rPr lang="ko-KR" altLang="en-US" sz="1200" dirty="0"/>
              <a:t>을 통해 해당 사이트에 접근합니다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r>
              <a:rPr lang="ko-KR" altLang="en-US" sz="1200" dirty="0"/>
              <a:t>추출하고자 하는 데이터를 </a:t>
            </a:r>
            <a:r>
              <a:rPr lang="en-US" altLang="ko-KR" sz="1200" dirty="0"/>
              <a:t>html</a:t>
            </a:r>
            <a:r>
              <a:rPr lang="ko-KR" altLang="en-US" sz="1200" dirty="0"/>
              <a:t>코드에 맞게 설정합니다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pPr marL="228600" indent="-228600">
              <a:buAutoNum type="arabicPeriod" startAt="2"/>
            </a:pPr>
            <a:r>
              <a:rPr lang="ko-KR" altLang="en-US" sz="1200" dirty="0"/>
              <a:t>데이터를 추출한 후 카카오 </a:t>
            </a:r>
            <a:r>
              <a:rPr lang="ko-KR" altLang="en-US" sz="1200" dirty="0" err="1"/>
              <a:t>챗봇</a:t>
            </a:r>
            <a:r>
              <a:rPr lang="ko-KR" altLang="en-US" sz="1200" dirty="0"/>
              <a:t> </a:t>
            </a:r>
            <a:r>
              <a:rPr lang="en-US" altLang="ko-KR" sz="1200" dirty="0"/>
              <a:t>API</a:t>
            </a:r>
            <a:r>
              <a:rPr lang="ko-KR" altLang="en-US" sz="1200" dirty="0"/>
              <a:t> 형식에 맞는 </a:t>
            </a:r>
            <a:r>
              <a:rPr lang="en-US" altLang="ko-KR" sz="1200" dirty="0"/>
              <a:t>‘JSON Response’</a:t>
            </a:r>
            <a:r>
              <a:rPr lang="ko-KR" altLang="en-US" sz="1200" dirty="0"/>
              <a:t>를 반환합니다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F6A7E07D-A067-401C-8FC8-D31E45FBD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317" y="335670"/>
            <a:ext cx="2196022" cy="2605156"/>
          </a:xfrm>
          <a:prstGeom prst="rect">
            <a:avLst/>
          </a:prstGeom>
        </p:spPr>
      </p:pic>
      <p:pic>
        <p:nvPicPr>
          <p:cNvPr id="56" name="그림 55" descr="텍스트이(가) 표시된 사진&#10;&#10;자동 생성된 설명">
            <a:extLst>
              <a:ext uri="{FF2B5EF4-FFF2-40B4-BE49-F238E27FC236}">
                <a16:creationId xmlns:a16="http://schemas.microsoft.com/office/drawing/2014/main" id="{54995D68-913B-4BA6-A106-C9BC22B6DD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7487" y="332327"/>
            <a:ext cx="2038830" cy="2605156"/>
          </a:xfrm>
          <a:prstGeom prst="rect">
            <a:avLst/>
          </a:prstGeom>
        </p:spPr>
      </p:pic>
      <p:sp>
        <p:nvSpPr>
          <p:cNvPr id="9" name="object 6">
            <a:extLst>
              <a:ext uri="{FF2B5EF4-FFF2-40B4-BE49-F238E27FC236}">
                <a16:creationId xmlns:a16="http://schemas.microsoft.com/office/drawing/2014/main" id="{20C5B563-C6B2-4C9C-97DF-67A89993BD55}"/>
              </a:ext>
            </a:extLst>
          </p:cNvPr>
          <p:cNvSpPr/>
          <p:nvPr/>
        </p:nvSpPr>
        <p:spPr>
          <a:xfrm>
            <a:off x="6161024" y="3651752"/>
            <a:ext cx="127155" cy="1109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D1D900-F4B9-408C-BBCA-7430E6C3E24C}"/>
              </a:ext>
            </a:extLst>
          </p:cNvPr>
          <p:cNvSpPr txBox="1"/>
          <p:nvPr/>
        </p:nvSpPr>
        <p:spPr>
          <a:xfrm>
            <a:off x="6376177" y="3527614"/>
            <a:ext cx="52413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b="1" dirty="0"/>
              <a:t>@Scheduled </a:t>
            </a:r>
            <a:r>
              <a:rPr lang="ko-KR" altLang="en-US" sz="1800" b="1" dirty="0" err="1"/>
              <a:t>어노테이션을</a:t>
            </a:r>
            <a:r>
              <a:rPr lang="ko-KR" altLang="en-US" sz="1800" b="1" dirty="0"/>
              <a:t> 통한 자동화</a:t>
            </a:r>
            <a:endParaRPr lang="en-US" altLang="ko-KR" sz="18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A25905-51E5-40DF-9276-A01D5AE50313}"/>
              </a:ext>
            </a:extLst>
          </p:cNvPr>
          <p:cNvSpPr txBox="1"/>
          <p:nvPr/>
        </p:nvSpPr>
        <p:spPr>
          <a:xfrm>
            <a:off x="6288178" y="3993966"/>
            <a:ext cx="576680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문제가 되었던 부분</a:t>
            </a:r>
            <a:r>
              <a:rPr lang="en-US" altLang="ko-KR" sz="1200" b="1" dirty="0"/>
              <a:t>: </a:t>
            </a:r>
            <a:r>
              <a:rPr lang="ko-KR" altLang="en-US" sz="1200" b="1" dirty="0"/>
              <a:t>요청이 들어올 때마다 </a:t>
            </a:r>
            <a:r>
              <a:rPr lang="ko-KR" altLang="en-US" sz="1200" b="1" dirty="0" err="1"/>
              <a:t>크롤링을</a:t>
            </a:r>
            <a:r>
              <a:rPr lang="ko-KR" altLang="en-US" sz="1200" b="1" dirty="0"/>
              <a:t> 하기 때문에 속도가 느림</a:t>
            </a:r>
            <a:endParaRPr lang="en-US" altLang="ko-KR" sz="1200" b="1" dirty="0"/>
          </a:p>
          <a:p>
            <a:endParaRPr lang="en-US" altLang="ko-KR" sz="1200" dirty="0"/>
          </a:p>
          <a:p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&lt;</a:t>
            </a:r>
            <a:r>
              <a:rPr lang="ko-KR" altLang="en-US" sz="1400" b="1" dirty="0">
                <a:solidFill>
                  <a:schemeClr val="accent1">
                    <a:lumMod val="75000"/>
                  </a:schemeClr>
                </a:solidFill>
              </a:rPr>
              <a:t>해결 방안</a:t>
            </a:r>
            <a:r>
              <a:rPr lang="en-US" altLang="ko-KR" sz="1400" b="1" dirty="0">
                <a:solidFill>
                  <a:schemeClr val="accent1">
                    <a:lumMod val="75000"/>
                  </a:schemeClr>
                </a:solidFill>
              </a:rPr>
              <a:t>&gt;</a:t>
            </a:r>
          </a:p>
          <a:p>
            <a:endParaRPr lang="en-US" altLang="ko-KR" sz="14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ko-KR" sz="1200" dirty="0"/>
              <a:t>1. </a:t>
            </a:r>
            <a:r>
              <a:rPr lang="ko-KR" altLang="en-US" sz="1200" dirty="0"/>
              <a:t>위의 문제를 해결하기 위해 </a:t>
            </a:r>
            <a:r>
              <a:rPr lang="en-US" altLang="ko-KR" sz="1200" dirty="0"/>
              <a:t>@Scheduled </a:t>
            </a:r>
            <a:r>
              <a:rPr lang="ko-KR" altLang="en-US" sz="1200" dirty="0" err="1"/>
              <a:t>어노테이션을</a:t>
            </a:r>
            <a:r>
              <a:rPr lang="ko-KR" altLang="en-US" sz="1200" dirty="0"/>
              <a:t> 사용하여 자동화 기능 추가</a:t>
            </a:r>
            <a:endParaRPr lang="en-US" altLang="ko-KR" sz="1200" dirty="0"/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r>
              <a:rPr lang="en-US" altLang="ko-KR" sz="1200" dirty="0"/>
              <a:t>2. </a:t>
            </a:r>
            <a:r>
              <a:rPr lang="ko-KR" altLang="en-US" sz="1200" dirty="0"/>
              <a:t>자정이 지나면 자동으로 그 날의 학식 데이터를 데이터 베이스에 저장</a:t>
            </a:r>
            <a:r>
              <a:rPr lang="en-US" altLang="ko-KR" sz="1200" dirty="0"/>
              <a:t>.</a:t>
            </a:r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r>
              <a:rPr lang="en-US" altLang="ko-KR" sz="1200" dirty="0"/>
              <a:t>3. </a:t>
            </a:r>
            <a:r>
              <a:rPr lang="ko-KR" altLang="en-US" sz="1200" dirty="0"/>
              <a:t>이후 학식 정보를 요청하는 </a:t>
            </a:r>
            <a:r>
              <a:rPr lang="en-US" altLang="ko-KR" sz="1200" dirty="0"/>
              <a:t>Request</a:t>
            </a:r>
            <a:r>
              <a:rPr lang="ko-KR" altLang="en-US" sz="1200" dirty="0"/>
              <a:t>가 들어오면 데이터 베이스에 저장해 놓은 데이터를 반환 함</a:t>
            </a:r>
            <a:endParaRPr lang="en-US" altLang="ko-KR" sz="1200" dirty="0"/>
          </a:p>
          <a:p>
            <a:pPr marL="228600" indent="-228600">
              <a:buAutoNum type="arabicPeriod" startAt="2"/>
            </a:pPr>
            <a:endParaRPr lang="en-US" altLang="ko-KR" sz="1200" dirty="0"/>
          </a:p>
          <a:p>
            <a:r>
              <a:rPr lang="en-US" altLang="ko-KR" sz="1200" b="1" dirty="0"/>
              <a:t>&lt;</a:t>
            </a:r>
            <a:r>
              <a:rPr lang="ko-KR" altLang="en-US" sz="1200" b="1" dirty="0" err="1"/>
              <a:t>리팩토링</a:t>
            </a:r>
            <a:r>
              <a:rPr lang="ko-KR" altLang="en-US" sz="1200" b="1" dirty="0"/>
              <a:t> 결과</a:t>
            </a:r>
            <a:r>
              <a:rPr lang="en-US" altLang="ko-KR" sz="1200" b="1" dirty="0"/>
              <a:t>&gt; </a:t>
            </a:r>
            <a:r>
              <a:rPr lang="ko-KR" altLang="en-US" sz="1200" b="1" dirty="0"/>
              <a:t>수행 시간이 </a:t>
            </a:r>
            <a:r>
              <a:rPr lang="en-US" altLang="ko-KR" sz="1200" b="1" dirty="0"/>
              <a:t>1561ms</a:t>
            </a:r>
            <a:r>
              <a:rPr lang="ko-KR" altLang="en-US" sz="1200" b="1" dirty="0"/>
              <a:t> </a:t>
            </a:r>
            <a:r>
              <a:rPr lang="en-US" altLang="ko-KR" sz="1200" b="1" dirty="0"/>
              <a:t>-&gt; 213ms</a:t>
            </a:r>
            <a:r>
              <a:rPr lang="ko-KR" altLang="en-US" sz="1200" b="1" dirty="0"/>
              <a:t>로 줄어드는 성능 향상을 보였습니다</a:t>
            </a:r>
            <a:endParaRPr lang="en-US" altLang="ko-KR" sz="1200" b="1" dirty="0"/>
          </a:p>
          <a:p>
            <a:pPr marL="228600" indent="-228600">
              <a:buAutoNum type="arabicPeriod" startAt="2"/>
            </a:pPr>
            <a:endParaRPr lang="en-US" altLang="ko-KR" sz="1200" dirty="0"/>
          </a:p>
        </p:txBody>
      </p:sp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69C5AB92-84CF-418F-B96E-89C511E3C84D}"/>
              </a:ext>
            </a:extLst>
          </p:cNvPr>
          <p:cNvSpPr/>
          <p:nvPr/>
        </p:nvSpPr>
        <p:spPr>
          <a:xfrm>
            <a:off x="7704557" y="2632836"/>
            <a:ext cx="607633" cy="800482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ABCC52-15B2-4F21-BEB8-01D24DBC0BA9}"/>
              </a:ext>
            </a:extLst>
          </p:cNvPr>
          <p:cNvSpPr txBox="1"/>
          <p:nvPr/>
        </p:nvSpPr>
        <p:spPr>
          <a:xfrm>
            <a:off x="8569851" y="2837948"/>
            <a:ext cx="2461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rgbClr val="002060"/>
                </a:solidFill>
              </a:rPr>
              <a:t>성능 개선</a:t>
            </a:r>
            <a:r>
              <a:rPr lang="ko-KR" altLang="en-US" sz="1200" b="1" dirty="0"/>
              <a:t>을 위한 </a:t>
            </a:r>
            <a:r>
              <a:rPr lang="en-US" altLang="ko-KR" sz="1200" b="1" dirty="0"/>
              <a:t>Refactoring</a:t>
            </a:r>
            <a:endParaRPr lang="ko-KR" altLang="en-US" sz="1200" b="1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2518BB9-A217-4D86-A3E5-CD1F3D284B15}"/>
              </a:ext>
            </a:extLst>
          </p:cNvPr>
          <p:cNvSpPr/>
          <p:nvPr/>
        </p:nvSpPr>
        <p:spPr>
          <a:xfrm>
            <a:off x="3675065" y="3444171"/>
            <a:ext cx="1238465" cy="637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숭실대학교 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학식 사이트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B3380AB-AD99-4B35-9BC7-645D9AF76C17}"/>
              </a:ext>
            </a:extLst>
          </p:cNvPr>
          <p:cNvCxnSpPr>
            <a:cxnSpLocks/>
          </p:cNvCxnSpPr>
          <p:nvPr/>
        </p:nvCxnSpPr>
        <p:spPr>
          <a:xfrm flipV="1">
            <a:off x="2468199" y="3796904"/>
            <a:ext cx="1092629" cy="7094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454E4DD-40D0-4E38-9EE5-1B217B06C71A}"/>
              </a:ext>
            </a:extLst>
          </p:cNvPr>
          <p:cNvSpPr txBox="1"/>
          <p:nvPr/>
        </p:nvSpPr>
        <p:spPr>
          <a:xfrm>
            <a:off x="1993751" y="3707416"/>
            <a:ext cx="14163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1. </a:t>
            </a:r>
            <a:r>
              <a:rPr lang="ko-KR" altLang="en-US" sz="800" dirty="0"/>
              <a:t>자정이 되면 해당 날짜의 학식 데이터를 </a:t>
            </a:r>
            <a:r>
              <a:rPr lang="ko-KR" altLang="en-US" sz="800" dirty="0" err="1"/>
              <a:t>크롤링</a:t>
            </a:r>
            <a:endParaRPr lang="ko-KR" altLang="en-US" sz="8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BC16BF-EF36-48C6-BE8B-870889F153B4}"/>
              </a:ext>
            </a:extLst>
          </p:cNvPr>
          <p:cNvSpPr txBox="1"/>
          <p:nvPr/>
        </p:nvSpPr>
        <p:spPr>
          <a:xfrm>
            <a:off x="880885" y="3643920"/>
            <a:ext cx="88517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순서도</a:t>
            </a:r>
            <a:endParaRPr lang="en-US" altLang="ko-KR" sz="1400" b="1" dirty="0"/>
          </a:p>
        </p:txBody>
      </p:sp>
      <p:sp>
        <p:nvSpPr>
          <p:cNvPr id="20" name="object 6">
            <a:extLst>
              <a:ext uri="{FF2B5EF4-FFF2-40B4-BE49-F238E27FC236}">
                <a16:creationId xmlns:a16="http://schemas.microsoft.com/office/drawing/2014/main" id="{28E8F128-C198-430C-9FA6-475B7590B0BA}"/>
              </a:ext>
            </a:extLst>
          </p:cNvPr>
          <p:cNvSpPr/>
          <p:nvPr/>
        </p:nvSpPr>
        <p:spPr>
          <a:xfrm>
            <a:off x="747688" y="3768221"/>
            <a:ext cx="113786" cy="930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DF48C2B-C763-4DB9-AE3F-19CDC12CC9BC}"/>
              </a:ext>
            </a:extLst>
          </p:cNvPr>
          <p:cNvSpPr/>
          <p:nvPr/>
        </p:nvSpPr>
        <p:spPr>
          <a:xfrm>
            <a:off x="1467876" y="4595798"/>
            <a:ext cx="1440074" cy="8986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Server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3225B4-0F2F-4242-B24F-FE0B81C3447F}"/>
              </a:ext>
            </a:extLst>
          </p:cNvPr>
          <p:cNvSpPr/>
          <p:nvPr/>
        </p:nvSpPr>
        <p:spPr>
          <a:xfrm>
            <a:off x="4635995" y="4431885"/>
            <a:ext cx="1374648" cy="9548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DB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8FC1645-17D7-4B6D-9452-D0AFB2F40BCA}"/>
              </a:ext>
            </a:extLst>
          </p:cNvPr>
          <p:cNvCxnSpPr>
            <a:cxnSpLocks/>
          </p:cNvCxnSpPr>
          <p:nvPr/>
        </p:nvCxnSpPr>
        <p:spPr>
          <a:xfrm>
            <a:off x="3014513" y="4705909"/>
            <a:ext cx="1465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CCEFD77-BE7B-4E16-ABFA-CFD7830DFE66}"/>
              </a:ext>
            </a:extLst>
          </p:cNvPr>
          <p:cNvSpPr txBox="1"/>
          <p:nvPr/>
        </p:nvSpPr>
        <p:spPr>
          <a:xfrm>
            <a:off x="3219614" y="4466821"/>
            <a:ext cx="1416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2. </a:t>
            </a:r>
            <a:r>
              <a:rPr lang="ko-KR" altLang="en-US" sz="800" dirty="0"/>
              <a:t>학식 데이터 저장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2A50BC5-F672-4FC4-9AED-743411B00FA6}"/>
              </a:ext>
            </a:extLst>
          </p:cNvPr>
          <p:cNvSpPr/>
          <p:nvPr/>
        </p:nvSpPr>
        <p:spPr>
          <a:xfrm>
            <a:off x="242241" y="5981798"/>
            <a:ext cx="1238465" cy="63748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Client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CA753177-2E9B-4414-8830-6BE2199BC645}"/>
              </a:ext>
            </a:extLst>
          </p:cNvPr>
          <p:cNvCxnSpPr>
            <a:cxnSpLocks/>
          </p:cNvCxnSpPr>
          <p:nvPr/>
        </p:nvCxnSpPr>
        <p:spPr>
          <a:xfrm flipV="1">
            <a:off x="580340" y="5226828"/>
            <a:ext cx="743131" cy="640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66D423B7-E165-43FC-BF05-A73AFAFD85D4}"/>
              </a:ext>
            </a:extLst>
          </p:cNvPr>
          <p:cNvSpPr txBox="1"/>
          <p:nvPr/>
        </p:nvSpPr>
        <p:spPr>
          <a:xfrm>
            <a:off x="63199" y="5279021"/>
            <a:ext cx="112714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3. </a:t>
            </a:r>
            <a:r>
              <a:rPr lang="ko-KR" altLang="en-US" sz="800" dirty="0"/>
              <a:t>학식 데이터 요청</a:t>
            </a:r>
          </a:p>
        </p:txBody>
      </p: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6D1F1630-41FA-4DD1-AF92-C101D0206764}"/>
              </a:ext>
            </a:extLst>
          </p:cNvPr>
          <p:cNvCxnSpPr>
            <a:cxnSpLocks/>
          </p:cNvCxnSpPr>
          <p:nvPr/>
        </p:nvCxnSpPr>
        <p:spPr>
          <a:xfrm>
            <a:off x="3024664" y="5071982"/>
            <a:ext cx="1465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95E71DBE-2187-4F3A-8E1A-A1D385369704}"/>
              </a:ext>
            </a:extLst>
          </p:cNvPr>
          <p:cNvSpPr txBox="1"/>
          <p:nvPr/>
        </p:nvSpPr>
        <p:spPr>
          <a:xfrm>
            <a:off x="3233178" y="4856538"/>
            <a:ext cx="1416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4. </a:t>
            </a:r>
            <a:r>
              <a:rPr lang="ko-KR" altLang="en-US" sz="800" dirty="0"/>
              <a:t>학식 데이터 </a:t>
            </a:r>
            <a:r>
              <a:rPr lang="en-US" altLang="ko-KR" sz="800" dirty="0"/>
              <a:t>select</a:t>
            </a:r>
            <a:endParaRPr lang="ko-KR" altLang="en-US" sz="800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828667E0-BB6B-4E44-A105-69D772D08B13}"/>
              </a:ext>
            </a:extLst>
          </p:cNvPr>
          <p:cNvCxnSpPr/>
          <p:nvPr/>
        </p:nvCxnSpPr>
        <p:spPr>
          <a:xfrm flipH="1">
            <a:off x="3024664" y="5386743"/>
            <a:ext cx="1465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0874C93D-B7A8-4FD5-91AD-8DC9A0C330D9}"/>
              </a:ext>
            </a:extLst>
          </p:cNvPr>
          <p:cNvSpPr txBox="1"/>
          <p:nvPr/>
        </p:nvSpPr>
        <p:spPr>
          <a:xfrm>
            <a:off x="3287318" y="5179704"/>
            <a:ext cx="14163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5. </a:t>
            </a:r>
            <a:r>
              <a:rPr lang="ko-KR" altLang="en-US" sz="800" dirty="0"/>
              <a:t>학식 데이터 전송 </a:t>
            </a: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BFE034CB-AFE0-4529-A5D1-1492A8161455}"/>
              </a:ext>
            </a:extLst>
          </p:cNvPr>
          <p:cNvCxnSpPr>
            <a:cxnSpLocks/>
          </p:cNvCxnSpPr>
          <p:nvPr/>
        </p:nvCxnSpPr>
        <p:spPr>
          <a:xfrm flipH="1">
            <a:off x="1601006" y="5609576"/>
            <a:ext cx="544912" cy="5289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D3116E5-6CB4-4A12-907A-3BC4AD5BF490}"/>
              </a:ext>
            </a:extLst>
          </p:cNvPr>
          <p:cNvSpPr txBox="1"/>
          <p:nvPr/>
        </p:nvSpPr>
        <p:spPr>
          <a:xfrm>
            <a:off x="1840613" y="5858411"/>
            <a:ext cx="11739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/>
              <a:t>6. </a:t>
            </a:r>
            <a:r>
              <a:rPr lang="ko-KR" altLang="en-US" sz="800" dirty="0"/>
              <a:t>학식 데이터 전송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0D578B79-6DDB-4C7A-812D-A903A43203B9}"/>
              </a:ext>
            </a:extLst>
          </p:cNvPr>
          <p:cNvCxnSpPr>
            <a:cxnSpLocks/>
          </p:cNvCxnSpPr>
          <p:nvPr/>
        </p:nvCxnSpPr>
        <p:spPr>
          <a:xfrm flipH="1">
            <a:off x="2558837" y="3884062"/>
            <a:ext cx="1016572" cy="663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9532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2983</TotalTime>
  <Words>1121</Words>
  <Application>Microsoft Office PowerPoint</Application>
  <PresentationFormat>와이드스크린</PresentationFormat>
  <Paragraphs>221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Arial Rounded MT 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진호</dc:creator>
  <cp:lastModifiedBy>진호</cp:lastModifiedBy>
  <cp:revision>135</cp:revision>
  <dcterms:created xsi:type="dcterms:W3CDTF">2021-09-02T08:00:50Z</dcterms:created>
  <dcterms:modified xsi:type="dcterms:W3CDTF">2022-01-17T01:56:20Z</dcterms:modified>
</cp:coreProperties>
</file>