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78" r:id="rId3"/>
    <p:sldId id="280" r:id="rId4"/>
    <p:sldId id="284" r:id="rId5"/>
    <p:sldId id="286" r:id="rId6"/>
    <p:sldId id="288" r:id="rId7"/>
    <p:sldId id="289" r:id="rId8"/>
    <p:sldId id="290" r:id="rId9"/>
    <p:sldId id="291" r:id="rId10"/>
    <p:sldId id="292" r:id="rId11"/>
    <p:sldId id="287" r:id="rId12"/>
    <p:sldId id="271" r:id="rId13"/>
    <p:sldId id="272" r:id="rId14"/>
    <p:sldId id="281" r:id="rId15"/>
    <p:sldId id="276" r:id="rId16"/>
    <p:sldId id="268" r:id="rId17"/>
    <p:sldId id="260" r:id="rId18"/>
    <p:sldId id="261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4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9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2022. 7. 12.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antasy-ticket-2c3.notion.site/Be-st-Practice-Bepi-6eb9132dba294c6bac4b532fc273a13c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ohjinhokor" TargetMode="External"/><Relationship Id="rId4" Type="http://schemas.openxmlformats.org/officeDocument/2006/relationships/hyperlink" Target="mailto:ohjinho7@gmail.com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hjinhokor/grpc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dsc-ssu/emotimer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4.JPG"/><Relationship Id="rId7" Type="http://schemas.openxmlformats.org/officeDocument/2006/relationships/image" Target="../media/image10.jpg"/><Relationship Id="rId12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hjinhokor/SoongsilHaksi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95204" y="4980220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803140" y="3189081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79" y="623815"/>
            <a:ext cx="569066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  </a:t>
            </a:r>
          </a:p>
          <a:p>
            <a:endParaRPr lang="en-US" altLang="ko-KR" sz="1600" dirty="0">
              <a:latin typeface="Arial Rounded MT Bold" panose="020F0704030504030204" pitchFamily="34" charset="0"/>
            </a:endParaRPr>
          </a:p>
          <a:p>
            <a:r>
              <a:rPr lang="ko-KR" altLang="en-US" sz="1600" dirty="0">
                <a:latin typeface="Arial Rounded MT Bold" panose="020F0704030504030204" pitchFamily="34" charset="0"/>
              </a:rPr>
              <a:t>더 좋은 방법을 고민하는 개발자 </a:t>
            </a:r>
            <a:r>
              <a:rPr lang="en-US" altLang="ko-KR" sz="1600" dirty="0" err="1">
                <a:latin typeface="Arial Rounded MT Bold" panose="020F0704030504030204" pitchFamily="34" charset="0"/>
              </a:rPr>
              <a:t>Bepi</a:t>
            </a:r>
            <a:r>
              <a:rPr lang="ko-KR" altLang="en-US" sz="1600" dirty="0">
                <a:latin typeface="Arial Rounded MT Bold" panose="020F0704030504030204" pitchFamily="34" charset="0"/>
              </a:rPr>
              <a:t>입니다</a:t>
            </a:r>
            <a:endParaRPr lang="en-US" altLang="ko-KR" sz="1600" dirty="0">
              <a:latin typeface="Arial Rounded MT Bold" panose="020F07040305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8272330" y="5610278"/>
            <a:ext cx="385801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b="1" dirty="0"/>
              <a:t>   </a:t>
            </a:r>
            <a:endParaRPr lang="en-US" altLang="ko-KR" sz="1100" b="1" dirty="0"/>
          </a:p>
          <a:p>
            <a:endParaRPr lang="en-US" altLang="ko-KR" sz="1100" dirty="0"/>
          </a:p>
          <a:p>
            <a:endParaRPr lang="en-US" altLang="ko-KR" sz="1100" dirty="0"/>
          </a:p>
          <a:p>
            <a:pPr algn="r"/>
            <a:r>
              <a:rPr lang="en-US" altLang="ko-KR" sz="1100" dirty="0"/>
              <a:t>Resume: </a:t>
            </a:r>
            <a:r>
              <a:rPr lang="ko-KR" altLang="en-US" sz="1100" dirty="0">
                <a:hlinkClick r:id="rId3"/>
              </a:rPr>
              <a:t>링크</a:t>
            </a:r>
            <a:endParaRPr lang="en-US" altLang="ko-KR" sz="1100" dirty="0"/>
          </a:p>
          <a:p>
            <a:pPr algn="r"/>
            <a:r>
              <a:rPr lang="en-US" altLang="ko-KR" sz="1100" dirty="0"/>
              <a:t>Email: </a:t>
            </a:r>
            <a:r>
              <a:rPr lang="en-US" altLang="ko-KR" sz="1100" dirty="0">
                <a:hlinkClick r:id="rId4"/>
              </a:rPr>
              <a:t>ohjinho7@gmail.com</a:t>
            </a:r>
            <a:endParaRPr lang="en-US" altLang="ko-KR" sz="1100" dirty="0"/>
          </a:p>
          <a:p>
            <a:pPr algn="r"/>
            <a:r>
              <a:rPr lang="en-US" altLang="ko-KR" sz="1100" dirty="0" err="1"/>
              <a:t>Github</a:t>
            </a:r>
            <a:r>
              <a:rPr lang="en-US" altLang="ko-KR" sz="1100" dirty="0"/>
              <a:t>: </a:t>
            </a:r>
            <a:r>
              <a:rPr lang="en-US" altLang="ko-KR" sz="1100" dirty="0">
                <a:hlinkClick r:id="rId5"/>
              </a:rPr>
              <a:t>https://github.com/ohjinhokor</a:t>
            </a:r>
            <a:endParaRPr lang="en-US" altLang="ko-KR" sz="1100" dirty="0"/>
          </a:p>
          <a:p>
            <a:pPr algn="r"/>
            <a:endParaRPr lang="en-US" altLang="ko-KR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124991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17669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3915085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95444D-8F9D-425E-8D71-6F757D1A70DC}"/>
              </a:ext>
            </a:extLst>
          </p:cNvPr>
          <p:cNvSpPr txBox="1"/>
          <p:nvPr/>
        </p:nvSpPr>
        <p:spPr>
          <a:xfrm>
            <a:off x="5800832" y="2711976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학점 연계 인턴십 </a:t>
            </a:r>
            <a:r>
              <a:rPr lang="ko-KR" altLang="en-US" sz="1100" dirty="0" err="1"/>
              <a:t>샵라이브</a:t>
            </a:r>
            <a:r>
              <a:rPr lang="ko-KR" altLang="en-US" sz="1100" dirty="0"/>
              <a:t> 코리아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(2022.03 ~ 2022.06)</a:t>
            </a:r>
            <a:endParaRPr lang="ko-KR" altLang="en-US" sz="11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CE5EC8-14B3-4915-9389-EE0F9D29C9B4}"/>
              </a:ext>
            </a:extLst>
          </p:cNvPr>
          <p:cNvSpPr txBox="1"/>
          <p:nvPr/>
        </p:nvSpPr>
        <p:spPr>
          <a:xfrm>
            <a:off x="5795204" y="4626275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학력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A6B76A-7240-4F37-96D3-DD897417E7B7}"/>
              </a:ext>
            </a:extLst>
          </p:cNvPr>
          <p:cNvSpPr txBox="1"/>
          <p:nvPr/>
        </p:nvSpPr>
        <p:spPr>
          <a:xfrm>
            <a:off x="5783580" y="2396679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이력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349158-CF0F-4051-9153-867EC6C84947}"/>
              </a:ext>
            </a:extLst>
          </p:cNvPr>
          <p:cNvSpPr txBox="1"/>
          <p:nvPr/>
        </p:nvSpPr>
        <p:spPr>
          <a:xfrm>
            <a:off x="5783580" y="3598974"/>
            <a:ext cx="51739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동아리 및 커뮤니티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F3775D8-2904-41BC-9A6A-F8862BF45D72}"/>
              </a:ext>
            </a:extLst>
          </p:cNvPr>
          <p:cNvCxnSpPr>
            <a:cxnSpLocks/>
          </p:cNvCxnSpPr>
          <p:nvPr/>
        </p:nvCxnSpPr>
        <p:spPr>
          <a:xfrm>
            <a:off x="5650302" y="5606058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9FDD0120-1F58-41D2-A86C-0C75209B4B91}"/>
              </a:ext>
            </a:extLst>
          </p:cNvPr>
          <p:cNvSpPr txBox="1"/>
          <p:nvPr/>
        </p:nvSpPr>
        <p:spPr>
          <a:xfrm>
            <a:off x="5799080" y="2949377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- </a:t>
            </a:r>
            <a:r>
              <a:rPr lang="ko-KR" altLang="en-US" sz="1100" dirty="0"/>
              <a:t>스타트업 겨울방학 인턴십 </a:t>
            </a:r>
            <a:r>
              <a:rPr lang="en-US" altLang="ko-KR" sz="1100" dirty="0"/>
              <a:t>DINO-STUDIO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 </a:t>
            </a:r>
            <a:r>
              <a:rPr lang="en-US" altLang="ko-KR" sz="1100" dirty="0"/>
              <a:t>(2021.12 ~ 2022.02)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7696" y="601440"/>
            <a:ext cx="4711420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>
                <a:latin typeface="Arial" panose="020B0604020202020204" pitchFamily="34" charset="0"/>
                <a:cs typeface="Arial" panose="020B0604020202020204" pitchFamily="34" charset="0"/>
              </a:rPr>
              <a:t>ShopLive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 Korea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학점 연계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183229" y="266369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인턴십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204060" y="3033023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03 ~ 2022. 06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7695" y="394745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203903" y="379736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서비스 설명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736218" y="395865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232447" y="380856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253276" y="4201190"/>
            <a:ext cx="4633924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ko-KR" altLang="en-US" sz="1100" dirty="0"/>
              <a:t>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gRPC</a:t>
            </a:r>
            <a:r>
              <a:rPr lang="ko-KR" altLang="en-US" sz="1100" dirty="0" err="1"/>
              <a:t>를</a:t>
            </a:r>
            <a:r>
              <a:rPr lang="ko-KR" altLang="en-US" sz="1100" dirty="0"/>
              <a:t> 이용해 고객사에게 제공할 라이브러리</a:t>
            </a:r>
            <a:r>
              <a:rPr lang="en-US" altLang="ko-KR" sz="1100" dirty="0"/>
              <a:t>(</a:t>
            </a:r>
            <a:r>
              <a:rPr lang="ko-KR" altLang="en-US" sz="1100" dirty="0"/>
              <a:t>프로토타입</a:t>
            </a:r>
            <a:r>
              <a:rPr lang="en-US" altLang="ko-KR" sz="1100" dirty="0"/>
              <a:t>)</a:t>
            </a:r>
            <a:r>
              <a:rPr lang="ko-KR" altLang="en-US" sz="1100" dirty="0"/>
              <a:t>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mem-cached</a:t>
            </a:r>
            <a:r>
              <a:rPr lang="ko-KR" altLang="en-US" sz="1100" dirty="0"/>
              <a:t>를 이용한 </a:t>
            </a:r>
            <a:r>
              <a:rPr lang="ko-KR" altLang="en-US" sz="1100" dirty="0" err="1"/>
              <a:t>캐싱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검색 기능 및 </a:t>
            </a:r>
            <a:r>
              <a:rPr lang="ko-KR" altLang="en-US" sz="1100" dirty="0" err="1"/>
              <a:t>페이지네이션</a:t>
            </a:r>
            <a:r>
              <a:rPr lang="ko-KR" altLang="en-US" sz="1100" dirty="0"/>
              <a:t> 구현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리팩토링을</a:t>
            </a:r>
            <a:r>
              <a:rPr lang="ko-KR" altLang="en-US" sz="1100" dirty="0"/>
              <a:t> 통한 쿼리 시간 단축 및 코드 간소화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50520" y="4121652"/>
            <a:ext cx="44892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라이브 영상을 시청하며 실시간으로 물건을 구매할 수 있는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B</a:t>
            </a:r>
            <a:r>
              <a:rPr lang="ko-KR" altLang="en-US" sz="1200" dirty="0"/>
              <a:t> </a:t>
            </a:r>
            <a:r>
              <a:rPr lang="en-US" altLang="ko-KR" sz="1200" dirty="0"/>
              <a:t>to</a:t>
            </a:r>
            <a:r>
              <a:rPr lang="ko-KR" altLang="en-US" sz="1200" dirty="0"/>
              <a:t> </a:t>
            </a:r>
            <a:r>
              <a:rPr lang="en-US" altLang="ko-KR" sz="1200" dirty="0"/>
              <a:t>B</a:t>
            </a:r>
            <a:r>
              <a:rPr lang="ko-KR" altLang="en-US" sz="1200" dirty="0"/>
              <a:t> 서비스로서 고객사의 </a:t>
            </a:r>
            <a:r>
              <a:rPr lang="en-US" altLang="ko-KR" sz="1200" dirty="0"/>
              <a:t>UI </a:t>
            </a:r>
            <a:r>
              <a:rPr lang="ko-KR" altLang="en-US" sz="1200" dirty="0"/>
              <a:t>화면에 플러그인 형식으로 서비스를 제공합니다</a:t>
            </a:r>
            <a:r>
              <a:rPr lang="en-US" altLang="ko-KR" sz="12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1CF93A-764F-4F9D-8609-81213E855908}"/>
              </a:ext>
            </a:extLst>
          </p:cNvPr>
          <p:cNvSpPr txBox="1"/>
          <p:nvPr/>
        </p:nvSpPr>
        <p:spPr>
          <a:xfrm>
            <a:off x="686714" y="1891546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서비스 명 </a:t>
            </a:r>
            <a:r>
              <a:rPr lang="en-US" altLang="ko-KR" dirty="0"/>
              <a:t>: </a:t>
            </a:r>
            <a:r>
              <a:rPr lang="ko-KR" altLang="en-US" dirty="0" err="1"/>
              <a:t>샵라이브</a:t>
            </a:r>
            <a:endParaRPr lang="ko-KR" altLang="en-US" dirty="0"/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59A1C677-34F2-458B-A034-4C3F4C3032EB}"/>
              </a:ext>
            </a:extLst>
          </p:cNvPr>
          <p:cNvSpPr/>
          <p:nvPr/>
        </p:nvSpPr>
        <p:spPr>
          <a:xfrm>
            <a:off x="6734810" y="259432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46F0F0-0293-4599-A93F-A00BC965088A}"/>
              </a:ext>
            </a:extLst>
          </p:cNvPr>
          <p:cNvSpPr txBox="1"/>
          <p:nvPr/>
        </p:nvSpPr>
        <p:spPr>
          <a:xfrm>
            <a:off x="7039852" y="244423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사용 기술 스택</a:t>
            </a:r>
            <a:endParaRPr lang="en-US" altLang="ko-KR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4678DA-0FEE-416F-A515-5D1F36F4A337}"/>
              </a:ext>
            </a:extLst>
          </p:cNvPr>
          <p:cNvSpPr txBox="1"/>
          <p:nvPr/>
        </p:nvSpPr>
        <p:spPr>
          <a:xfrm>
            <a:off x="7039851" y="2824140"/>
            <a:ext cx="30832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MySQL,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gRPC</a:t>
            </a:r>
            <a:endParaRPr lang="en-US" altLang="ko-KR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8AFF7DF-C4DB-49BA-B65D-82B5E44E6A38}"/>
              </a:ext>
            </a:extLst>
          </p:cNvPr>
          <p:cNvSpPr/>
          <p:nvPr/>
        </p:nvSpPr>
        <p:spPr>
          <a:xfrm>
            <a:off x="686714" y="282946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44728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25778" y="466301"/>
            <a:ext cx="5338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고객사에게 제공할 라이브러리 구현</a:t>
            </a:r>
            <a:r>
              <a:rPr lang="en-US" altLang="ko-KR" b="1" dirty="0"/>
              <a:t>(</a:t>
            </a:r>
            <a:r>
              <a:rPr lang="ko-KR" altLang="en-US" b="1" dirty="0"/>
              <a:t>프로토타입</a:t>
            </a:r>
            <a:r>
              <a:rPr lang="en-US" altLang="ko-KR" b="1" dirty="0"/>
              <a:t>)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92582" y="59060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9C7C6-7927-3AC2-6236-20B3C3466103}"/>
              </a:ext>
            </a:extLst>
          </p:cNvPr>
          <p:cNvSpPr/>
          <p:nvPr/>
        </p:nvSpPr>
        <p:spPr>
          <a:xfrm>
            <a:off x="619737" y="2170679"/>
            <a:ext cx="9155442" cy="2000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라이브러리 상세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 기존에 제공하던 </a:t>
            </a:r>
            <a:r>
              <a:rPr lang="en-US" altLang="ko-KR" sz="1200" dirty="0"/>
              <a:t>Public API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</a:t>
            </a:r>
            <a:r>
              <a:rPr lang="en-US" altLang="ko-KR" sz="1200" b="1" dirty="0" err="1"/>
              <a:t>gRPC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이용한 라이브러리로 제공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고객사에서 </a:t>
            </a:r>
            <a:r>
              <a:rPr lang="en-US" altLang="ko-KR" sz="1200" dirty="0" err="1"/>
              <a:t>gRPC</a:t>
            </a:r>
            <a:r>
              <a:rPr lang="ko-KR" altLang="en-US" sz="1200" dirty="0"/>
              <a:t> 클라이언트 부분 코드를 구현하게 하지 않고</a:t>
            </a:r>
            <a:r>
              <a:rPr lang="en-US" altLang="ko-KR" sz="1200" dirty="0"/>
              <a:t>,</a:t>
            </a:r>
            <a:r>
              <a:rPr lang="ko-KR" altLang="en-US" sz="1200" dirty="0"/>
              <a:t> 클라이언트 측 코드를 대신 구현하여 </a:t>
            </a:r>
            <a:r>
              <a:rPr lang="en-US" altLang="ko-KR" sz="1200" dirty="0"/>
              <a:t>jar</a:t>
            </a:r>
            <a:r>
              <a:rPr lang="ko-KR" altLang="en-US" sz="1200" dirty="0"/>
              <a:t> 파일로 제공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</a:t>
            </a:r>
            <a:r>
              <a:rPr lang="ko-KR" altLang="en-US" sz="1200" dirty="0"/>
              <a:t> 이로 인해 고객사는 </a:t>
            </a:r>
            <a:r>
              <a:rPr lang="en-US" altLang="ko-KR" sz="1200" dirty="0" err="1"/>
              <a:t>ip</a:t>
            </a:r>
            <a:r>
              <a:rPr lang="ko-KR" altLang="en-US" sz="1200" dirty="0"/>
              <a:t> 주소와 </a:t>
            </a:r>
            <a:r>
              <a:rPr lang="en-US" altLang="ko-KR" sz="1200" dirty="0"/>
              <a:t>port</a:t>
            </a:r>
            <a:r>
              <a:rPr lang="ko-KR" altLang="en-US" sz="1200" dirty="0" err="1"/>
              <a:t>를</a:t>
            </a:r>
            <a:r>
              <a:rPr lang="ko-KR" altLang="en-US" sz="1200" dirty="0"/>
              <a:t> 몰라도 라이브러리 추가만으로 회사와 통신할 수 있음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41B08460-C056-992C-6884-A3B4D6D95B28}"/>
              </a:ext>
            </a:extLst>
          </p:cNvPr>
          <p:cNvSpPr/>
          <p:nvPr/>
        </p:nvSpPr>
        <p:spPr>
          <a:xfrm>
            <a:off x="619737" y="4576100"/>
            <a:ext cx="609359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Rest</a:t>
            </a:r>
            <a:r>
              <a:rPr lang="ko-KR" altLang="en-US" sz="1400" b="1" dirty="0"/>
              <a:t> 방식에서 </a:t>
            </a:r>
            <a:r>
              <a:rPr lang="en-US" altLang="ko-KR" sz="1400" b="1" dirty="0" err="1"/>
              <a:t>gRPC</a:t>
            </a:r>
            <a:r>
              <a:rPr lang="ko-KR" altLang="en-US" sz="1400" b="1" dirty="0"/>
              <a:t>로 대체한 이유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dirty="0"/>
              <a:t> </a:t>
            </a:r>
            <a:r>
              <a:rPr lang="ko-KR" altLang="en-US" sz="1200" dirty="0"/>
              <a:t> </a:t>
            </a:r>
            <a:r>
              <a:rPr lang="en-US" altLang="ko-KR" sz="1200" dirty="0"/>
              <a:t>1.</a:t>
            </a:r>
            <a:r>
              <a:rPr lang="ko-KR" altLang="en-US" sz="1200" dirty="0"/>
              <a:t> 속도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2.</a:t>
            </a:r>
            <a:r>
              <a:rPr lang="ko-KR" altLang="en-US" sz="1200" dirty="0"/>
              <a:t> 고객사의 편의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3.</a:t>
            </a:r>
            <a:r>
              <a:rPr lang="ko-KR" altLang="en-US" sz="1200" dirty="0"/>
              <a:t> </a:t>
            </a:r>
            <a:r>
              <a:rPr lang="en-US" altLang="ko-KR" sz="1200" dirty="0"/>
              <a:t>API</a:t>
            </a:r>
            <a:r>
              <a:rPr lang="ko-KR" altLang="en-US" sz="1200" dirty="0"/>
              <a:t> 호출의 제어권을 가져오기 위함 </a:t>
            </a:r>
            <a:endParaRPr lang="en-US" altLang="ko-KR" sz="1200" dirty="0"/>
          </a:p>
          <a:p>
            <a:endParaRPr lang="en-US" altLang="ko-KR" sz="1000" b="1" dirty="0"/>
          </a:p>
          <a:p>
            <a:r>
              <a:rPr lang="en-US" altLang="ko-KR" sz="1000" dirty="0"/>
              <a:t>ex)</a:t>
            </a:r>
            <a:r>
              <a:rPr lang="ko-KR" altLang="en-US" sz="1000" dirty="0"/>
              <a:t> 제공하는 </a:t>
            </a:r>
            <a:r>
              <a:rPr lang="en-US" altLang="ko-KR" sz="1000" dirty="0"/>
              <a:t>jar</a:t>
            </a:r>
            <a:r>
              <a:rPr lang="ko-KR" altLang="en-US" sz="1000" dirty="0"/>
              <a:t> 파일에 </a:t>
            </a:r>
            <a:r>
              <a:rPr lang="ko-KR" altLang="en-US" sz="1000" dirty="0" err="1"/>
              <a:t>캐싱을</a:t>
            </a:r>
            <a:r>
              <a:rPr lang="ko-KR" altLang="en-US" sz="1000" dirty="0"/>
              <a:t> 적용</a:t>
            </a:r>
            <a:r>
              <a:rPr lang="en-US" altLang="ko-KR" sz="1000" dirty="0"/>
              <a:t>.</a:t>
            </a:r>
            <a:r>
              <a:rPr lang="ko-KR" altLang="en-US" sz="1000" dirty="0"/>
              <a:t> 짧은 시간내에 여러 번 동일한 요청을 하는 경우</a:t>
            </a:r>
            <a:r>
              <a:rPr lang="en-US" altLang="ko-KR" sz="1000" dirty="0"/>
              <a:t> </a:t>
            </a:r>
          </a:p>
          <a:p>
            <a:r>
              <a:rPr lang="ko-KR" altLang="en-US" sz="1000" dirty="0" err="1"/>
              <a:t>캐싱된</a:t>
            </a:r>
            <a:r>
              <a:rPr lang="ko-KR" altLang="en-US" sz="1000" dirty="0"/>
              <a:t> 데이터를 반환하도록 하여 서버에 들어오는 </a:t>
            </a:r>
            <a:r>
              <a:rPr lang="en-US" altLang="ko-KR" sz="1000" dirty="0"/>
              <a:t>Request</a:t>
            </a:r>
            <a:r>
              <a:rPr lang="ko-KR" altLang="en-US" sz="1000" dirty="0" err="1"/>
              <a:t>를</a:t>
            </a:r>
            <a:r>
              <a:rPr lang="ko-KR" altLang="en-US" sz="1000" dirty="0"/>
              <a:t> 줄임</a:t>
            </a:r>
            <a:endParaRPr lang="en-US" altLang="ko-KR" sz="1000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EAFB86-8AD1-019B-3022-6AF1C52D6FD7}"/>
              </a:ext>
            </a:extLst>
          </p:cNvPr>
          <p:cNvSpPr/>
          <p:nvPr/>
        </p:nvSpPr>
        <p:spPr>
          <a:xfrm>
            <a:off x="619737" y="922366"/>
            <a:ext cx="2914771" cy="10002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b="1" dirty="0"/>
              <a:t>-</a:t>
            </a:r>
            <a:r>
              <a:rPr lang="ko-KR" altLang="en-US" sz="1200" b="1" dirty="0"/>
              <a:t> 소규모 프로젝트로 재현</a:t>
            </a:r>
            <a:r>
              <a:rPr lang="en-US" altLang="ko-KR" sz="1200" b="1" dirty="0"/>
              <a:t> :</a:t>
            </a:r>
            <a:r>
              <a:rPr lang="ko-KR" altLang="en-US" sz="1200" b="1" dirty="0"/>
              <a:t> </a:t>
            </a:r>
            <a:r>
              <a:rPr lang="ko-KR" altLang="en-US" sz="1100" dirty="0">
                <a:hlinkClick r:id="rId3"/>
              </a:rPr>
              <a:t>링크</a:t>
            </a:r>
            <a:br>
              <a:rPr lang="en-US" altLang="ko-KR" sz="1100" dirty="0"/>
            </a:br>
            <a:r>
              <a:rPr lang="en-US" altLang="ko-KR" sz="1100" dirty="0"/>
              <a:t>(https://</a:t>
            </a:r>
            <a:r>
              <a:rPr lang="en-US" altLang="ko-KR" sz="1100" dirty="0" err="1"/>
              <a:t>github.com</a:t>
            </a:r>
            <a:r>
              <a:rPr lang="en-US" altLang="ko-KR" sz="1100" dirty="0"/>
              <a:t>/</a:t>
            </a:r>
            <a:r>
              <a:rPr lang="en-US" altLang="ko-KR" sz="1100" dirty="0" err="1"/>
              <a:t>ohjinhokor</a:t>
            </a:r>
            <a:r>
              <a:rPr lang="en-US" altLang="ko-KR" sz="1100" dirty="0"/>
              <a:t>/</a:t>
            </a:r>
            <a:r>
              <a:rPr lang="en-US" altLang="ko-KR" sz="1100" dirty="0" err="1"/>
              <a:t>grpc</a:t>
            </a:r>
            <a:r>
              <a:rPr lang="en-US" altLang="ko-KR" sz="1100" dirty="0"/>
              <a:t>)</a:t>
            </a:r>
          </a:p>
          <a:p>
            <a:pPr marL="171450" indent="-171450">
              <a:buFontTx/>
              <a:buChar char="-"/>
            </a:pPr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434463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075B0A2-0037-7FAF-17C6-9B6362215245}"/>
              </a:ext>
            </a:extLst>
          </p:cNvPr>
          <p:cNvSpPr txBox="1"/>
          <p:nvPr/>
        </p:nvSpPr>
        <p:spPr>
          <a:xfrm>
            <a:off x="694940" y="3402594"/>
            <a:ext cx="1002541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br>
              <a:rPr lang="en-US" altLang="ko-KR" sz="1200" dirty="0"/>
            </a:br>
            <a:endParaRPr lang="en-US" altLang="ko-KR" sz="1200" dirty="0"/>
          </a:p>
          <a:p>
            <a:r>
              <a:rPr lang="en-US" altLang="ko-KR" sz="1200" dirty="0"/>
              <a:t>  </a:t>
            </a:r>
          </a:p>
          <a:p>
            <a:r>
              <a:rPr lang="ko-KR" altLang="en-US" sz="1200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방송이 시작되면 방송 종료시까지 같은 요청에 대한 반환 </a:t>
            </a:r>
            <a:r>
              <a:rPr lang="en-US" altLang="ko-KR" sz="1200" dirty="0"/>
              <a:t>response</a:t>
            </a:r>
            <a:r>
              <a:rPr lang="ko-KR" altLang="en-US" sz="1200" dirty="0"/>
              <a:t>가 동일합니다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 따라서 데이터 정합성을 위한 별도의 캐시서버가 필요하지 않습니다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</a:t>
            </a:r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예시</a:t>
            </a:r>
            <a:r>
              <a:rPr lang="en-US" altLang="ko-KR" sz="1200" dirty="0"/>
              <a:t>) </a:t>
            </a:r>
            <a:r>
              <a:rPr lang="ko-KR" altLang="en-US" sz="1200" dirty="0"/>
              <a:t>방송이 시작한 후에는 판매 중인 상품이 변동되지 않습니다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판매 상품을 반환해주는 로직은 항상 같은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90926F1-839D-D9A7-12B2-7097A4552B6E}"/>
              </a:ext>
            </a:extLst>
          </p:cNvPr>
          <p:cNvSpPr/>
          <p:nvPr/>
        </p:nvSpPr>
        <p:spPr>
          <a:xfrm>
            <a:off x="4599537" y="5841178"/>
            <a:ext cx="914096" cy="44893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로드밸런서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51B0AD-16E9-FDA8-5C3A-286FD21CFB43}"/>
              </a:ext>
            </a:extLst>
          </p:cNvPr>
          <p:cNvSpPr/>
          <p:nvPr/>
        </p:nvSpPr>
        <p:spPr>
          <a:xfrm>
            <a:off x="2818301" y="6298434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8FB22AF-06D5-3D90-2FAC-07375A3509E9}"/>
              </a:ext>
            </a:extLst>
          </p:cNvPr>
          <p:cNvSpPr/>
          <p:nvPr/>
        </p:nvSpPr>
        <p:spPr>
          <a:xfrm>
            <a:off x="3156324" y="6362636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6519F8B-0ED4-084E-AAFB-E47A67D512AB}"/>
              </a:ext>
            </a:extLst>
          </p:cNvPr>
          <p:cNvCxnSpPr>
            <a:cxnSpLocks/>
          </p:cNvCxnSpPr>
          <p:nvPr/>
        </p:nvCxnSpPr>
        <p:spPr>
          <a:xfrm flipH="1">
            <a:off x="3777479" y="6048277"/>
            <a:ext cx="6466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A5C0297-BE99-CDDF-75FA-BBDE839C52B0}"/>
              </a:ext>
            </a:extLst>
          </p:cNvPr>
          <p:cNvCxnSpPr>
            <a:cxnSpLocks/>
          </p:cNvCxnSpPr>
          <p:nvPr/>
        </p:nvCxnSpPr>
        <p:spPr>
          <a:xfrm flipH="1">
            <a:off x="3777479" y="6197117"/>
            <a:ext cx="660657" cy="286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686CDD0-5C34-5D1B-B253-5791578F388C}"/>
              </a:ext>
            </a:extLst>
          </p:cNvPr>
          <p:cNvCxnSpPr>
            <a:cxnSpLocks/>
          </p:cNvCxnSpPr>
          <p:nvPr/>
        </p:nvCxnSpPr>
        <p:spPr>
          <a:xfrm flipH="1" flipV="1">
            <a:off x="3777479" y="5587083"/>
            <a:ext cx="646675" cy="2952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153E43-E22C-AA92-B965-AA77ECB4173A}"/>
              </a:ext>
            </a:extLst>
          </p:cNvPr>
          <p:cNvSpPr txBox="1"/>
          <p:nvPr/>
        </p:nvSpPr>
        <p:spPr>
          <a:xfrm>
            <a:off x="651781" y="3618911"/>
            <a:ext cx="5192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 인메모리 데이터베이스</a:t>
            </a:r>
            <a:r>
              <a:rPr lang="en-US" altLang="ko-KR" sz="1400" b="1" dirty="0"/>
              <a:t>(Memcached)</a:t>
            </a:r>
            <a:r>
              <a:rPr lang="ko-KR" altLang="en-US" sz="1400" b="1" dirty="0"/>
              <a:t>를 이용한 캐시</a:t>
            </a:r>
            <a:endParaRPr lang="en-US" altLang="ko-KR" sz="1400" b="1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5974AA33-48C2-6B25-2978-25A52E3EB56C}"/>
              </a:ext>
            </a:extLst>
          </p:cNvPr>
          <p:cNvSpPr/>
          <p:nvPr/>
        </p:nvSpPr>
        <p:spPr>
          <a:xfrm>
            <a:off x="6388000" y="5812180"/>
            <a:ext cx="1030027" cy="51433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클라이언트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EB5AB7-58B3-7E86-DE94-2A66EB639438}"/>
              </a:ext>
            </a:extLst>
          </p:cNvPr>
          <p:cNvSpPr txBox="1"/>
          <p:nvPr/>
        </p:nvSpPr>
        <p:spPr>
          <a:xfrm>
            <a:off x="651781" y="1336967"/>
            <a:ext cx="3662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 검색 기능 및 </a:t>
            </a:r>
            <a:r>
              <a:rPr lang="ko-KR" altLang="en-US" sz="1400" b="1" dirty="0" err="1"/>
              <a:t>페이지네이션</a:t>
            </a:r>
            <a:endParaRPr lang="en-US" altLang="ko-KR" sz="1400" b="1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F5ADD92-AF44-2D95-F18F-EECDEFB3E6DD}"/>
              </a:ext>
            </a:extLst>
          </p:cNvPr>
          <p:cNvSpPr/>
          <p:nvPr/>
        </p:nvSpPr>
        <p:spPr>
          <a:xfrm>
            <a:off x="920964" y="1761870"/>
            <a:ext cx="8878492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-</a:t>
            </a:r>
            <a:r>
              <a:rPr lang="ko-KR" altLang="en-US" sz="1200" dirty="0"/>
              <a:t> 검색 기능</a:t>
            </a:r>
            <a:endParaRPr lang="en-US" altLang="ko-KR" sz="1200" dirty="0"/>
          </a:p>
          <a:p>
            <a:endParaRPr lang="en-US" altLang="ko-KR" sz="12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미디어 종류</a:t>
            </a:r>
            <a:r>
              <a:rPr lang="en-US" altLang="ko-KR" sz="1200" dirty="0"/>
              <a:t>,</a:t>
            </a:r>
            <a:r>
              <a:rPr lang="ko-KR" altLang="en-US" sz="1200" dirty="0"/>
              <a:t> 업로드 시간</a:t>
            </a:r>
            <a:r>
              <a:rPr lang="en-US" altLang="ko-KR" sz="1200" dirty="0"/>
              <a:t>,</a:t>
            </a:r>
            <a:r>
              <a:rPr lang="ko-KR" altLang="en-US" sz="1200" dirty="0"/>
              <a:t> 검색어 등 조건에 따라 검색하는 기능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-</a:t>
            </a:r>
            <a:r>
              <a:rPr lang="ko-KR" altLang="en-US" sz="1200" dirty="0"/>
              <a:t> </a:t>
            </a:r>
            <a:r>
              <a:rPr lang="ko-KR" altLang="en-US" sz="1200" dirty="0" err="1"/>
              <a:t>페이지네이션</a:t>
            </a:r>
            <a:r>
              <a:rPr lang="en-US" altLang="ko-KR" sz="1200" dirty="0"/>
              <a:t> </a:t>
            </a:r>
          </a:p>
          <a:p>
            <a:endParaRPr lang="en-US" altLang="ko-KR" sz="1200" b="1" dirty="0"/>
          </a:p>
          <a:p>
            <a:r>
              <a:rPr lang="ko-KR" altLang="en-US" sz="1200" b="1" dirty="0"/>
              <a:t>  </a:t>
            </a:r>
            <a:r>
              <a:rPr lang="en-US" altLang="ko-KR" sz="1200" dirty="0"/>
              <a:t>-</a:t>
            </a:r>
            <a:r>
              <a:rPr lang="ko-KR" altLang="en-US" sz="1200" dirty="0"/>
              <a:t> 클라이언트로부터 한 페이지에 보여줄 미디어 파일 </a:t>
            </a:r>
            <a:r>
              <a:rPr lang="ko-KR" altLang="en-US" sz="1200" dirty="0" err="1"/>
              <a:t>갯수를</a:t>
            </a:r>
            <a:r>
              <a:rPr lang="ko-KR" altLang="en-US" sz="1200" dirty="0"/>
              <a:t> 받아 해당 </a:t>
            </a:r>
            <a:r>
              <a:rPr lang="ko-KR" altLang="en-US" sz="1200" dirty="0" err="1"/>
              <a:t>갯수만큼</a:t>
            </a:r>
            <a:r>
              <a:rPr lang="ko-KR" altLang="en-US" sz="1200" dirty="0"/>
              <a:t> 데이터를 반환합니다</a:t>
            </a:r>
            <a:r>
              <a:rPr lang="en-US" altLang="ko-KR" sz="1200" dirty="0"/>
              <a:t>.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67C1352-C12A-6DCB-ECF6-2684198DCF85}"/>
              </a:ext>
            </a:extLst>
          </p:cNvPr>
          <p:cNvSpPr/>
          <p:nvPr/>
        </p:nvSpPr>
        <p:spPr>
          <a:xfrm>
            <a:off x="2818301" y="5835191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82E724CA-AD20-4BB9-EAE7-31C4F3ED455F}"/>
              </a:ext>
            </a:extLst>
          </p:cNvPr>
          <p:cNvSpPr/>
          <p:nvPr/>
        </p:nvSpPr>
        <p:spPr>
          <a:xfrm>
            <a:off x="3156324" y="5899393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3DB890B-F2B5-5457-A9B6-074CEF0D638E}"/>
              </a:ext>
            </a:extLst>
          </p:cNvPr>
          <p:cNvSpPr/>
          <p:nvPr/>
        </p:nvSpPr>
        <p:spPr>
          <a:xfrm>
            <a:off x="2818301" y="5373157"/>
            <a:ext cx="843992" cy="41044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서버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5B43C2-27A7-F59B-8477-74025DD419E0}"/>
              </a:ext>
            </a:extLst>
          </p:cNvPr>
          <p:cNvSpPr/>
          <p:nvPr/>
        </p:nvSpPr>
        <p:spPr>
          <a:xfrm>
            <a:off x="3156324" y="5437359"/>
            <a:ext cx="505969" cy="27227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Mem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cached</a:t>
            </a: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C96221AA-8F26-86AB-D9E4-7F2164D7A42D}"/>
              </a:ext>
            </a:extLst>
          </p:cNvPr>
          <p:cNvCxnSpPr>
            <a:cxnSpLocks/>
          </p:cNvCxnSpPr>
          <p:nvPr/>
        </p:nvCxnSpPr>
        <p:spPr>
          <a:xfrm flipH="1">
            <a:off x="5637291" y="6046929"/>
            <a:ext cx="6466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BF029AA-2BAF-6A37-110A-FCC71EA7CCE5}"/>
              </a:ext>
            </a:extLst>
          </p:cNvPr>
          <p:cNvSpPr txBox="1"/>
          <p:nvPr/>
        </p:nvSpPr>
        <p:spPr>
          <a:xfrm>
            <a:off x="553023" y="325476"/>
            <a:ext cx="7158687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비즈니스 기능 추가</a:t>
            </a:r>
            <a:endParaRPr lang="en-US" altLang="ko-KR" b="1" dirty="0"/>
          </a:p>
          <a:p>
            <a:endParaRPr lang="en-US" altLang="ko-KR" sz="800" b="1" dirty="0"/>
          </a:p>
          <a:p>
            <a:r>
              <a:rPr lang="ko-KR" altLang="en-US" sz="1500" b="1" dirty="0"/>
              <a:t>    </a:t>
            </a:r>
            <a:r>
              <a:rPr lang="en-US" altLang="ko-KR" sz="1200" dirty="0"/>
              <a:t>-</a:t>
            </a:r>
            <a:r>
              <a:rPr lang="ko-KR" altLang="en-US" sz="1200" dirty="0"/>
              <a:t> 고객사가 직접 이미지와 비디오를 등록 수정 삭제 및 조회 가능  </a:t>
            </a:r>
            <a:endParaRPr lang="en-US" altLang="ko-KR" sz="1200" dirty="0"/>
          </a:p>
        </p:txBody>
      </p:sp>
      <p:sp>
        <p:nvSpPr>
          <p:cNvPr id="47" name="object 6">
            <a:extLst>
              <a:ext uri="{FF2B5EF4-FFF2-40B4-BE49-F238E27FC236}">
                <a16:creationId xmlns:a16="http://schemas.microsoft.com/office/drawing/2014/main" id="{FE9C1F92-06BE-9DD8-DA46-B3E89F333AD8}"/>
              </a:ext>
            </a:extLst>
          </p:cNvPr>
          <p:cNvSpPr/>
          <p:nvPr/>
        </p:nvSpPr>
        <p:spPr>
          <a:xfrm>
            <a:off x="425868" y="45497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623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01503" y="344920"/>
            <a:ext cx="366292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/>
              <a:t>리팩토링</a:t>
            </a:r>
            <a:r>
              <a:rPr lang="en-US" altLang="ko-KR" sz="1500" b="1" dirty="0"/>
              <a:t>(</a:t>
            </a:r>
            <a:r>
              <a:rPr lang="ko-KR" altLang="en-US" sz="1500" b="1" dirty="0"/>
              <a:t>코드 중복 제거</a:t>
            </a:r>
            <a:r>
              <a:rPr lang="en-US" altLang="ko-KR" sz="1500" b="1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805743" y="629792"/>
            <a:ext cx="10333312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상황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 </a:t>
            </a:r>
            <a:r>
              <a:rPr lang="en-US" altLang="ko-KR" sz="1200" dirty="0"/>
              <a:t>- </a:t>
            </a:r>
            <a:r>
              <a:rPr lang="ko-KR" altLang="en-US" sz="1200" dirty="0"/>
              <a:t>비디오 클래스와 이미지 클래스는 미디어 클래스를 상속합니다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비디오 클래스와 이미지 클래스는 다른 필드를 가지고 있으므로 클라이언트의 요청에 대해 다른 </a:t>
            </a:r>
            <a:r>
              <a:rPr lang="en-US" altLang="ko-KR" sz="1200" dirty="0"/>
              <a:t>DTO</a:t>
            </a:r>
            <a:r>
              <a:rPr lang="ko-KR" altLang="en-US" sz="1200" dirty="0"/>
              <a:t>와 메서드를 사용합니다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비슷한 코드가 여러 번 작성됩니다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미디어의 종류가 추가될 때마다 코드 중복이 발생합니다</a:t>
            </a:r>
            <a:r>
              <a:rPr lang="en-US" altLang="ko-KR" sz="1200" dirty="0"/>
              <a:t>.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74348" y="42586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80F2B8-E8AD-40CA-8337-F0B70EA45237}"/>
              </a:ext>
            </a:extLst>
          </p:cNvPr>
          <p:cNvSpPr txBox="1"/>
          <p:nvPr/>
        </p:nvSpPr>
        <p:spPr>
          <a:xfrm>
            <a:off x="805742" y="2465534"/>
            <a:ext cx="753607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인터페이스와 추상클래스를 이용한 코드 중복 해결 및 확장성 증가 </a:t>
            </a:r>
            <a:endParaRPr lang="en-US" altLang="ko-KR" sz="1400" b="1" dirty="0"/>
          </a:p>
          <a:p>
            <a:endParaRPr lang="en-US" altLang="ko-KR" sz="12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8D3B2B-F01E-49D5-BAC4-3BD9E2C50806}"/>
              </a:ext>
            </a:extLst>
          </p:cNvPr>
          <p:cNvSpPr/>
          <p:nvPr/>
        </p:nvSpPr>
        <p:spPr>
          <a:xfrm>
            <a:off x="919235" y="3543362"/>
            <a:ext cx="1395859" cy="3936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@JsonInfoType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5EAEE2-4C7A-45E1-85C7-5078C535A8E5}"/>
              </a:ext>
            </a:extLst>
          </p:cNvPr>
          <p:cNvSpPr txBox="1"/>
          <p:nvPr/>
        </p:nvSpPr>
        <p:spPr>
          <a:xfrm>
            <a:off x="1112601" y="3326599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인터페이스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63A051F-E10A-41F7-8D52-390D109F77DF}"/>
              </a:ext>
            </a:extLst>
          </p:cNvPr>
          <p:cNvCxnSpPr>
            <a:cxnSpLocks/>
          </p:cNvCxnSpPr>
          <p:nvPr/>
        </p:nvCxnSpPr>
        <p:spPr>
          <a:xfrm>
            <a:off x="2384698" y="3992251"/>
            <a:ext cx="10635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75B351-87DA-4206-BE19-B4ACB6C9D843}"/>
              </a:ext>
            </a:extLst>
          </p:cNvPr>
          <p:cNvSpPr txBox="1"/>
          <p:nvPr/>
        </p:nvSpPr>
        <p:spPr>
          <a:xfrm>
            <a:off x="2532560" y="377680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implements</a:t>
            </a:r>
            <a:endParaRPr lang="ko-KR" altLang="en-US" sz="8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4A1493D-49BC-4669-9006-6B5E4E27FA50}"/>
              </a:ext>
            </a:extLst>
          </p:cNvPr>
          <p:cNvSpPr/>
          <p:nvPr/>
        </p:nvSpPr>
        <p:spPr>
          <a:xfrm>
            <a:off x="919234" y="3936962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getMediaType</a:t>
            </a:r>
            <a:r>
              <a:rPr lang="en-US" altLang="ko-KR" sz="1200" dirty="0">
                <a:solidFill>
                  <a:schemeClr val="tx1"/>
                </a:solidFill>
              </a:rPr>
              <a:t>()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3879D04-AC8A-409E-9EBE-9F27740F7965}"/>
              </a:ext>
            </a:extLst>
          </p:cNvPr>
          <p:cNvSpPr/>
          <p:nvPr/>
        </p:nvSpPr>
        <p:spPr>
          <a:xfrm>
            <a:off x="3561293" y="371365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미디어 클래스의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자식 클래스 </a:t>
            </a: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공통 필드 선언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8AF7A-F898-4584-B57D-9AF77709C63E}"/>
              </a:ext>
            </a:extLst>
          </p:cNvPr>
          <p:cNvSpPr txBox="1"/>
          <p:nvPr/>
        </p:nvSpPr>
        <p:spPr>
          <a:xfrm>
            <a:off x="3705544" y="3498213"/>
            <a:ext cx="13302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미디어 추상 클래스</a:t>
            </a: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E7CDA494-2249-4547-9577-E956D4B82E51}"/>
              </a:ext>
            </a:extLst>
          </p:cNvPr>
          <p:cNvCxnSpPr>
            <a:cxnSpLocks/>
          </p:cNvCxnSpPr>
          <p:nvPr/>
        </p:nvCxnSpPr>
        <p:spPr>
          <a:xfrm flipV="1">
            <a:off x="5050552" y="3605935"/>
            <a:ext cx="935333" cy="386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B6072E89-7E52-47E8-AC08-FC9CB073E9F2}"/>
              </a:ext>
            </a:extLst>
          </p:cNvPr>
          <p:cNvCxnSpPr>
            <a:cxnSpLocks/>
          </p:cNvCxnSpPr>
          <p:nvPr/>
        </p:nvCxnSpPr>
        <p:spPr>
          <a:xfrm>
            <a:off x="5050552" y="4270845"/>
            <a:ext cx="896738" cy="4533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A409384-AE9F-472C-956F-8A2C4E70B466}"/>
              </a:ext>
            </a:extLst>
          </p:cNvPr>
          <p:cNvSpPr/>
          <p:nvPr/>
        </p:nvSpPr>
        <p:spPr>
          <a:xfrm>
            <a:off x="6143181" y="3188427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비디오 클래스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1EB86AE-5000-4606-A770-2106C9FB0AB3}"/>
              </a:ext>
            </a:extLst>
          </p:cNvPr>
          <p:cNvSpPr/>
          <p:nvPr/>
        </p:nvSpPr>
        <p:spPr>
          <a:xfrm>
            <a:off x="6143180" y="4408763"/>
            <a:ext cx="1395859" cy="78719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이미지 클래스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필드 및 메서드</a:t>
            </a:r>
            <a:endParaRPr lang="en-US" altLang="ko-KR" sz="800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2A58D-C820-41E7-8F4F-929F69131482}"/>
              </a:ext>
            </a:extLst>
          </p:cNvPr>
          <p:cNvSpPr txBox="1"/>
          <p:nvPr/>
        </p:nvSpPr>
        <p:spPr>
          <a:xfrm>
            <a:off x="6333384" y="2977139"/>
            <a:ext cx="117717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비디오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6DF18F-EB76-4A87-A704-A24C5D72C2FE}"/>
              </a:ext>
            </a:extLst>
          </p:cNvPr>
          <p:cNvSpPr txBox="1"/>
          <p:nvPr/>
        </p:nvSpPr>
        <p:spPr>
          <a:xfrm>
            <a:off x="6333384" y="4202660"/>
            <a:ext cx="13383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이미지 클래스</a:t>
            </a:r>
            <a:r>
              <a:rPr lang="en-US" altLang="ko-KR" sz="800" dirty="0"/>
              <a:t>(DTO)</a:t>
            </a:r>
            <a:endParaRPr lang="ko-KR" altLang="en-US" sz="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E0AFBF-824A-4104-9020-2B212D7FC232}"/>
              </a:ext>
            </a:extLst>
          </p:cNvPr>
          <p:cNvSpPr txBox="1"/>
          <p:nvPr/>
        </p:nvSpPr>
        <p:spPr>
          <a:xfrm>
            <a:off x="805743" y="5422996"/>
            <a:ext cx="9859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dirty="0" err="1"/>
              <a:t>JsonInfoType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이용하여 메시지 컨버터가 요청에 알맞은 구체 클래스로 데이터를 매핑합니다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getMediaType</a:t>
            </a:r>
            <a:r>
              <a:rPr lang="en-US" altLang="ko-KR" sz="1200" dirty="0"/>
              <a:t> </a:t>
            </a:r>
            <a:r>
              <a:rPr lang="ko-KR" altLang="en-US" sz="1200" dirty="0"/>
              <a:t>메서드를 이용하여 코드 레벨에서 인자로 들어온 클래스의 타입을 확인합니다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통해 어떤 구체 클래스의 객체로 역직렬화 되었는지 알 수 있습니다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이를 이용하여 다음 서비스 로직을 실행합니다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이를 통해 컨트롤러와 서비스에서 하나의 메서드로 모든 미디어 타입에 대한 요청에 응답할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D583930-2F80-4B1B-9635-B4668D4D1387}"/>
              </a:ext>
            </a:extLst>
          </p:cNvPr>
          <p:cNvSpPr txBox="1"/>
          <p:nvPr/>
        </p:nvSpPr>
        <p:spPr>
          <a:xfrm rot="20211078">
            <a:off x="5178176" y="3512943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9BD33E-E9B8-41E3-B90D-06EA53E7A531}"/>
              </a:ext>
            </a:extLst>
          </p:cNvPr>
          <p:cNvSpPr txBox="1"/>
          <p:nvPr/>
        </p:nvSpPr>
        <p:spPr>
          <a:xfrm rot="1640210">
            <a:off x="5198664" y="4392377"/>
            <a:ext cx="10736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extends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341422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65328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764167" y="1279794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en-US" altLang="ko-KR" sz="2200" dirty="0" err="1"/>
              <a:t>Emotimer</a:t>
            </a:r>
            <a:endParaRPr lang="ko-KR" altLang="en-US" sz="2200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335686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320677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576104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2022. 05 ~ 2022. 07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033002" y="3804189"/>
            <a:ext cx="1948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033001" y="4243488"/>
            <a:ext cx="37536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QueryDsl</a:t>
            </a:r>
            <a:endParaRPr lang="en-US" altLang="ko-KR" sz="1400" dirty="0"/>
          </a:p>
          <a:p>
            <a:r>
              <a:rPr lang="en-US" altLang="ko-KR" sz="1400" dirty="0"/>
              <a:t>- web socket (STOMP)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4799389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4636659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126177"/>
            <a:ext cx="50187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동일 계정으로 접속한 모든 기기에서 동시에 시작하는 타이머입니다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주간</a:t>
            </a:r>
            <a:r>
              <a:rPr lang="en-US" altLang="ko-KR" sz="1200" dirty="0"/>
              <a:t>,</a:t>
            </a:r>
            <a:r>
              <a:rPr lang="ko-KR" altLang="en-US" sz="1200" dirty="0"/>
              <a:t> 월별</a:t>
            </a:r>
            <a:r>
              <a:rPr lang="en-US" altLang="ko-KR" sz="1200" dirty="0"/>
              <a:t>,</a:t>
            </a:r>
            <a:r>
              <a:rPr lang="ko-KR" altLang="en-US" sz="1200" dirty="0"/>
              <a:t> 연도별 타이머 사용 통계를 보여줍니다</a:t>
            </a:r>
            <a:r>
              <a:rPr lang="en-US" altLang="ko-KR" sz="1200" dirty="0"/>
              <a:t>.</a:t>
            </a:r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611729" y="5246888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006515" y="5122752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027346" y="5622247"/>
            <a:ext cx="4737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ko-KR" altLang="en-US" sz="1200" dirty="0" err="1"/>
              <a:t>웹소켓을</a:t>
            </a:r>
            <a:r>
              <a:rPr lang="ko-KR" altLang="en-US" sz="1200" dirty="0"/>
              <a:t> 이용해 연결된 모든 기기에게 타이머 동작 전송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타이머 히스토리 저장 후 통계 반환</a:t>
            </a:r>
            <a:endParaRPr lang="en-US" altLang="ko-KR" sz="1200" b="1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603637" y="2840768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7002331" y="2744899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r>
              <a:rPr lang="en-US" altLang="ko-KR" b="1" dirty="0"/>
              <a:t> </a:t>
            </a:r>
            <a:r>
              <a:rPr lang="ko-KR" altLang="en-US" sz="1200" dirty="0">
                <a:hlinkClick r:id="rId3"/>
              </a:rPr>
              <a:t>링크</a:t>
            </a:r>
            <a:endParaRPr lang="en-US" altLang="ko-KR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999198" y="3133476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en" altLang="ko-KR" sz="1400" dirty="0"/>
              <a:t>https://</a:t>
            </a:r>
            <a:r>
              <a:rPr lang="en" altLang="ko-KR" sz="1400" dirty="0" err="1"/>
              <a:t>github.com</a:t>
            </a:r>
            <a:r>
              <a:rPr lang="en" altLang="ko-KR" sz="1400" dirty="0"/>
              <a:t>/</a:t>
            </a:r>
            <a:r>
              <a:rPr lang="en" altLang="ko-KR" sz="1400" dirty="0" err="1"/>
              <a:t>gdsc-ssu</a:t>
            </a:r>
            <a:r>
              <a:rPr lang="en" altLang="ko-KR" sz="1400" dirty="0"/>
              <a:t>/</a:t>
            </a:r>
            <a:r>
              <a:rPr lang="en" altLang="ko-KR" sz="1400" dirty="0" err="1"/>
              <a:t>emotimer</a:t>
            </a:r>
            <a:endParaRPr lang="ko-KR" altLang="en-US" sz="1400" dirty="0"/>
          </a:p>
        </p:txBody>
      </p:sp>
      <p:sp>
        <p:nvSpPr>
          <p:cNvPr id="30" name="object 6">
            <a:extLst>
              <a:ext uri="{FF2B5EF4-FFF2-40B4-BE49-F238E27FC236}">
                <a16:creationId xmlns:a16="http://schemas.microsoft.com/office/drawing/2014/main" id="{F71E5666-8DEC-3FD6-685A-25CE4BE9A891}"/>
              </a:ext>
            </a:extLst>
          </p:cNvPr>
          <p:cNvSpPr/>
          <p:nvPr/>
        </p:nvSpPr>
        <p:spPr>
          <a:xfrm>
            <a:off x="6603637" y="393641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F27F34-621E-C4EB-6014-97740B390884}"/>
              </a:ext>
            </a:extLst>
          </p:cNvPr>
          <p:cNvSpPr txBox="1"/>
          <p:nvPr/>
        </p:nvSpPr>
        <p:spPr>
          <a:xfrm>
            <a:off x="815146" y="180953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err="1"/>
              <a:t>웹소켓을</a:t>
            </a:r>
            <a:r>
              <a:rPr lang="ko-KR" altLang="en-US" sz="1100" dirty="0"/>
              <a:t> 이용한 다중기기 동시 타이머</a:t>
            </a:r>
          </a:p>
        </p:txBody>
      </p:sp>
    </p:spTree>
    <p:extLst>
      <p:ext uri="{BB962C8B-B14F-4D97-AF65-F5344CB8AC3E}">
        <p14:creationId xmlns:p14="http://schemas.microsoft.com/office/powerpoint/2010/main" val="2005011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25778" y="466301"/>
            <a:ext cx="5338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타이머 동작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492582" y="59060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AC9C7C6-7927-3AC2-6236-20B3C3466103}"/>
              </a:ext>
            </a:extLst>
          </p:cNvPr>
          <p:cNvSpPr/>
          <p:nvPr/>
        </p:nvSpPr>
        <p:spPr>
          <a:xfrm>
            <a:off x="556159" y="1126807"/>
            <a:ext cx="915544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b="1" dirty="0"/>
              <a:t>-</a:t>
            </a:r>
            <a:r>
              <a:rPr lang="ko-KR" altLang="en-US" sz="1400" b="1" dirty="0"/>
              <a:t> 같은 계정으로 접속한 모든 기기의 타이머가 동시에 동작</a:t>
            </a:r>
            <a:endParaRPr lang="en-US" altLang="ko-KR" sz="1400" b="1" dirty="0"/>
          </a:p>
          <a:p>
            <a:pPr marL="285750" indent="-285750">
              <a:buFontTx/>
              <a:buChar char="-"/>
            </a:pPr>
            <a:endParaRPr lang="en-US" altLang="ko-KR" sz="1400" b="1" dirty="0"/>
          </a:p>
          <a:p>
            <a:r>
              <a:rPr lang="en-US" altLang="ko-KR" sz="1400" b="1" dirty="0"/>
              <a:t>-</a:t>
            </a:r>
            <a:r>
              <a:rPr lang="ko-KR" altLang="en-US" sz="1400" b="1" dirty="0"/>
              <a:t> </a:t>
            </a:r>
            <a:r>
              <a:rPr lang="ko-KR" altLang="en-US" sz="1400" b="1" dirty="0" err="1"/>
              <a:t>웹소켓</a:t>
            </a:r>
            <a:r>
              <a:rPr lang="en-US" altLang="ko-KR" sz="1400" b="1" dirty="0"/>
              <a:t>(STOMP)</a:t>
            </a:r>
            <a:r>
              <a:rPr lang="ko-KR" altLang="en-US" sz="1400" b="1" dirty="0"/>
              <a:t> 사용 </a:t>
            </a:r>
            <a:endParaRPr lang="en-US" altLang="ko-KR" sz="1400" b="1" dirty="0"/>
          </a:p>
        </p:txBody>
      </p:sp>
      <p:pic>
        <p:nvPicPr>
          <p:cNvPr id="5" name="그림 4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7BF698C8-730F-ECF5-CB60-5E4B7DB17E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774" y="3659822"/>
            <a:ext cx="1652913" cy="76670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D9D6730-6A9B-5AD6-250F-8E7DDFD91D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987" y="5152650"/>
            <a:ext cx="1274614" cy="1157085"/>
          </a:xfrm>
          <a:prstGeom prst="rect">
            <a:avLst/>
          </a:prstGeom>
        </p:spPr>
      </p:pic>
      <p:pic>
        <p:nvPicPr>
          <p:cNvPr id="10" name="Picture 2" descr="Cellphone Icon in Miu Icons">
            <a:extLst>
              <a:ext uri="{FF2B5EF4-FFF2-40B4-BE49-F238E27FC236}">
                <a16:creationId xmlns:a16="http://schemas.microsoft.com/office/drawing/2014/main" id="{AEA81DE8-10ED-C206-7F73-08CA3CF337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5772" y="3540797"/>
            <a:ext cx="1004751" cy="1004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Cellphone Icon in Miu Icons">
            <a:extLst>
              <a:ext uri="{FF2B5EF4-FFF2-40B4-BE49-F238E27FC236}">
                <a16:creationId xmlns:a16="http://schemas.microsoft.com/office/drawing/2014/main" id="{503BD1D5-6EA7-803A-3378-0D8649A61C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2251" y="1506688"/>
            <a:ext cx="1004751" cy="1004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80AB66D6-950E-9F0A-0F88-E3E8B794BC1A}"/>
              </a:ext>
            </a:extLst>
          </p:cNvPr>
          <p:cNvCxnSpPr>
            <a:cxnSpLocks/>
          </p:cNvCxnSpPr>
          <p:nvPr/>
        </p:nvCxnSpPr>
        <p:spPr>
          <a:xfrm>
            <a:off x="3729857" y="4026260"/>
            <a:ext cx="1833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36B0D69-C943-FCA7-FC3E-ABFC3368EE1D}"/>
              </a:ext>
            </a:extLst>
          </p:cNvPr>
          <p:cNvCxnSpPr>
            <a:cxnSpLocks/>
          </p:cNvCxnSpPr>
          <p:nvPr/>
        </p:nvCxnSpPr>
        <p:spPr>
          <a:xfrm flipH="1">
            <a:off x="7246687" y="2334759"/>
            <a:ext cx="1190300" cy="1116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CBB27DE-7A51-EA17-8576-D18B5D88E6BE}"/>
              </a:ext>
            </a:extLst>
          </p:cNvPr>
          <p:cNvSpPr txBox="1"/>
          <p:nvPr/>
        </p:nvSpPr>
        <p:spPr>
          <a:xfrm>
            <a:off x="3877456" y="3750940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7ED7A3CC-7D03-ED91-0EB5-B110164EC473}"/>
              </a:ext>
            </a:extLst>
          </p:cNvPr>
          <p:cNvSpPr/>
          <p:nvPr/>
        </p:nvSpPr>
        <p:spPr>
          <a:xfrm>
            <a:off x="3808303" y="3776765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A3E539-3EFD-55A6-4CA6-5FA1015DA013}"/>
              </a:ext>
            </a:extLst>
          </p:cNvPr>
          <p:cNvSpPr txBox="1"/>
          <p:nvPr/>
        </p:nvSpPr>
        <p:spPr>
          <a:xfrm rot="18977055">
            <a:off x="7010095" y="2563645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B87546F4-F72D-AAC8-4131-91FADEF73F62}"/>
              </a:ext>
            </a:extLst>
          </p:cNvPr>
          <p:cNvSpPr/>
          <p:nvPr/>
        </p:nvSpPr>
        <p:spPr>
          <a:xfrm rot="18977055">
            <a:off x="7401002" y="2893670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F8BBC47-2AEA-5E9B-1404-8E5B7DE4B2B5}"/>
              </a:ext>
            </a:extLst>
          </p:cNvPr>
          <p:cNvCxnSpPr>
            <a:cxnSpLocks/>
          </p:cNvCxnSpPr>
          <p:nvPr/>
        </p:nvCxnSpPr>
        <p:spPr>
          <a:xfrm>
            <a:off x="3729857" y="4403308"/>
            <a:ext cx="183392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20CAE7B-ADEF-45AF-DD1B-EF9D1AABFB6C}"/>
              </a:ext>
            </a:extLst>
          </p:cNvPr>
          <p:cNvSpPr txBox="1"/>
          <p:nvPr/>
        </p:nvSpPr>
        <p:spPr>
          <a:xfrm>
            <a:off x="3964043" y="4139232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타이머 동작 요청</a:t>
            </a:r>
            <a:r>
              <a:rPr lang="en-US" altLang="ko-KR" sz="1050" dirty="0"/>
              <a:t>(POST)</a:t>
            </a:r>
            <a:endParaRPr lang="ko-KR" altLang="en-US" sz="1050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B840FCF-0470-1222-A1A1-AD69DDFB08E5}"/>
              </a:ext>
            </a:extLst>
          </p:cNvPr>
          <p:cNvSpPr/>
          <p:nvPr/>
        </p:nvSpPr>
        <p:spPr>
          <a:xfrm>
            <a:off x="3807076" y="4143356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2FEAE0D-EA11-69CF-B794-FFAFD9C96932}"/>
              </a:ext>
            </a:extLst>
          </p:cNvPr>
          <p:cNvCxnSpPr>
            <a:cxnSpLocks/>
          </p:cNvCxnSpPr>
          <p:nvPr/>
        </p:nvCxnSpPr>
        <p:spPr>
          <a:xfrm flipV="1">
            <a:off x="7724338" y="2909713"/>
            <a:ext cx="1192628" cy="11213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187CF73-DFDB-7997-A9AC-327D0B2FC953}"/>
              </a:ext>
            </a:extLst>
          </p:cNvPr>
          <p:cNvSpPr txBox="1"/>
          <p:nvPr/>
        </p:nvSpPr>
        <p:spPr>
          <a:xfrm rot="18952151">
            <a:off x="7235268" y="3064416"/>
            <a:ext cx="17963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같은 토픽을 구독한 </a:t>
            </a:r>
            <a:endParaRPr lang="en-US" altLang="ko-KR" sz="1050" dirty="0"/>
          </a:p>
          <a:p>
            <a:pPr algn="ctr"/>
            <a:r>
              <a:rPr lang="ko-KR" altLang="en-US" sz="1050" dirty="0"/>
              <a:t>기기에 같은 동작 요청</a:t>
            </a: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B604C9-9EB5-AEEE-E55D-2F8B2627D93F}"/>
              </a:ext>
            </a:extLst>
          </p:cNvPr>
          <p:cNvSpPr/>
          <p:nvPr/>
        </p:nvSpPr>
        <p:spPr>
          <a:xfrm rot="18952151">
            <a:off x="7398194" y="3704844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E8D91903-A216-03A0-FBC3-3987123AE64E}"/>
              </a:ext>
            </a:extLst>
          </p:cNvPr>
          <p:cNvCxnSpPr>
            <a:cxnSpLocks/>
          </p:cNvCxnSpPr>
          <p:nvPr/>
        </p:nvCxnSpPr>
        <p:spPr>
          <a:xfrm rot="5042391" flipH="1">
            <a:off x="7407039" y="4312858"/>
            <a:ext cx="1190300" cy="11167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042E7AD-5CCF-47C2-FB1D-F6F1F3979967}"/>
              </a:ext>
            </a:extLst>
          </p:cNvPr>
          <p:cNvSpPr txBox="1"/>
          <p:nvPr/>
        </p:nvSpPr>
        <p:spPr>
          <a:xfrm rot="2419446">
            <a:off x="7458047" y="4780317"/>
            <a:ext cx="167939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토픽 구독</a:t>
            </a: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AAFF8445-C5C5-B0A3-BE55-2A9354BC9150}"/>
              </a:ext>
            </a:extLst>
          </p:cNvPr>
          <p:cNvSpPr/>
          <p:nvPr/>
        </p:nvSpPr>
        <p:spPr>
          <a:xfrm rot="2419446">
            <a:off x="7820584" y="4488976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D4A97CD7-D6AC-BE64-8FBB-1CE2301877E7}"/>
              </a:ext>
            </a:extLst>
          </p:cNvPr>
          <p:cNvCxnSpPr>
            <a:cxnSpLocks/>
          </p:cNvCxnSpPr>
          <p:nvPr/>
        </p:nvCxnSpPr>
        <p:spPr>
          <a:xfrm>
            <a:off x="6871203" y="4742614"/>
            <a:ext cx="1381260" cy="11952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12A84350-9626-3318-9CFB-48F215EB6311}"/>
              </a:ext>
            </a:extLst>
          </p:cNvPr>
          <p:cNvSpPr txBox="1"/>
          <p:nvPr/>
        </p:nvSpPr>
        <p:spPr>
          <a:xfrm rot="2394542">
            <a:off x="6923179" y="5073404"/>
            <a:ext cx="179636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dirty="0"/>
              <a:t>같은 토픽을 구독한 </a:t>
            </a:r>
            <a:endParaRPr lang="en-US" altLang="ko-KR" sz="1050" dirty="0"/>
          </a:p>
          <a:p>
            <a:pPr algn="ctr"/>
            <a:r>
              <a:rPr lang="ko-KR" altLang="en-US" sz="1050" dirty="0"/>
              <a:t>기기에 같은 동작 요청</a:t>
            </a: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AB749FE7-C4A1-C10A-CB8B-8AC8347D0A37}"/>
              </a:ext>
            </a:extLst>
          </p:cNvPr>
          <p:cNvSpPr/>
          <p:nvPr/>
        </p:nvSpPr>
        <p:spPr>
          <a:xfrm rot="2394542">
            <a:off x="7085617" y="4615210"/>
            <a:ext cx="213070" cy="205031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3196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85BAE1-8423-F726-BE5A-DF382013AAE1}"/>
              </a:ext>
            </a:extLst>
          </p:cNvPr>
          <p:cNvSpPr txBox="1"/>
          <p:nvPr/>
        </p:nvSpPr>
        <p:spPr>
          <a:xfrm>
            <a:off x="803422" y="41360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비동기 처리</a:t>
            </a:r>
          </a:p>
        </p:txBody>
      </p:sp>
    </p:spTree>
    <p:extLst>
      <p:ext uri="{BB962C8B-B14F-4D97-AF65-F5344CB8AC3E}">
        <p14:creationId xmlns:p14="http://schemas.microsoft.com/office/powerpoint/2010/main" val="1887381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85BAE1-8423-F726-BE5A-DF382013AAE1}"/>
              </a:ext>
            </a:extLst>
          </p:cNvPr>
          <p:cNvSpPr txBox="1"/>
          <p:nvPr/>
        </p:nvSpPr>
        <p:spPr>
          <a:xfrm>
            <a:off x="803422" y="413607"/>
            <a:ext cx="2823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 err="1"/>
              <a:t>리팩토링</a:t>
            </a:r>
            <a:r>
              <a:rPr kumimoji="1" lang="en-US" altLang="ko-KR" b="1" dirty="0"/>
              <a:t>(</a:t>
            </a:r>
            <a:r>
              <a:rPr kumimoji="1" lang="ko-KR" altLang="en-US" b="1" dirty="0"/>
              <a:t>코드 중복 제거</a:t>
            </a:r>
            <a:r>
              <a:rPr kumimoji="1" lang="en-US" altLang="ko-KR" b="1" dirty="0"/>
              <a:t>)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574503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485BAE1-8423-F726-BE5A-DF382013AAE1}"/>
              </a:ext>
            </a:extLst>
          </p:cNvPr>
          <p:cNvSpPr txBox="1"/>
          <p:nvPr/>
        </p:nvSpPr>
        <p:spPr>
          <a:xfrm>
            <a:off x="803422" y="413607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트러블 슈팅</a:t>
            </a:r>
          </a:p>
        </p:txBody>
      </p:sp>
    </p:spTree>
    <p:extLst>
      <p:ext uri="{BB962C8B-B14F-4D97-AF65-F5344CB8AC3E}">
        <p14:creationId xmlns:p14="http://schemas.microsoft.com/office/powerpoint/2010/main" val="2332734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58601" y="453182"/>
            <a:ext cx="748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400" b="1" dirty="0">
                <a:latin typeface="Arial" panose="020B0604020202020204" pitchFamily="34" charset="0"/>
                <a:cs typeface="Arial" panose="020B0604020202020204" pitchFamily="34" charset="0"/>
              </a:rPr>
              <a:t>DINO STUDIO </a:t>
            </a:r>
          </a:p>
          <a:p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ko-KR" alt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스타트업 인턴십</a:t>
            </a:r>
            <a:r>
              <a:rPr lang="en-US" altLang="ko-KR" sz="28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05618" y="1878564"/>
            <a:ext cx="4562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프로젝트 명 </a:t>
            </a:r>
            <a:r>
              <a:rPr lang="en-US" altLang="ko-KR" dirty="0"/>
              <a:t>: </a:t>
            </a:r>
            <a:r>
              <a:rPr lang="ko-KR" altLang="en-US" dirty="0"/>
              <a:t>하이엔드</a:t>
            </a:r>
            <a:r>
              <a:rPr lang="en-US" altLang="ko-KR" dirty="0"/>
              <a:t>(High-End)</a:t>
            </a:r>
            <a:endParaRPr lang="ko-KR" altLang="en-US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792649" y="295147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97691" y="280138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참여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118521" y="3170713"/>
            <a:ext cx="27691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12. 28 ~ 2022. 02. 28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7243355" y="260785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7548397" y="245775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7548397" y="2837668"/>
            <a:ext cx="38650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Querydsl</a:t>
            </a:r>
            <a:r>
              <a:rPr lang="en-US" altLang="ko-KR" sz="1400" dirty="0"/>
              <a:t>, MySQL</a:t>
            </a:r>
          </a:p>
          <a:p>
            <a:r>
              <a:rPr lang="en-US" altLang="ko-KR" sz="1400" dirty="0"/>
              <a:t>- EC2, RDS, S3, CloudFront</a:t>
            </a:r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792649" y="3925408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71946" y="377531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7243371" y="4136064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7415407" y="398597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7436237" y="4407689"/>
            <a:ext cx="438017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⨀ 프로젝트 초기 인프라 구축 </a:t>
            </a:r>
            <a:r>
              <a:rPr lang="en-US" altLang="ko-KR" sz="1100" dirty="0"/>
              <a:t>– EC2, RDS, S3, CloudFront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비즈니스 로직 작성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Spring </a:t>
            </a:r>
            <a:r>
              <a:rPr lang="en-US" altLang="ko-KR" sz="1100" dirty="0" err="1"/>
              <a:t>WebClient</a:t>
            </a:r>
            <a:r>
              <a:rPr lang="ko-KR" altLang="en-US" sz="1100" dirty="0"/>
              <a:t>를 이용한 외부 </a:t>
            </a:r>
            <a:r>
              <a:rPr lang="en-US" altLang="ko-KR" sz="1100" dirty="0"/>
              <a:t>API</a:t>
            </a:r>
            <a:r>
              <a:rPr lang="ko-KR" altLang="en-US" sz="1100" dirty="0"/>
              <a:t>와의 통신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en-US" altLang="ko-KR" sz="1100" dirty="0"/>
              <a:t>CI/CD</a:t>
            </a:r>
            <a:r>
              <a:rPr lang="ko-KR" altLang="en-US" sz="1100" dirty="0"/>
              <a:t>와 </a:t>
            </a:r>
            <a:r>
              <a:rPr lang="ko-KR" altLang="en-US" sz="1100" dirty="0" err="1"/>
              <a:t>무중단</a:t>
            </a:r>
            <a:r>
              <a:rPr lang="ko-KR" altLang="en-US" sz="1100" dirty="0"/>
              <a:t> 배포 </a:t>
            </a:r>
            <a:r>
              <a:rPr lang="en-US" altLang="ko-KR" sz="1100" dirty="0"/>
              <a:t>- </a:t>
            </a:r>
            <a:r>
              <a:rPr lang="en-US" altLang="ko-KR" sz="1100" dirty="0" err="1"/>
              <a:t>Github</a:t>
            </a:r>
            <a:r>
              <a:rPr lang="en-US" altLang="ko-KR" sz="1100" dirty="0"/>
              <a:t> Action, Code Deploy, S3, Nginx</a:t>
            </a:r>
          </a:p>
          <a:p>
            <a:endParaRPr lang="en-US" altLang="ko-KR" sz="1100" dirty="0"/>
          </a:p>
          <a:p>
            <a:r>
              <a:rPr lang="ko-KR" altLang="en-US" sz="1100" dirty="0"/>
              <a:t>⨀ </a:t>
            </a:r>
            <a:r>
              <a:rPr lang="ko-KR" altLang="en-US" sz="1100" dirty="0" err="1"/>
              <a:t>스웨거를</a:t>
            </a:r>
            <a:r>
              <a:rPr lang="ko-KR" altLang="en-US" sz="1100" dirty="0"/>
              <a:t> 이용한 </a:t>
            </a:r>
            <a:r>
              <a:rPr lang="en-US" altLang="ko-KR" sz="1100" dirty="0"/>
              <a:t>API </a:t>
            </a:r>
            <a:r>
              <a:rPr lang="ko-KR" altLang="en-US" sz="1100" dirty="0"/>
              <a:t>문서 자동화 </a:t>
            </a:r>
            <a:endParaRPr lang="en-US" altLang="ko-KR" sz="1100" dirty="0"/>
          </a:p>
          <a:p>
            <a:endParaRPr lang="en-US" altLang="ko-KR" sz="11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427E50-B330-4DAB-8331-9469154D2C22}"/>
              </a:ext>
            </a:extLst>
          </p:cNvPr>
          <p:cNvSpPr txBox="1"/>
          <p:nvPr/>
        </p:nvSpPr>
        <p:spPr>
          <a:xfrm>
            <a:off x="1018855" y="4194655"/>
            <a:ext cx="540888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ko-KR" altLang="en-US" sz="1200" dirty="0"/>
              <a:t>남녀의 만남을 주선하는 소개팅 어플입니다</a:t>
            </a:r>
            <a:r>
              <a:rPr lang="en-US" altLang="ko-KR" sz="1200" dirty="0"/>
              <a:t>. 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매일 새로운 이성을 추천합니다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설정에 따라 지인에게 내 정보가 노출되지 않도록 할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78813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직사각형 17">
            <a:extLst>
              <a:ext uri="{FF2B5EF4-FFF2-40B4-BE49-F238E27FC236}">
                <a16:creationId xmlns:a16="http://schemas.microsoft.com/office/drawing/2014/main" id="{8C0464AD-3790-4CC9-9053-57E7A97A5625}"/>
              </a:ext>
            </a:extLst>
          </p:cNvPr>
          <p:cNvSpPr/>
          <p:nvPr/>
        </p:nvSpPr>
        <p:spPr>
          <a:xfrm>
            <a:off x="4300630" y="2900737"/>
            <a:ext cx="2937950" cy="171865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D7230D6-3102-46D1-BE37-7E8A853A34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7670" y="3649428"/>
            <a:ext cx="853974" cy="57090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5880CFB2-BA58-46B2-8B55-D798D3DD06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529" y="2786986"/>
            <a:ext cx="1682750" cy="15275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D272B-72CA-452D-86F3-84BE21C584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49" y="751909"/>
            <a:ext cx="1213767" cy="10489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ADA086-C50C-4D13-9469-3C32C3C969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1812" y="5463879"/>
            <a:ext cx="842160" cy="7711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E4584-9F76-44D4-B294-7F04B135A94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3413" y="2534274"/>
            <a:ext cx="726820" cy="777061"/>
          </a:xfrm>
          <a:prstGeom prst="rect">
            <a:avLst/>
          </a:prstGeom>
        </p:spPr>
      </p:pic>
      <p:pic>
        <p:nvPicPr>
          <p:cNvPr id="4" name="그림 3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CACCBE85-BEB1-4557-9F28-6BB685E86C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4123" y="653243"/>
            <a:ext cx="1901945" cy="980384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13BC349-6ED3-426E-A8FD-8294867C9EA7}"/>
              </a:ext>
            </a:extLst>
          </p:cNvPr>
          <p:cNvCxnSpPr>
            <a:cxnSpLocks/>
          </p:cNvCxnSpPr>
          <p:nvPr/>
        </p:nvCxnSpPr>
        <p:spPr>
          <a:xfrm>
            <a:off x="2338918" y="3897038"/>
            <a:ext cx="21525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CAB6D20D-C1BF-43B1-BEB8-F315878472F4}"/>
              </a:ext>
            </a:extLst>
          </p:cNvPr>
          <p:cNvCxnSpPr>
            <a:cxnSpLocks/>
          </p:cNvCxnSpPr>
          <p:nvPr/>
        </p:nvCxnSpPr>
        <p:spPr>
          <a:xfrm flipH="1" flipV="1">
            <a:off x="5727274" y="1514388"/>
            <a:ext cx="11053" cy="10329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4ADA31A-051D-4242-AB16-727D5A00FE40}"/>
              </a:ext>
            </a:extLst>
          </p:cNvPr>
          <p:cNvSpPr txBox="1"/>
          <p:nvPr/>
        </p:nvSpPr>
        <p:spPr>
          <a:xfrm>
            <a:off x="5736823" y="1961448"/>
            <a:ext cx="15113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저장 요청</a:t>
            </a: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0120EEE-87AC-4B52-8E02-6D2B325E4187}"/>
              </a:ext>
            </a:extLst>
          </p:cNvPr>
          <p:cNvCxnSpPr>
            <a:cxnSpLocks/>
          </p:cNvCxnSpPr>
          <p:nvPr/>
        </p:nvCxnSpPr>
        <p:spPr>
          <a:xfrm>
            <a:off x="3757143" y="1086897"/>
            <a:ext cx="1450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B138F823-6B52-4725-A067-340F083B8228}"/>
              </a:ext>
            </a:extLst>
          </p:cNvPr>
          <p:cNvCxnSpPr>
            <a:cxnSpLocks/>
          </p:cNvCxnSpPr>
          <p:nvPr/>
        </p:nvCxnSpPr>
        <p:spPr>
          <a:xfrm>
            <a:off x="5630489" y="4740825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FCCC8B95-BFBF-4791-9BAB-5BB10E113FC2}"/>
              </a:ext>
            </a:extLst>
          </p:cNvPr>
          <p:cNvCxnSpPr>
            <a:cxnSpLocks/>
          </p:cNvCxnSpPr>
          <p:nvPr/>
        </p:nvCxnSpPr>
        <p:spPr>
          <a:xfrm flipV="1">
            <a:off x="5867050" y="4739406"/>
            <a:ext cx="0" cy="6489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550D3A4-7E85-4793-87DF-7F69DE4C5364}"/>
              </a:ext>
            </a:extLst>
          </p:cNvPr>
          <p:cNvSpPr txBox="1"/>
          <p:nvPr/>
        </p:nvSpPr>
        <p:spPr>
          <a:xfrm>
            <a:off x="5196492" y="4967811"/>
            <a:ext cx="50841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CRUD</a:t>
            </a:r>
            <a:endParaRPr lang="ko-KR" altLang="en-US" sz="8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FB030E-21BE-451F-A3AB-E90418ABBE40}"/>
              </a:ext>
            </a:extLst>
          </p:cNvPr>
          <p:cNvSpPr txBox="1"/>
          <p:nvPr/>
        </p:nvSpPr>
        <p:spPr>
          <a:xfrm>
            <a:off x="5862581" y="4980251"/>
            <a:ext cx="7477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데이터 제공</a:t>
            </a:r>
            <a:endParaRPr lang="ko-KR" altLang="en-US" sz="800" dirty="0"/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E2BCB56A-25FF-4DC0-98A5-D980E3E6B619}"/>
              </a:ext>
            </a:extLst>
          </p:cNvPr>
          <p:cNvCxnSpPr>
            <a:cxnSpLocks/>
          </p:cNvCxnSpPr>
          <p:nvPr/>
        </p:nvCxnSpPr>
        <p:spPr>
          <a:xfrm flipH="1">
            <a:off x="3734064" y="1448062"/>
            <a:ext cx="14504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8E68A65-84CA-4A76-A433-D4E9923DF8CF}"/>
              </a:ext>
            </a:extLst>
          </p:cNvPr>
          <p:cNvSpPr txBox="1"/>
          <p:nvPr/>
        </p:nvSpPr>
        <p:spPr>
          <a:xfrm>
            <a:off x="4127547" y="850931"/>
            <a:ext cx="114907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B3215CE-062B-431D-A14B-396D6A0FFAEF}"/>
              </a:ext>
            </a:extLst>
          </p:cNvPr>
          <p:cNvSpPr txBox="1"/>
          <p:nvPr/>
        </p:nvSpPr>
        <p:spPr>
          <a:xfrm>
            <a:off x="4131650" y="1230597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제공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0C5A208-BBF2-4079-B615-8CDA55FF9DD6}"/>
              </a:ext>
            </a:extLst>
          </p:cNvPr>
          <p:cNvCxnSpPr>
            <a:cxnSpLocks/>
          </p:cNvCxnSpPr>
          <p:nvPr/>
        </p:nvCxnSpPr>
        <p:spPr>
          <a:xfrm flipV="1">
            <a:off x="1929108" y="1694265"/>
            <a:ext cx="815222" cy="11234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70567B36-AA95-4094-99CC-538597F7E02A}"/>
              </a:ext>
            </a:extLst>
          </p:cNvPr>
          <p:cNvCxnSpPr>
            <a:cxnSpLocks/>
          </p:cNvCxnSpPr>
          <p:nvPr/>
        </p:nvCxnSpPr>
        <p:spPr>
          <a:xfrm flipH="1">
            <a:off x="2073417" y="1806611"/>
            <a:ext cx="715619" cy="10111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6F90489A-D6E7-461E-B574-A83A083621A3}"/>
              </a:ext>
            </a:extLst>
          </p:cNvPr>
          <p:cNvSpPr txBox="1"/>
          <p:nvPr/>
        </p:nvSpPr>
        <p:spPr>
          <a:xfrm>
            <a:off x="1654904" y="2134636"/>
            <a:ext cx="71126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파일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1A21E6-32E2-4FFC-B987-440175EB5A72}"/>
              </a:ext>
            </a:extLst>
          </p:cNvPr>
          <p:cNvSpPr txBox="1"/>
          <p:nvPr/>
        </p:nvSpPr>
        <p:spPr>
          <a:xfrm>
            <a:off x="2644044" y="1982699"/>
            <a:ext cx="17396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1)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된 파일 제공</a:t>
            </a:r>
            <a:endParaRPr lang="en-US" altLang="ko-KR" sz="800" dirty="0"/>
          </a:p>
          <a:p>
            <a:r>
              <a:rPr lang="en-US" altLang="ko-KR" sz="800" dirty="0"/>
              <a:t>2) </a:t>
            </a:r>
            <a:r>
              <a:rPr lang="ko-KR" altLang="en-US" sz="800" dirty="0" err="1"/>
              <a:t>캐싱</a:t>
            </a:r>
            <a:r>
              <a:rPr lang="ko-KR" altLang="en-US" sz="800" dirty="0"/>
              <a:t> 되어있는 파일이 없을 경우 </a:t>
            </a:r>
            <a:r>
              <a:rPr lang="en-US" altLang="ko-KR" sz="800" dirty="0"/>
              <a:t>s3</a:t>
            </a:r>
            <a:r>
              <a:rPr lang="ko-KR" altLang="en-US" sz="800" dirty="0"/>
              <a:t>에 요청 후 제공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FB38C0-C2CB-4BC9-8576-35967547CAD4}"/>
              </a:ext>
            </a:extLst>
          </p:cNvPr>
          <p:cNvSpPr txBox="1"/>
          <p:nvPr/>
        </p:nvSpPr>
        <p:spPr>
          <a:xfrm>
            <a:off x="553957" y="283911"/>
            <a:ext cx="1865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서버 구조도</a:t>
            </a:r>
            <a:endParaRPr lang="en-US" altLang="ko-KR" b="1" dirty="0"/>
          </a:p>
        </p:txBody>
      </p:sp>
      <p:sp>
        <p:nvSpPr>
          <p:cNvPr id="48" name="object 6">
            <a:extLst>
              <a:ext uri="{FF2B5EF4-FFF2-40B4-BE49-F238E27FC236}">
                <a16:creationId xmlns:a16="http://schemas.microsoft.com/office/drawing/2014/main" id="{5AB057B5-6CA2-42D4-9A59-9492C1D3C1D6}"/>
              </a:ext>
            </a:extLst>
          </p:cNvPr>
          <p:cNvSpPr/>
          <p:nvPr/>
        </p:nvSpPr>
        <p:spPr>
          <a:xfrm>
            <a:off x="420759" y="408212"/>
            <a:ext cx="127155" cy="121059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F1404A6-E716-4D3B-B010-5F7894E8BE43}"/>
              </a:ext>
            </a:extLst>
          </p:cNvPr>
          <p:cNvSpPr txBox="1"/>
          <p:nvPr/>
        </p:nvSpPr>
        <p:spPr>
          <a:xfrm>
            <a:off x="1385672" y="4098584"/>
            <a:ext cx="106514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/>
              <a:t>Client</a:t>
            </a:r>
            <a:endParaRPr lang="ko-KR" altLang="en-US" sz="800" b="1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BB22664-7286-4AA0-92C8-3F47016BA850}"/>
              </a:ext>
            </a:extLst>
          </p:cNvPr>
          <p:cNvSpPr txBox="1"/>
          <p:nvPr/>
        </p:nvSpPr>
        <p:spPr>
          <a:xfrm>
            <a:off x="3078278" y="3670052"/>
            <a:ext cx="1739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Request</a:t>
            </a:r>
            <a:endParaRPr lang="ko-KR" altLang="en-US" sz="8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9FBCD9-79E4-4B15-B458-552C10B4F538}"/>
              </a:ext>
            </a:extLst>
          </p:cNvPr>
          <p:cNvSpPr txBox="1"/>
          <p:nvPr/>
        </p:nvSpPr>
        <p:spPr>
          <a:xfrm>
            <a:off x="4560291" y="4214278"/>
            <a:ext cx="508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</a:t>
            </a:r>
            <a:endParaRPr lang="ko-KR" altLang="en-US" sz="800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B71EE803-D086-4D2D-8C72-AC20D9C96552}"/>
              </a:ext>
            </a:extLst>
          </p:cNvPr>
          <p:cNvCxnSpPr>
            <a:cxnSpLocks/>
          </p:cNvCxnSpPr>
          <p:nvPr/>
        </p:nvCxnSpPr>
        <p:spPr>
          <a:xfrm flipV="1">
            <a:off x="5159632" y="3774932"/>
            <a:ext cx="317871" cy="141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DD76826-4F77-4BF7-83E6-85E8CD01AE25}"/>
              </a:ext>
            </a:extLst>
          </p:cNvPr>
          <p:cNvCxnSpPr>
            <a:cxnSpLocks/>
          </p:cNvCxnSpPr>
          <p:nvPr/>
        </p:nvCxnSpPr>
        <p:spPr>
          <a:xfrm>
            <a:off x="5150968" y="4211117"/>
            <a:ext cx="339804" cy="106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그림 38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2668650F-1498-4503-9573-885EE5A9A1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6613" y="3512028"/>
            <a:ext cx="658246" cy="257888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54114-4103-4ADF-9FFC-1F2F9B240307}"/>
              </a:ext>
            </a:extLst>
          </p:cNvPr>
          <p:cNvSpPr txBox="1"/>
          <p:nvPr/>
        </p:nvSpPr>
        <p:spPr>
          <a:xfrm>
            <a:off x="5581103" y="3748832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Port:8081</a:t>
            </a:r>
            <a:endParaRPr lang="ko-KR" altLang="en-US" sz="8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2F22E29-97C6-4671-B037-8480B316BFAA}"/>
              </a:ext>
            </a:extLst>
          </p:cNvPr>
          <p:cNvSpPr txBox="1"/>
          <p:nvPr/>
        </p:nvSpPr>
        <p:spPr>
          <a:xfrm>
            <a:off x="5592560" y="4339888"/>
            <a:ext cx="66926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Port:8082</a:t>
            </a:r>
            <a:endParaRPr lang="ko-KR" altLang="en-US" sz="800" dirty="0"/>
          </a:p>
        </p:txBody>
      </p:sp>
      <p:pic>
        <p:nvPicPr>
          <p:cNvPr id="60" name="그림 59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0D4FC6C2-CBCA-4E2D-B8DB-C7EFD3CBDC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3705" y="4117440"/>
            <a:ext cx="658246" cy="25788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DE8E5D85-A52B-4A5E-9538-2889ED495A5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8449" y="3173181"/>
            <a:ext cx="1024660" cy="677694"/>
          </a:xfrm>
          <a:prstGeom prst="rect">
            <a:avLst/>
          </a:prstGeom>
        </p:spPr>
      </p:pic>
      <p:pic>
        <p:nvPicPr>
          <p:cNvPr id="66" name="그림 65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BA8BFAB1-931D-4D23-9FA4-CDBDE4D078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2470" y="2350080"/>
            <a:ext cx="1585915" cy="817482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0D5709E1-EE24-4769-9A8C-BCDCC24BED7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0367" y="2922804"/>
            <a:ext cx="446432" cy="446432"/>
          </a:xfrm>
          <a:prstGeom prst="rect">
            <a:avLst/>
          </a:prstGeom>
        </p:spPr>
      </p:pic>
      <p:sp>
        <p:nvSpPr>
          <p:cNvPr id="70" name="TextBox 69">
            <a:extLst>
              <a:ext uri="{FF2B5EF4-FFF2-40B4-BE49-F238E27FC236}">
                <a16:creationId xmlns:a16="http://schemas.microsoft.com/office/drawing/2014/main" id="{B42B796F-908D-4572-BDB6-A40B8FC88166}"/>
              </a:ext>
            </a:extLst>
          </p:cNvPr>
          <p:cNvSpPr txBox="1"/>
          <p:nvPr/>
        </p:nvSpPr>
        <p:spPr>
          <a:xfrm>
            <a:off x="6392480" y="3311335"/>
            <a:ext cx="8822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err="1"/>
              <a:t>CodeDeploy</a:t>
            </a:r>
            <a:r>
              <a:rPr lang="en-US" altLang="ko-KR" sz="700" dirty="0"/>
              <a:t> Agent</a:t>
            </a:r>
            <a:endParaRPr lang="ko-KR" altLang="en-US" sz="700" dirty="0"/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ADF2ACAF-7C38-40AA-B8AC-FAC535C339E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8199" y="3970511"/>
            <a:ext cx="811685" cy="811685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9E36515-9DE3-434E-9499-A4F25F7099C9}"/>
              </a:ext>
            </a:extLst>
          </p:cNvPr>
          <p:cNvSpPr txBox="1"/>
          <p:nvPr/>
        </p:nvSpPr>
        <p:spPr>
          <a:xfrm>
            <a:off x="9747537" y="2649776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jar </a:t>
            </a:r>
            <a:r>
              <a:rPr lang="ko-KR" altLang="en-US" sz="800" dirty="0"/>
              <a:t>파일을 </a:t>
            </a:r>
            <a:r>
              <a:rPr lang="en-US" altLang="ko-KR" sz="800" dirty="0"/>
              <a:t>zip</a:t>
            </a:r>
            <a:r>
              <a:rPr lang="ko-KR" altLang="en-US" sz="800" dirty="0"/>
              <a:t>형태로 저장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4BE413B-7DA8-435D-A943-FD413A47EE25}"/>
              </a:ext>
            </a:extLst>
          </p:cNvPr>
          <p:cNvCxnSpPr>
            <a:cxnSpLocks/>
          </p:cNvCxnSpPr>
          <p:nvPr/>
        </p:nvCxnSpPr>
        <p:spPr>
          <a:xfrm flipH="1" flipV="1">
            <a:off x="9393255" y="2765577"/>
            <a:ext cx="1218720" cy="4350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90AE2914-6FB7-4FF5-B5C0-60FC24381A0C}"/>
              </a:ext>
            </a:extLst>
          </p:cNvPr>
          <p:cNvCxnSpPr>
            <a:cxnSpLocks/>
          </p:cNvCxnSpPr>
          <p:nvPr/>
        </p:nvCxnSpPr>
        <p:spPr>
          <a:xfrm flipH="1">
            <a:off x="9531007" y="3843707"/>
            <a:ext cx="1157660" cy="4703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903E4418-D9BC-4028-AB76-46AB6F4870A6}"/>
              </a:ext>
            </a:extLst>
          </p:cNvPr>
          <p:cNvSpPr txBox="1"/>
          <p:nvPr/>
        </p:nvSpPr>
        <p:spPr>
          <a:xfrm>
            <a:off x="9747537" y="4138662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과정 요청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EE316765-CDF4-41EC-BEB2-A999544271C9}"/>
              </a:ext>
            </a:extLst>
          </p:cNvPr>
          <p:cNvCxnSpPr>
            <a:cxnSpLocks/>
          </p:cNvCxnSpPr>
          <p:nvPr/>
        </p:nvCxnSpPr>
        <p:spPr>
          <a:xfrm flipH="1" flipV="1">
            <a:off x="7103212" y="3311335"/>
            <a:ext cx="1563669" cy="917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1F36704-BDB0-484B-85D1-AC4CE942CB47}"/>
              </a:ext>
            </a:extLst>
          </p:cNvPr>
          <p:cNvSpPr txBox="1"/>
          <p:nvPr/>
        </p:nvSpPr>
        <p:spPr>
          <a:xfrm>
            <a:off x="7094993" y="4022268"/>
            <a:ext cx="16793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배포 요청 전송</a:t>
            </a: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A03C7FCC-9381-40FA-A953-AA7FCD80F19A}"/>
              </a:ext>
            </a:extLst>
          </p:cNvPr>
          <p:cNvCxnSpPr>
            <a:cxnSpLocks/>
          </p:cNvCxnSpPr>
          <p:nvPr/>
        </p:nvCxnSpPr>
        <p:spPr>
          <a:xfrm flipV="1">
            <a:off x="7074414" y="2786986"/>
            <a:ext cx="1638880" cy="4095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CFB44AA8-77A0-4E6B-92BC-30D28DA863D2}"/>
              </a:ext>
            </a:extLst>
          </p:cNvPr>
          <p:cNvCxnSpPr>
            <a:cxnSpLocks/>
          </p:cNvCxnSpPr>
          <p:nvPr/>
        </p:nvCxnSpPr>
        <p:spPr>
          <a:xfrm flipH="1">
            <a:off x="7056799" y="2779837"/>
            <a:ext cx="1672517" cy="261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09A67DBD-C530-4F97-97D9-05E871B96E7E}"/>
              </a:ext>
            </a:extLst>
          </p:cNvPr>
          <p:cNvSpPr txBox="1"/>
          <p:nvPr/>
        </p:nvSpPr>
        <p:spPr>
          <a:xfrm>
            <a:off x="7095650" y="2524459"/>
            <a:ext cx="167939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 </a:t>
            </a:r>
            <a:r>
              <a:rPr lang="ko-KR" altLang="en-US" sz="800" dirty="0"/>
              <a:t>저장된 파일을 받아온 후</a:t>
            </a:r>
            <a:endParaRPr lang="en-US" altLang="ko-KR" sz="800" dirty="0"/>
          </a:p>
          <a:p>
            <a:pPr algn="ctr"/>
            <a:r>
              <a:rPr lang="ko-KR" altLang="en-US" sz="800" dirty="0"/>
              <a:t>빌드 및 배포 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3EFA7D26-162B-4E9D-9660-AE7DF98FA1AB}"/>
              </a:ext>
            </a:extLst>
          </p:cNvPr>
          <p:cNvSpPr/>
          <p:nvPr/>
        </p:nvSpPr>
        <p:spPr>
          <a:xfrm>
            <a:off x="9816792" y="2687504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740A9D6A-7EE4-430B-8F1C-945950BC8CA3}"/>
              </a:ext>
            </a:extLst>
          </p:cNvPr>
          <p:cNvSpPr/>
          <p:nvPr/>
        </p:nvSpPr>
        <p:spPr>
          <a:xfrm>
            <a:off x="10058029" y="4164102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FBE8150B-AD90-4F8A-8F0F-77F95C452D9E}"/>
              </a:ext>
            </a:extLst>
          </p:cNvPr>
          <p:cNvSpPr/>
          <p:nvPr/>
        </p:nvSpPr>
        <p:spPr>
          <a:xfrm>
            <a:off x="7410073" y="4057361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CDA4369C-36A3-4D41-B58C-A420D17F4A85}"/>
              </a:ext>
            </a:extLst>
          </p:cNvPr>
          <p:cNvSpPr/>
          <p:nvPr/>
        </p:nvSpPr>
        <p:spPr>
          <a:xfrm>
            <a:off x="7192851" y="2566536"/>
            <a:ext cx="143826" cy="156146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4103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72022" y="419343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532512" y="537744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491217" y="1786547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15CF2-3A3B-4F8B-9C52-C0298DE8C65D}"/>
              </a:ext>
            </a:extLst>
          </p:cNvPr>
          <p:cNvSpPr txBox="1"/>
          <p:nvPr/>
        </p:nvSpPr>
        <p:spPr>
          <a:xfrm>
            <a:off x="435378" y="1551081"/>
            <a:ext cx="5195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en-US" altLang="ko-KR" sz="1200" dirty="0"/>
              <a:t>‘</a:t>
            </a:r>
            <a:r>
              <a:rPr lang="ko-KR" altLang="en-US" sz="1200" dirty="0"/>
              <a:t>아는 사람 피하기</a:t>
            </a:r>
            <a:r>
              <a:rPr lang="en-US" altLang="ko-KR" sz="1200" dirty="0"/>
              <a:t>’ </a:t>
            </a:r>
            <a:r>
              <a:rPr lang="ko-KR" altLang="en-US" sz="1200" dirty="0"/>
              <a:t>기능을 사용할 경우 핸드폰에 저장되어 있는 지인은 추천 되지 않으며 나의 정보를 지인에게 노출시키지 않을 수 있습니다</a:t>
            </a:r>
            <a:r>
              <a:rPr lang="en-US" altLang="ko-KR" sz="1200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/>
          </a:p>
          <a:p>
            <a:pPr marL="171450" indent="-171450">
              <a:buFontTx/>
              <a:buChar char="-"/>
            </a:pPr>
            <a:r>
              <a:rPr lang="ko-KR" altLang="en-US" sz="1200" dirty="0"/>
              <a:t>비즈니스 로직 대부분은 아는 사람 피하기 기능과 관련되어 동작합니다</a:t>
            </a:r>
            <a:r>
              <a:rPr lang="en-US" altLang="ko-KR" sz="1200" dirty="0"/>
              <a:t>. </a:t>
            </a:r>
            <a:r>
              <a:rPr lang="ko-KR" altLang="en-US" sz="1200" dirty="0"/>
              <a:t>따라서 </a:t>
            </a:r>
            <a:r>
              <a:rPr lang="ko-KR" altLang="en-US" sz="1200" b="1" dirty="0"/>
              <a:t>속도를 빠르게 하기 위한 설계를 </a:t>
            </a:r>
            <a:r>
              <a:rPr lang="ko-KR" altLang="en-US" sz="1200" dirty="0"/>
              <a:t>하였습니다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2D062E-830E-467E-83F7-30CBDC897793}"/>
              </a:ext>
            </a:extLst>
          </p:cNvPr>
          <p:cNvSpPr txBox="1"/>
          <p:nvPr/>
        </p:nvSpPr>
        <p:spPr>
          <a:xfrm>
            <a:off x="435378" y="3321836"/>
            <a:ext cx="503647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400" b="1" dirty="0"/>
              <a:t>⨀ 시나리오 예시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순서</a:t>
            </a:r>
            <a:r>
              <a:rPr lang="en-US" altLang="ko-KR" sz="1400" b="1" dirty="0"/>
              <a:t>)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유저 </a:t>
            </a:r>
            <a:r>
              <a:rPr lang="en-US" altLang="ko-KR" sz="1200" dirty="0"/>
              <a:t>A</a:t>
            </a:r>
            <a:r>
              <a:rPr lang="ko-KR" altLang="en-US" sz="1200" dirty="0"/>
              <a:t>는</a:t>
            </a:r>
            <a:r>
              <a:rPr lang="en-US" altLang="ko-KR" sz="1200" dirty="0"/>
              <a:t>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번호를 가지고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번호를 모릅니다</a:t>
            </a:r>
            <a:r>
              <a:rPr lang="en-US" altLang="ko-KR" sz="1200" dirty="0"/>
              <a:t>. </a:t>
            </a:r>
            <a:r>
              <a:rPr lang="ko-KR" altLang="en-US" sz="1200" dirty="0"/>
              <a:t>이 때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피하기를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시간이 지나 유저 </a:t>
            </a:r>
            <a:r>
              <a:rPr lang="en-US" altLang="ko-KR" sz="1200" dirty="0"/>
              <a:t>B</a:t>
            </a:r>
            <a:r>
              <a:rPr lang="ko-KR" altLang="en-US" sz="1200" dirty="0"/>
              <a:t>가 아는 사람 피하기 기능을 신청합니다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r>
              <a:rPr lang="ko-KR" altLang="en-US" sz="1200" dirty="0"/>
              <a:t>이 과정 이후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가 아는 사람 피하기 기능을 취소하더라도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와 유저 </a:t>
            </a:r>
            <a:r>
              <a:rPr lang="en-US" altLang="ko-KR" sz="1200" dirty="0"/>
              <a:t>B</a:t>
            </a:r>
            <a:r>
              <a:rPr lang="ko-KR" altLang="en-US" sz="1200" dirty="0"/>
              <a:t>는 서로 추천되어서는 안됩니다</a:t>
            </a:r>
            <a:r>
              <a:rPr lang="en-US" altLang="ko-KR" sz="1200" dirty="0"/>
              <a:t>. B</a:t>
            </a:r>
            <a:r>
              <a:rPr lang="ko-KR" altLang="en-US" sz="1200" dirty="0"/>
              <a:t>는 여전히 아는 사람 피하기 기능을 사용하고 있고</a:t>
            </a:r>
            <a:r>
              <a:rPr lang="en-US" altLang="ko-KR" sz="1200" dirty="0"/>
              <a:t>, </a:t>
            </a:r>
            <a:r>
              <a:rPr lang="ko-KR" altLang="en-US" sz="1200" dirty="0"/>
              <a:t>비록 유저 </a:t>
            </a:r>
            <a:r>
              <a:rPr lang="en-US" altLang="ko-KR" sz="1200" dirty="0"/>
              <a:t>B</a:t>
            </a:r>
            <a:r>
              <a:rPr lang="ko-KR" altLang="en-US" sz="1200" dirty="0"/>
              <a:t>의 핸드폰에 유저 </a:t>
            </a:r>
            <a:r>
              <a:rPr lang="en-US" altLang="ko-KR" sz="1200" dirty="0"/>
              <a:t>A</a:t>
            </a:r>
            <a:r>
              <a:rPr lang="ko-KR" altLang="en-US" sz="1200" dirty="0"/>
              <a:t>의 번호가 없더라도 이전 과정을 통해서 두 사람이 아는 사이임을 알 수 있기 때문입니다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2EE488DC-F4FE-42BD-8412-1F89795D4F25}"/>
              </a:ext>
            </a:extLst>
          </p:cNvPr>
          <p:cNvCxnSpPr>
            <a:cxnSpLocks/>
          </p:cNvCxnSpPr>
          <p:nvPr/>
        </p:nvCxnSpPr>
        <p:spPr>
          <a:xfrm flipH="1">
            <a:off x="5919388" y="57529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D56DEBA-74EF-4BE0-9F3F-7A149550A0DC}"/>
              </a:ext>
            </a:extLst>
          </p:cNvPr>
          <p:cNvSpPr txBox="1"/>
          <p:nvPr/>
        </p:nvSpPr>
        <p:spPr>
          <a:xfrm>
            <a:off x="436667" y="1056860"/>
            <a:ext cx="5195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endParaRPr lang="en-US" altLang="ko-KR" sz="1200" dirty="0"/>
          </a:p>
          <a:p>
            <a:r>
              <a:rPr lang="en-US" altLang="ko-KR" sz="1200" dirty="0"/>
              <a:t>-  </a:t>
            </a:r>
            <a:r>
              <a:rPr lang="ko-KR" altLang="en-US" sz="1200" dirty="0"/>
              <a:t>매핑 테이블을 이용하여 비즈니스 요구사항을 풀어냈습니다</a:t>
            </a:r>
            <a:r>
              <a:rPr lang="en-US" altLang="ko-KR" sz="1200" dirty="0"/>
              <a:t>.</a:t>
            </a:r>
            <a:endParaRPr lang="en-US" altLang="ko-KR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BD43C3-1CD3-4330-9988-8A3864288A65}"/>
              </a:ext>
            </a:extLst>
          </p:cNvPr>
          <p:cNvSpPr txBox="1"/>
          <p:nvPr/>
        </p:nvSpPr>
        <p:spPr>
          <a:xfrm>
            <a:off x="6384654" y="917078"/>
            <a:ext cx="5573924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 </a:t>
            </a:r>
            <a:endParaRPr lang="en-US" altLang="ko-KR" sz="1200" dirty="0"/>
          </a:p>
          <a:p>
            <a:r>
              <a:rPr lang="ko-KR" altLang="en-US" sz="1400" b="1" dirty="0"/>
              <a:t>⨀ 지인 등록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ko-KR" altLang="en-US" sz="1200" dirty="0"/>
              <a:t>지인 등록은 두가지 상황에서 동작합니다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  </a:t>
            </a:r>
            <a:r>
              <a:rPr lang="en-US" altLang="ko-KR" sz="1200" dirty="0"/>
              <a:t>1)</a:t>
            </a:r>
            <a:r>
              <a:rPr lang="ko-KR" altLang="en-US" sz="1200" dirty="0"/>
              <a:t> 이미 가입한 유저가 아는 사람 피하기 기능을 요청할 때</a:t>
            </a:r>
            <a:endParaRPr lang="en-US" altLang="ko-KR" sz="1200" dirty="0"/>
          </a:p>
          <a:p>
            <a:r>
              <a:rPr lang="en-US" altLang="ko-KR" sz="1200" dirty="0"/>
              <a:t>  2) </a:t>
            </a:r>
            <a:r>
              <a:rPr lang="ko-KR" altLang="en-US" sz="1200" dirty="0"/>
              <a:t>새로운 유저가 가입할 때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1</a:t>
            </a:r>
            <a:r>
              <a:rPr lang="ko-KR" altLang="en-US" sz="1200" dirty="0"/>
              <a:t>번 상황에서 지인의 번호 목록을 통해 기존에 가입한 지인들을 파악하고</a:t>
            </a:r>
            <a:r>
              <a:rPr lang="en-US" altLang="ko-KR" sz="1200" dirty="0"/>
              <a:t>,</a:t>
            </a:r>
          </a:p>
          <a:p>
            <a:r>
              <a:rPr lang="en-US" altLang="ko-KR" sz="1200" dirty="0"/>
              <a:t>2</a:t>
            </a:r>
            <a:r>
              <a:rPr lang="ko-KR" altLang="en-US" sz="1200" dirty="0"/>
              <a:t>번 상황마다 미리 </a:t>
            </a:r>
            <a:r>
              <a:rPr lang="ko-KR" altLang="en-US" sz="1200" dirty="0" err="1"/>
              <a:t>등록해놓은</a:t>
            </a:r>
            <a:r>
              <a:rPr lang="ko-KR" altLang="en-US" sz="1200" dirty="0"/>
              <a:t> 번호를 이용하여 지인 여부를 판단한다면 모든 상황을 대처할 수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</p:txBody>
      </p:sp>
    </p:spTree>
    <p:extLst>
      <p:ext uri="{BB962C8B-B14F-4D97-AF65-F5344CB8AC3E}">
        <p14:creationId xmlns:p14="http://schemas.microsoft.com/office/powerpoint/2010/main" val="32424502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412139" y="50596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272629" y="62437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97C965-BC1A-49A6-8774-FBD81A10BD17}"/>
              </a:ext>
            </a:extLst>
          </p:cNvPr>
          <p:cNvSpPr txBox="1"/>
          <p:nvPr/>
        </p:nvSpPr>
        <p:spPr>
          <a:xfrm>
            <a:off x="568218" y="1594041"/>
            <a:ext cx="4771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endParaRPr lang="en-US" altLang="ko-KR" sz="900" dirty="0"/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894E1F-8DA6-41ED-9ADD-13B134F3F6E1}"/>
              </a:ext>
            </a:extLst>
          </p:cNvPr>
          <p:cNvSpPr txBox="1"/>
          <p:nvPr/>
        </p:nvSpPr>
        <p:spPr>
          <a:xfrm>
            <a:off x="537270" y="1511543"/>
            <a:ext cx="5848223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b="1" dirty="0"/>
          </a:p>
          <a:p>
            <a:r>
              <a:rPr lang="en-US" altLang="ko-KR" sz="1200" dirty="0"/>
              <a:t> </a:t>
            </a:r>
          </a:p>
          <a:p>
            <a:endParaRPr lang="en-US" altLang="ko-KR" sz="1200" dirty="0"/>
          </a:p>
          <a:p>
            <a:pPr marL="228600" indent="-228600">
              <a:buAutoNum type="arabicParenR"/>
            </a:pPr>
            <a:r>
              <a:rPr lang="en-US" altLang="ko-KR" sz="1200" b="1" dirty="0"/>
              <a:t>users </a:t>
            </a:r>
            <a:r>
              <a:rPr lang="ko-KR" altLang="en-US" sz="1200" b="1" dirty="0"/>
              <a:t>테이블에 기능 사용 여부 컬럼 추가</a:t>
            </a:r>
            <a:endParaRPr lang="en-US" altLang="ko-KR" sz="1200" b="1" dirty="0"/>
          </a:p>
          <a:p>
            <a:pPr marL="228600" indent="-228600">
              <a:buAutoNum type="arabicParenR"/>
            </a:pPr>
            <a:endParaRPr lang="en-US" altLang="ko-KR" sz="1200" dirty="0"/>
          </a:p>
          <a:p>
            <a:r>
              <a:rPr lang="en-US" altLang="ko-KR" sz="1200" dirty="0"/>
              <a:t> - ‘</a:t>
            </a:r>
            <a:r>
              <a:rPr lang="ko-KR" altLang="en-US" sz="1200" dirty="0"/>
              <a:t>아는 사람 피하기 기능</a:t>
            </a:r>
            <a:r>
              <a:rPr lang="en-US" altLang="ko-KR" sz="1200" dirty="0"/>
              <a:t>’</a:t>
            </a:r>
            <a:r>
              <a:rPr lang="ko-KR" altLang="en-US" sz="1200" dirty="0"/>
              <a:t> 사용 여부를 알려주는 컬럼이 추가됩니다</a:t>
            </a:r>
            <a:r>
              <a:rPr lang="en-US" altLang="ko-KR" sz="1200" dirty="0"/>
              <a:t>.</a:t>
            </a:r>
          </a:p>
          <a:p>
            <a:endParaRPr lang="en-US" altLang="ko-KR" sz="1000" dirty="0"/>
          </a:p>
          <a:p>
            <a:endParaRPr lang="en-US" altLang="ko-KR" sz="1000" dirty="0"/>
          </a:p>
          <a:p>
            <a:endParaRPr lang="en-US" altLang="ko-KR" sz="1200" dirty="0"/>
          </a:p>
          <a:p>
            <a:r>
              <a:rPr lang="en-US" altLang="ko-KR" sz="1200" b="1" dirty="0"/>
              <a:t>2) </a:t>
            </a:r>
            <a:r>
              <a:rPr lang="en-US" altLang="ko-KR" sz="1200" b="1" dirty="0" err="1"/>
              <a:t>acquaintance_phone_numbers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핸드폰에 등록된 번호 목록을 저장하는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</a:t>
            </a:r>
            <a:r>
              <a:rPr lang="ko-KR" altLang="en-US" sz="1200" dirty="0"/>
              <a:t> 테이블과 </a:t>
            </a:r>
            <a:r>
              <a:rPr lang="en-US" altLang="ko-KR" sz="1200" dirty="0"/>
              <a:t>1:N </a:t>
            </a:r>
            <a:r>
              <a:rPr lang="ko-KR" altLang="en-US" sz="1200" dirty="0"/>
              <a:t>관계입니다</a:t>
            </a:r>
            <a:r>
              <a:rPr lang="en-US" altLang="ko-KR" sz="1200" dirty="0"/>
              <a:t>.</a:t>
            </a:r>
            <a:endParaRPr lang="en-US" altLang="ko-KR" sz="1000" dirty="0"/>
          </a:p>
          <a:p>
            <a:endParaRPr lang="en-US" altLang="ko-KR" sz="1000" dirty="0"/>
          </a:p>
          <a:p>
            <a:pPr marL="171450" indent="-171450">
              <a:buFontTx/>
              <a:buChar char="-"/>
            </a:pPr>
            <a:endParaRPr lang="en-US" altLang="ko-KR" sz="1200" b="1" dirty="0"/>
          </a:p>
          <a:p>
            <a:r>
              <a:rPr lang="en-US" altLang="ko-KR" sz="1200" b="1" dirty="0"/>
              <a:t>3) </a:t>
            </a:r>
            <a:r>
              <a:rPr lang="en-US" altLang="ko-KR" sz="1200" b="1" dirty="0" err="1"/>
              <a:t>acquaintance_relations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테이블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매핑 테이블</a:t>
            </a:r>
            <a:r>
              <a:rPr lang="en-US" altLang="ko-KR" sz="1200" b="1" dirty="0"/>
              <a:t>)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아는 사람 관계를 미리 저장하여 로직 수행 시간을 단축하기 위한 테이블입니다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두 </a:t>
            </a:r>
            <a:r>
              <a:rPr lang="en-US" altLang="ko-KR" sz="1200" dirty="0"/>
              <a:t>user</a:t>
            </a:r>
            <a:r>
              <a:rPr lang="ko-KR" altLang="en-US" sz="1200" dirty="0"/>
              <a:t>가 아는 사이임을 나타냅니다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 - user </a:t>
            </a:r>
            <a:r>
              <a:rPr lang="ko-KR" altLang="en-US" sz="1200" dirty="0"/>
              <a:t>대 </a:t>
            </a:r>
            <a:r>
              <a:rPr lang="en-US" altLang="ko-KR" sz="1200" dirty="0"/>
              <a:t>user </a:t>
            </a:r>
            <a:r>
              <a:rPr lang="ko-KR" altLang="en-US" sz="1200" dirty="0"/>
              <a:t>의 </a:t>
            </a:r>
            <a:r>
              <a:rPr lang="en-US" altLang="ko-KR" sz="1200" dirty="0"/>
              <a:t>N:N </a:t>
            </a:r>
            <a:r>
              <a:rPr lang="ko-KR" altLang="en-US" sz="1200" dirty="0"/>
              <a:t>관계를 풀어냈습니다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5F784CE-BE7D-42F3-8CCC-9BEEE70BA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4383" y="4773321"/>
            <a:ext cx="5390185" cy="147706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BCD0B254-7476-4EA5-8E9A-9DA1626DAF47}"/>
              </a:ext>
            </a:extLst>
          </p:cNvPr>
          <p:cNvSpPr txBox="1"/>
          <p:nvPr/>
        </p:nvSpPr>
        <p:spPr>
          <a:xfrm>
            <a:off x="6701058" y="4300819"/>
            <a:ext cx="29017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예시</a:t>
            </a:r>
            <a:endParaRPr lang="en-US" altLang="ko-KR" sz="1400" b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CF35CA0-340C-4E09-A591-4F9454FE3B47}"/>
              </a:ext>
            </a:extLst>
          </p:cNvPr>
          <p:cNvSpPr txBox="1"/>
          <p:nvPr/>
        </p:nvSpPr>
        <p:spPr>
          <a:xfrm>
            <a:off x="349630" y="1381671"/>
            <a:ext cx="519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데이터 베이스 설계 </a:t>
            </a:r>
            <a:endParaRPr lang="en-US" altLang="ko-KR" sz="1400" b="1" dirty="0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591CDE29-B291-4EC9-B9BA-3F540A1FE283}"/>
              </a:ext>
            </a:extLst>
          </p:cNvPr>
          <p:cNvCxnSpPr>
            <a:cxnSpLocks/>
          </p:cNvCxnSpPr>
          <p:nvPr/>
        </p:nvCxnSpPr>
        <p:spPr>
          <a:xfrm flipH="1">
            <a:off x="6432590" y="0"/>
            <a:ext cx="17734" cy="685800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44F4F0F-B2E9-4DC2-BA50-7AFBB844CB10}"/>
              </a:ext>
            </a:extLst>
          </p:cNvPr>
          <p:cNvSpPr txBox="1"/>
          <p:nvPr/>
        </p:nvSpPr>
        <p:spPr>
          <a:xfrm>
            <a:off x="6856542" y="788673"/>
            <a:ext cx="5178026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b="1" dirty="0"/>
              <a:t>⨀ 지인 목록을 가져오는 경우 필요한 검색 조건 최소화</a:t>
            </a:r>
            <a:endParaRPr lang="en-US" altLang="ko-KR" sz="1400" b="1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dirty="0"/>
              <a:t>하나의 지인 관계를 하나의 </a:t>
            </a:r>
            <a:r>
              <a:rPr lang="en-US" altLang="ko-KR" sz="1200" dirty="0"/>
              <a:t>row</a:t>
            </a:r>
            <a:r>
              <a:rPr lang="ko-KR" altLang="en-US" sz="1200" dirty="0"/>
              <a:t>로 표현 하는 방법 대신 </a:t>
            </a:r>
            <a:r>
              <a:rPr lang="ko-KR" altLang="en-US" sz="1200" b="1" dirty="0"/>
              <a:t>두개의 </a:t>
            </a:r>
            <a:r>
              <a:rPr lang="en-US" altLang="ko-KR" sz="1200" b="1" dirty="0"/>
              <a:t>row</a:t>
            </a:r>
            <a:r>
              <a:rPr lang="ko-KR" altLang="en-US" sz="1200" b="1" dirty="0"/>
              <a:t>로 표현하여 검색 속도를 빠르게 하였습니다</a:t>
            </a:r>
            <a:r>
              <a:rPr lang="en-US" altLang="ko-KR" sz="1200" b="1" dirty="0"/>
              <a:t>.</a:t>
            </a:r>
          </a:p>
          <a:p>
            <a:r>
              <a:rPr lang="en-US" altLang="ko-KR" sz="1200" dirty="0"/>
              <a:t> </a:t>
            </a:r>
          </a:p>
          <a:p>
            <a:r>
              <a:rPr lang="en-US" altLang="ko-KR" sz="1200" dirty="0"/>
              <a:t> user A</a:t>
            </a:r>
            <a:r>
              <a:rPr lang="ko-KR" altLang="en-US" sz="1200" dirty="0"/>
              <a:t>와 </a:t>
            </a:r>
            <a:r>
              <a:rPr lang="en-US" altLang="ko-KR" sz="1200" dirty="0"/>
              <a:t>user B</a:t>
            </a:r>
            <a:r>
              <a:rPr lang="ko-KR" altLang="en-US" sz="1200" dirty="0"/>
              <a:t>가 지인이라면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만든 후 반대로 </a:t>
            </a:r>
            <a:r>
              <a:rPr lang="en-US" altLang="ko-KR" sz="1200" dirty="0"/>
              <a:t>user B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user_id</a:t>
            </a:r>
            <a:r>
              <a:rPr lang="ko-KR" altLang="en-US" sz="1200" dirty="0"/>
              <a:t>로 </a:t>
            </a:r>
            <a:r>
              <a:rPr lang="en-US" altLang="ko-KR" sz="1200" dirty="0"/>
              <a:t>user A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를 </a:t>
            </a:r>
            <a:r>
              <a:rPr lang="en-US" altLang="ko-KR" sz="1200" dirty="0" err="1"/>
              <a:t>target_user_id</a:t>
            </a:r>
            <a:r>
              <a:rPr lang="ko-KR" altLang="en-US" sz="1200" dirty="0"/>
              <a:t>로 하는 </a:t>
            </a:r>
            <a:r>
              <a:rPr lang="en-US" altLang="ko-KR" sz="1200" dirty="0"/>
              <a:t>row</a:t>
            </a:r>
            <a:r>
              <a:rPr lang="ko-KR" altLang="en-US" sz="1200" dirty="0"/>
              <a:t>를 추가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- </a:t>
            </a:r>
            <a:r>
              <a:rPr lang="ko-KR" altLang="en-US" sz="1200" b="1" dirty="0"/>
              <a:t>검색 조건이 되는 </a:t>
            </a:r>
            <a:r>
              <a:rPr lang="en-US" altLang="ko-KR" sz="1200" b="1" dirty="0"/>
              <a:t>column</a:t>
            </a:r>
            <a:r>
              <a:rPr lang="ko-KR" altLang="en-US" sz="1200" b="1" dirty="0"/>
              <a:t>을 하나의 컬럼</a:t>
            </a:r>
            <a:r>
              <a:rPr lang="en-US" altLang="ko-KR" sz="1200" dirty="0"/>
              <a:t>(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)</a:t>
            </a:r>
            <a:r>
              <a:rPr lang="ko-KR" altLang="en-US" sz="1200" dirty="0"/>
              <a:t>으로 한 후 </a:t>
            </a:r>
            <a:r>
              <a:rPr lang="en-US" altLang="ko-KR" sz="1200" b="1" dirty="0"/>
              <a:t>indexing</a:t>
            </a:r>
            <a:r>
              <a:rPr lang="ko-KR" altLang="en-US" sz="1200" dirty="0"/>
              <a:t>을 하는 방법을 선택했습니다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6274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769346" y="605701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아는 사람 피하기 기능</a:t>
            </a:r>
            <a:endParaRPr lang="en-US" altLang="ko-KR" b="1" dirty="0"/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36149" y="730002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6FB71C-A1A5-43BC-B879-61CC92F547DD}"/>
              </a:ext>
            </a:extLst>
          </p:cNvPr>
          <p:cNvSpPr txBox="1"/>
          <p:nvPr/>
        </p:nvSpPr>
        <p:spPr>
          <a:xfrm>
            <a:off x="861999" y="1461839"/>
            <a:ext cx="9306428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DB </a:t>
            </a:r>
            <a:r>
              <a:rPr lang="ko-KR" altLang="en-US" sz="1400" b="1" dirty="0"/>
              <a:t>인덱싱을 통한 속도 향상</a:t>
            </a:r>
            <a:endParaRPr lang="en-US" altLang="ko-KR" sz="1400" b="1" dirty="0"/>
          </a:p>
          <a:p>
            <a:endParaRPr lang="en-US" altLang="ko-KR" sz="1200" b="1" dirty="0"/>
          </a:p>
          <a:p>
            <a:r>
              <a:rPr lang="en-US" altLang="ko-KR" sz="1200" dirty="0"/>
              <a:t>  - </a:t>
            </a:r>
            <a:r>
              <a:rPr lang="en-US" altLang="ko-KR" sz="1200" dirty="0" err="1"/>
              <a:t>acquaintance_relations</a:t>
            </a:r>
            <a:r>
              <a:rPr lang="en-US" altLang="ko-KR" sz="1200" dirty="0"/>
              <a:t> </a:t>
            </a:r>
            <a:r>
              <a:rPr lang="ko-KR" altLang="en-US" sz="1200" dirty="0"/>
              <a:t>테이블의 </a:t>
            </a:r>
            <a:r>
              <a:rPr lang="en-US" altLang="ko-KR" sz="1200" dirty="0" err="1"/>
              <a:t>user_id</a:t>
            </a:r>
            <a:r>
              <a:rPr lang="en-US" altLang="ko-KR" sz="1200" dirty="0"/>
              <a:t> </a:t>
            </a:r>
            <a:r>
              <a:rPr lang="ko-KR" altLang="en-US" sz="1200" dirty="0"/>
              <a:t>컬럼에 </a:t>
            </a:r>
            <a:r>
              <a:rPr lang="en-US" altLang="ko-KR" sz="1200" dirty="0"/>
              <a:t>index</a:t>
            </a:r>
            <a:r>
              <a:rPr lang="ko-KR" altLang="en-US" sz="1200" dirty="0"/>
              <a:t>를 사용하여 서비스의 전체적인 로직 시간을 단축하였습니다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endParaRPr lang="en-US" altLang="ko-KR" sz="1200" b="1" dirty="0"/>
          </a:p>
          <a:p>
            <a:r>
              <a:rPr lang="ko-KR" altLang="en-US" sz="1400" b="1" dirty="0"/>
              <a:t>⨀ 인덱싱을 선택한 이유</a:t>
            </a:r>
            <a:endParaRPr lang="en-US" altLang="ko-KR" sz="1400" b="1" dirty="0"/>
          </a:p>
          <a:p>
            <a:endParaRPr lang="en-US" altLang="ko-KR" sz="1200" dirty="0"/>
          </a:p>
          <a:p>
            <a:r>
              <a:rPr lang="en-US" altLang="ko-KR" sz="1200" dirty="0"/>
              <a:t> 1) </a:t>
            </a:r>
            <a:r>
              <a:rPr lang="ko-KR" altLang="en-US" sz="1200" dirty="0"/>
              <a:t>개발적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 - </a:t>
            </a:r>
            <a:r>
              <a:rPr lang="ko-KR" altLang="en-US" sz="1200" dirty="0"/>
              <a:t>이성 추천</a:t>
            </a:r>
            <a:r>
              <a:rPr lang="en-US" altLang="ko-KR" sz="1200" dirty="0"/>
              <a:t>,</a:t>
            </a:r>
            <a:r>
              <a:rPr lang="ko-KR" altLang="en-US" sz="1200" dirty="0"/>
              <a:t> 게시물 리스트 조회 등 대부분의 비즈니스 로직에서 지인 여부를 확인해야 했고</a:t>
            </a:r>
            <a:r>
              <a:rPr lang="en-US" altLang="ko-KR" sz="1200" dirty="0"/>
              <a:t> </a:t>
            </a:r>
            <a:r>
              <a:rPr lang="ko-KR" altLang="en-US" sz="1200" dirty="0"/>
              <a:t>그에 따라 </a:t>
            </a:r>
            <a:r>
              <a:rPr lang="en-US" altLang="ko-KR" sz="1200" b="1" dirty="0"/>
              <a:t>select</a:t>
            </a:r>
            <a:r>
              <a:rPr lang="ko-KR" altLang="en-US" sz="1200" b="1" dirty="0"/>
              <a:t>문을 사용하는 경우가 </a:t>
            </a:r>
            <a:r>
              <a:rPr lang="en-US" altLang="ko-KR" sz="1200" b="1" dirty="0"/>
              <a:t>update, delete, insert</a:t>
            </a:r>
            <a:r>
              <a:rPr lang="ko-KR" altLang="en-US" sz="1200" b="1" dirty="0"/>
              <a:t>를 사용하는 경우보다 압도적으로 빈번</a:t>
            </a:r>
            <a:r>
              <a:rPr lang="ko-KR" altLang="en-US" sz="1200" dirty="0"/>
              <a:t>했기 때문입니다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2) UX</a:t>
            </a:r>
            <a:r>
              <a:rPr lang="ko-KR" altLang="en-US" sz="1200" dirty="0"/>
              <a:t>적 관점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200" dirty="0"/>
              <a:t>  - </a:t>
            </a:r>
            <a:r>
              <a:rPr lang="ko-KR" altLang="en-US" sz="1200" dirty="0"/>
              <a:t>사용자가 지인 번호를 등록 또는 삭제하는 경우 시간이 더 소요되는 것에 대해 불편함을 느끼는 것보다</a:t>
            </a:r>
            <a:r>
              <a:rPr lang="en-US" altLang="ko-KR" sz="1200" dirty="0"/>
              <a:t>, </a:t>
            </a:r>
            <a:r>
              <a:rPr lang="ko-KR" altLang="en-US" sz="1200" dirty="0"/>
              <a:t>제공하는 서비스가 전반적으로 빠르게 동작하는 것에 대해 더 큰 만족감을 느낀다고 판단하였습니다</a:t>
            </a:r>
            <a:r>
              <a:rPr lang="en-US" altLang="ko-KR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6389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3183A0-7D7F-4187-8267-CA1C64C3292F}"/>
              </a:ext>
            </a:extLst>
          </p:cNvPr>
          <p:cNvSpPr txBox="1"/>
          <p:nvPr/>
        </p:nvSpPr>
        <p:spPr>
          <a:xfrm>
            <a:off x="769346" y="678529"/>
            <a:ext cx="29017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 </a:t>
            </a:r>
            <a:r>
              <a:rPr lang="en-US" altLang="ko-KR" b="1" dirty="0"/>
              <a:t>CICD, </a:t>
            </a:r>
            <a:r>
              <a:rPr lang="ko-KR" altLang="en-US" b="1" dirty="0" err="1"/>
              <a:t>무중단</a:t>
            </a:r>
            <a:r>
              <a:rPr lang="ko-KR" altLang="en-US" b="1" dirty="0"/>
              <a:t> 배포</a:t>
            </a:r>
            <a:endParaRPr lang="en-US" altLang="ko-KR" b="1" dirty="0"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2598DB5E-12BF-464C-BABE-AAE203B9779F}"/>
              </a:ext>
            </a:extLst>
          </p:cNvPr>
          <p:cNvSpPr/>
          <p:nvPr/>
        </p:nvSpPr>
        <p:spPr>
          <a:xfrm>
            <a:off x="636149" y="802830"/>
            <a:ext cx="139510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03D032-E693-4434-8197-B391CE437843}"/>
              </a:ext>
            </a:extLst>
          </p:cNvPr>
          <p:cNvSpPr txBox="1"/>
          <p:nvPr/>
        </p:nvSpPr>
        <p:spPr>
          <a:xfrm>
            <a:off x="939002" y="1281877"/>
            <a:ext cx="48953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⨀ </a:t>
            </a:r>
            <a:r>
              <a:rPr lang="en-US" altLang="ko-KR" sz="1400" b="1" dirty="0"/>
              <a:t>CICD - </a:t>
            </a:r>
            <a:r>
              <a:rPr lang="en-US" altLang="ko-KR" sz="1400" b="1" dirty="0" err="1"/>
              <a:t>github</a:t>
            </a:r>
            <a:r>
              <a:rPr lang="en-US" altLang="ko-KR" sz="1400" b="1" dirty="0"/>
              <a:t> action, code deploy, s3</a:t>
            </a:r>
            <a:r>
              <a:rPr lang="ko-KR" altLang="en-US" sz="1400" b="1" dirty="0"/>
              <a:t>  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Nginx</a:t>
            </a:r>
            <a:r>
              <a:rPr lang="ko-KR" altLang="en-US" sz="1400" b="1" dirty="0"/>
              <a:t>를</a:t>
            </a:r>
            <a:r>
              <a:rPr lang="en-US" altLang="ko-KR" sz="1400" b="1" dirty="0"/>
              <a:t> </a:t>
            </a:r>
            <a:r>
              <a:rPr lang="ko-KR" altLang="en-US" sz="1400" b="1" dirty="0"/>
              <a:t>이용한 </a:t>
            </a:r>
            <a:r>
              <a:rPr lang="ko-KR" altLang="en-US" sz="1400" b="1" dirty="0" err="1"/>
              <a:t>무중단</a:t>
            </a:r>
            <a:r>
              <a:rPr lang="ko-KR" altLang="en-US" sz="1400" b="1" dirty="0"/>
              <a:t> 배포 </a:t>
            </a:r>
            <a:r>
              <a:rPr lang="en-US" altLang="ko-KR" sz="1400" b="1" dirty="0"/>
              <a:t>(</a:t>
            </a:r>
            <a:r>
              <a:rPr lang="ko-KR" altLang="en-US" sz="1400" b="1" dirty="0"/>
              <a:t>블루그린 방식</a:t>
            </a:r>
            <a:r>
              <a:rPr lang="en-US" altLang="ko-KR" sz="1400" b="1" dirty="0"/>
              <a:t>)</a:t>
            </a:r>
          </a:p>
          <a:p>
            <a:endParaRPr lang="en-US" altLang="ko-KR" sz="1400" b="1" dirty="0"/>
          </a:p>
          <a:p>
            <a:r>
              <a:rPr lang="en-US" altLang="ko-KR" sz="12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51950-0D47-F156-A8FC-40F01EC7641A}"/>
              </a:ext>
            </a:extLst>
          </p:cNvPr>
          <p:cNvSpPr txBox="1"/>
          <p:nvPr/>
        </p:nvSpPr>
        <p:spPr>
          <a:xfrm>
            <a:off x="775659" y="3365745"/>
            <a:ext cx="153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로그인 </a:t>
            </a:r>
            <a:endParaRPr lang="en-US" altLang="ko-KR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002B5F-2FF8-958A-30AC-20CE2664371F}"/>
              </a:ext>
            </a:extLst>
          </p:cNvPr>
          <p:cNvSpPr txBox="1"/>
          <p:nvPr/>
        </p:nvSpPr>
        <p:spPr>
          <a:xfrm>
            <a:off x="873420" y="3715177"/>
            <a:ext cx="9265704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ko-KR" altLang="en-US" sz="1400" b="1" dirty="0"/>
              <a:t>⨀ </a:t>
            </a:r>
            <a:r>
              <a:rPr lang="en-US" altLang="ko-KR" sz="1400" b="1" dirty="0"/>
              <a:t>JWT,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Argument Resolver </a:t>
            </a:r>
            <a:r>
              <a:rPr lang="ko-KR" altLang="en-US" sz="1400" b="1" dirty="0"/>
              <a:t>사용</a:t>
            </a:r>
            <a:r>
              <a:rPr lang="en-US" altLang="ko-KR" sz="1400" b="1" dirty="0"/>
              <a:t> </a:t>
            </a:r>
          </a:p>
          <a:p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300" dirty="0"/>
              <a:t> 1. </a:t>
            </a:r>
            <a:r>
              <a:rPr lang="ko-KR" altLang="en-US" sz="1300" dirty="0"/>
              <a:t>프로젝트 초기였기에 확장이 용이한 </a:t>
            </a:r>
            <a:r>
              <a:rPr lang="en-US" altLang="ko-KR" sz="1300" dirty="0" err="1"/>
              <a:t>jwt</a:t>
            </a:r>
            <a:r>
              <a:rPr lang="ko-KR" altLang="en-US" sz="1300" dirty="0"/>
              <a:t>를 선택했습니다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r>
              <a:rPr lang="en-US" altLang="ko-KR" sz="1300" dirty="0"/>
              <a:t> 2. Refresh Token</a:t>
            </a:r>
            <a:r>
              <a:rPr lang="ko-KR" altLang="en-US" sz="1300" dirty="0"/>
              <a:t>을 사용하여 자동 로그인 기능을 구현하였습니다</a:t>
            </a:r>
            <a:r>
              <a:rPr lang="en-US" altLang="ko-KR" sz="1300" dirty="0"/>
              <a:t>.</a:t>
            </a:r>
          </a:p>
          <a:p>
            <a:endParaRPr lang="en-US" altLang="ko-KR" sz="1300" dirty="0"/>
          </a:p>
          <a:p>
            <a:r>
              <a:rPr lang="en-US" altLang="ko-KR" sz="1300" dirty="0"/>
              <a:t> 3. </a:t>
            </a:r>
            <a:r>
              <a:rPr lang="ko-KR" altLang="en-US" sz="1300" dirty="0"/>
              <a:t>반복되는 코드를 줄이기 위해 </a:t>
            </a:r>
            <a:r>
              <a:rPr lang="en-US" altLang="ko-KR" sz="1300" dirty="0"/>
              <a:t>Spring</a:t>
            </a:r>
            <a:r>
              <a:rPr lang="ko-KR" altLang="en-US" sz="1300" dirty="0"/>
              <a:t>에서 제공하는 </a:t>
            </a:r>
            <a:r>
              <a:rPr lang="en-US" altLang="ko-KR" sz="1300" dirty="0"/>
              <a:t>Argument Resolver</a:t>
            </a:r>
            <a:r>
              <a:rPr lang="ko-KR" altLang="en-US" sz="1300" dirty="0"/>
              <a:t>를 사용하였습니다</a:t>
            </a:r>
            <a:r>
              <a:rPr lang="en-US" altLang="ko-KR" sz="1300" dirty="0"/>
              <a:t>.</a:t>
            </a: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BB03A69B-E374-2AC2-DD15-43A81B4F6DE8}"/>
              </a:ext>
            </a:extLst>
          </p:cNvPr>
          <p:cNvSpPr/>
          <p:nvPr/>
        </p:nvSpPr>
        <p:spPr>
          <a:xfrm>
            <a:off x="642462" y="349004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6900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572366"/>
            <a:ext cx="60778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Side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Project (</a:t>
            </a:r>
            <a:r>
              <a:rPr lang="ko-KR" alt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소규모 프로젝트</a:t>
            </a:r>
            <a:r>
              <a:rPr lang="en-US" altLang="ko-KR" sz="3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dirty="0"/>
              <a:t>프로젝트 명 </a:t>
            </a:r>
            <a:r>
              <a:rPr lang="en-US" altLang="ko-KR" sz="2200" dirty="0"/>
              <a:t>: </a:t>
            </a:r>
            <a:r>
              <a:rPr lang="ko-KR" altLang="en-US" sz="2200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681699" y="2838977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1077260" y="2688884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1098090" y="3058216"/>
            <a:ext cx="24653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2021. 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681698" y="3774001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1077260" y="357371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1077259" y="4013017"/>
            <a:ext cx="48330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 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Jpa</a:t>
            </a:r>
            <a:r>
              <a:rPr lang="en-US" altLang="ko-KR" sz="1400" dirty="0"/>
              <a:t>, MySQL, </a:t>
            </a:r>
            <a:r>
              <a:rPr lang="en-US" altLang="ko-KR" sz="1400" dirty="0" err="1"/>
              <a:t>Jsoup</a:t>
            </a:r>
            <a:r>
              <a:rPr lang="ko-KR" altLang="en-US" sz="1400" dirty="0"/>
              <a:t>라이브러리</a:t>
            </a:r>
            <a:endParaRPr lang="en-US" altLang="ko-KR" sz="1400" dirty="0"/>
          </a:p>
          <a:p>
            <a:r>
              <a:rPr lang="en-US" altLang="ko-KR" sz="1400" dirty="0"/>
              <a:t>- </a:t>
            </a:r>
            <a:r>
              <a:rPr lang="en-US" altLang="ko-KR" sz="1400" dirty="0" err="1"/>
              <a:t>Github</a:t>
            </a:r>
            <a:r>
              <a:rPr lang="en-US" altLang="ko-KR" sz="1400" dirty="0"/>
              <a:t> Action, Code Deploy, S3, Nginx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681697" y="5268725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1098091" y="510599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1077260" y="5538869"/>
            <a:ext cx="4833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1. </a:t>
            </a:r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6417521" y="2843564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812307" y="2719428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833138" y="3218923"/>
            <a:ext cx="47375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자동화를 통한 </a:t>
            </a:r>
            <a:r>
              <a:rPr lang="ko-KR" altLang="en-US" sz="1200" b="1" dirty="0"/>
              <a:t>성능 개선</a:t>
            </a:r>
            <a:endParaRPr lang="en-US" altLang="ko-KR" sz="1200" b="1" dirty="0"/>
          </a:p>
          <a:p>
            <a:endParaRPr lang="en-US" altLang="ko-KR" sz="1200" dirty="0"/>
          </a:p>
          <a:p>
            <a:r>
              <a:rPr lang="ko-KR" altLang="en-US" sz="1200" dirty="0"/>
              <a:t>⨀ 서비스 기획 </a:t>
            </a:r>
            <a:r>
              <a:rPr lang="en-US" altLang="ko-KR" sz="1200" dirty="0"/>
              <a:t>~ </a:t>
            </a:r>
            <a:r>
              <a:rPr lang="ko-KR" altLang="en-US" sz="1200" dirty="0"/>
              <a:t>배포 모든 과정 참여</a:t>
            </a:r>
            <a:endParaRPr lang="en-US" altLang="ko-KR" sz="1200" dirty="0"/>
          </a:p>
          <a:p>
            <a:endParaRPr lang="en-US" altLang="ko-K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2000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E496C3E9-755C-4066-9165-4E8051C47E2D}"/>
              </a:ext>
            </a:extLst>
          </p:cNvPr>
          <p:cNvSpPr/>
          <p:nvPr/>
        </p:nvSpPr>
        <p:spPr>
          <a:xfrm>
            <a:off x="6417521" y="4637192"/>
            <a:ext cx="133449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D3B1500-AEC2-4D57-9B5A-677112BE2866}"/>
              </a:ext>
            </a:extLst>
          </p:cNvPr>
          <p:cNvSpPr txBox="1"/>
          <p:nvPr/>
        </p:nvSpPr>
        <p:spPr>
          <a:xfrm>
            <a:off x="6816215" y="4549415"/>
            <a:ext cx="2509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/>
              <a:t>깃허브</a:t>
            </a:r>
            <a:r>
              <a:rPr lang="en-US" altLang="ko-KR" b="1" dirty="0"/>
              <a:t> </a:t>
            </a:r>
            <a:r>
              <a:rPr lang="ko-KR" altLang="en-US" sz="1200" dirty="0">
                <a:hlinkClick r:id="rId3"/>
              </a:rPr>
              <a:t>링크</a:t>
            </a:r>
            <a:endParaRPr lang="en-US" altLang="ko-KR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1A9CA9-3DD8-4EA1-85AA-C825A52810D8}"/>
              </a:ext>
            </a:extLst>
          </p:cNvPr>
          <p:cNvSpPr txBox="1"/>
          <p:nvPr/>
        </p:nvSpPr>
        <p:spPr>
          <a:xfrm>
            <a:off x="6813082" y="4937992"/>
            <a:ext cx="47584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URL</a:t>
            </a:r>
            <a:r>
              <a:rPr lang="ko-KR" altLang="en-US" sz="1400" dirty="0"/>
              <a:t> </a:t>
            </a:r>
            <a:r>
              <a:rPr lang="en-US" altLang="ko-KR" sz="1400" dirty="0"/>
              <a:t>: </a:t>
            </a:r>
            <a:r>
              <a:rPr lang="ko-KR" altLang="en-US" sz="1400" dirty="0"/>
              <a:t>https://github.com/ohjinhokor/SoongsilHaksik</a:t>
            </a:r>
          </a:p>
        </p:txBody>
      </p:sp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489617" y="84770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704770" y="72357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6771" y="1176953"/>
            <a:ext cx="57668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</a:t>
            </a:r>
            <a:r>
              <a:rPr lang="ko-KR" altLang="en-US" sz="1200" b="1" dirty="0"/>
              <a:t> 학교 웹사이트에서 학식 데이터를 추출한 후 </a:t>
            </a:r>
            <a:r>
              <a:rPr lang="en-US" altLang="ko-KR" sz="1200" b="1" dirty="0"/>
              <a:t>response</a:t>
            </a:r>
            <a:r>
              <a:rPr lang="ko-KR" altLang="en-US" sz="1200" b="1" dirty="0" err="1"/>
              <a:t>를</a:t>
            </a:r>
            <a:r>
              <a:rPr lang="ko-KR" altLang="en-US" sz="1200" b="1" dirty="0"/>
              <a:t> 제공</a:t>
            </a:r>
            <a:endParaRPr lang="en-US" altLang="ko-KR" sz="1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40775" y="3259943"/>
            <a:ext cx="5766807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문제가 되었던 부분</a:t>
            </a:r>
            <a:r>
              <a:rPr lang="en-US" altLang="ko-KR" sz="1200" dirty="0"/>
              <a:t>: </a:t>
            </a:r>
            <a:r>
              <a:rPr lang="ko-KR" altLang="en-US" sz="1200" dirty="0"/>
              <a:t>요청이 들어올 때마다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하기 때문에 속도가 느림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&lt;</a:t>
            </a:r>
            <a:r>
              <a:rPr lang="ko-KR" altLang="en-US" sz="1400" b="1" dirty="0">
                <a:solidFill>
                  <a:schemeClr val="accent1">
                    <a:lumMod val="75000"/>
                  </a:schemeClr>
                </a:solidFill>
              </a:rPr>
              <a:t>해결 방안</a:t>
            </a:r>
            <a:r>
              <a:rPr lang="en-US" altLang="ko-KR" sz="1400" b="1" dirty="0">
                <a:solidFill>
                  <a:schemeClr val="accent1">
                    <a:lumMod val="75000"/>
                  </a:schemeClr>
                </a:solidFill>
              </a:rPr>
              <a:t>&gt;</a:t>
            </a:r>
          </a:p>
          <a:p>
            <a:endParaRPr lang="en-US" altLang="ko-KR" sz="1400" b="1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저장해 놓은 데이터를 반환 함</a:t>
            </a:r>
            <a:endParaRPr lang="en-US" altLang="ko-KR" sz="16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20BE13-55BC-49E5-94D9-15A72C52B0D7}"/>
              </a:ext>
            </a:extLst>
          </p:cNvPr>
          <p:cNvSpPr txBox="1"/>
          <p:nvPr/>
        </p:nvSpPr>
        <p:spPr>
          <a:xfrm>
            <a:off x="383548" y="5623136"/>
            <a:ext cx="592493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/>
              <a:t>&lt;</a:t>
            </a:r>
            <a:r>
              <a:rPr lang="ko-KR" altLang="en-US" sz="1600" b="1" dirty="0" err="1"/>
              <a:t>리팩토링</a:t>
            </a:r>
            <a:r>
              <a:rPr lang="ko-KR" altLang="en-US" sz="1600" b="1" dirty="0"/>
              <a:t> 결과</a:t>
            </a:r>
            <a:r>
              <a:rPr lang="en-US" altLang="ko-KR" sz="1600" b="1" dirty="0"/>
              <a:t>&gt; </a:t>
            </a:r>
            <a:r>
              <a:rPr lang="ko-KR" altLang="en-US" sz="1600" b="1" dirty="0"/>
              <a:t>수행 시간이 </a:t>
            </a:r>
            <a:r>
              <a:rPr lang="en-US" altLang="ko-KR" sz="1600" b="1" dirty="0"/>
              <a:t>1561ms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-&gt; 213ms</a:t>
            </a:r>
            <a:r>
              <a:rPr lang="ko-KR" altLang="en-US" sz="1600" b="1" dirty="0"/>
              <a:t>로 줄어드는</a:t>
            </a:r>
            <a:endParaRPr lang="en-US" altLang="ko-KR" sz="1600" b="1" dirty="0"/>
          </a:p>
          <a:p>
            <a:r>
              <a:rPr lang="ko-KR" altLang="en-US" sz="1600" b="1" dirty="0"/>
              <a:t> 성능 향상을 보였습니다</a:t>
            </a:r>
            <a:endParaRPr lang="en-US" altLang="ko-KR" sz="1600" b="1" dirty="0"/>
          </a:p>
        </p:txBody>
      </p:sp>
      <p:sp>
        <p:nvSpPr>
          <p:cNvPr id="34" name="object 6">
            <a:extLst>
              <a:ext uri="{FF2B5EF4-FFF2-40B4-BE49-F238E27FC236}">
                <a16:creationId xmlns:a16="http://schemas.microsoft.com/office/drawing/2014/main" id="{EE2D5205-5704-24C7-A999-863AF9838410}"/>
              </a:ext>
            </a:extLst>
          </p:cNvPr>
          <p:cNvSpPr/>
          <p:nvPr/>
        </p:nvSpPr>
        <p:spPr>
          <a:xfrm>
            <a:off x="480792" y="289772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B78F2D3-5790-0356-C8FC-DBF70EDC9A13}"/>
              </a:ext>
            </a:extLst>
          </p:cNvPr>
          <p:cNvSpPr txBox="1"/>
          <p:nvPr/>
        </p:nvSpPr>
        <p:spPr>
          <a:xfrm>
            <a:off x="695945" y="2773592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트러블 슈팅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수행 시간 단축</a:t>
            </a:r>
            <a:r>
              <a:rPr lang="en-US" altLang="ko-KR" sz="18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5820</TotalTime>
  <Words>1776</Words>
  <Application>Microsoft Macintosh PowerPoint</Application>
  <PresentationFormat>와이드스크린</PresentationFormat>
  <Paragraphs>360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오진호</cp:lastModifiedBy>
  <cp:revision>446</cp:revision>
  <dcterms:created xsi:type="dcterms:W3CDTF">2021-09-02T08:00:50Z</dcterms:created>
  <dcterms:modified xsi:type="dcterms:W3CDTF">2022-07-12T13:08:11Z</dcterms:modified>
</cp:coreProperties>
</file>