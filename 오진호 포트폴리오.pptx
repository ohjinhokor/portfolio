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77" r:id="rId3"/>
    <p:sldId id="271" r:id="rId4"/>
    <p:sldId id="272" r:id="rId5"/>
    <p:sldId id="281" r:id="rId6"/>
    <p:sldId id="276" r:id="rId7"/>
    <p:sldId id="269" r:id="rId8"/>
    <p:sldId id="268" r:id="rId9"/>
    <p:sldId id="278" r:id="rId10"/>
    <p:sldId id="280" r:id="rId11"/>
    <p:sldId id="279" r:id="rId12"/>
    <p:sldId id="260" r:id="rId13"/>
    <p:sldId id="261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4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6" y="1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2022-05-01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</a:t>
            </a:r>
            <a:r>
              <a:rPr lang="ko-KR" altLang="en-US" sz="1100" dirty="0"/>
              <a:t>학점연계 인턴십</a:t>
            </a:r>
            <a:r>
              <a:rPr lang="en-US" altLang="ko-KR" sz="1100" dirty="0"/>
              <a:t>)</a:t>
            </a:r>
            <a:r>
              <a:rPr lang="ko-KR" altLang="en-US" sz="1100" dirty="0"/>
              <a:t>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</a:t>
            </a:r>
            <a:r>
              <a:rPr lang="en-US" altLang="ko-KR" sz="1100" dirty="0"/>
              <a:t>API </a:t>
            </a:r>
            <a:r>
              <a:rPr lang="ko-KR" altLang="en-US" sz="1100" dirty="0"/>
              <a:t>구현 및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782876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서비스의 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속도를 빠르게 하기 위한 설계를 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925696" y="66300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로그인 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771919" y="1427811"/>
            <a:ext cx="926570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세션 로그인 방법 대신 </a:t>
            </a:r>
            <a:r>
              <a:rPr lang="en-US" altLang="ko-KR" sz="1300" dirty="0"/>
              <a:t>JWT</a:t>
            </a:r>
            <a:r>
              <a:rPr lang="ko-KR" altLang="en-US" sz="1300" dirty="0"/>
              <a:t>를 사용하여 서버 구조가 쉽게 확장 되도록 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endParaRPr lang="en-US" altLang="ko-KR" sz="1300" dirty="0"/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interceptor</a:t>
            </a:r>
            <a:r>
              <a:rPr lang="ko-KR" altLang="en-US" sz="1200" dirty="0"/>
              <a:t>에서 </a:t>
            </a:r>
            <a:r>
              <a:rPr lang="en-US" altLang="ko-KR" sz="1200" dirty="0"/>
              <a:t>JWT</a:t>
            </a:r>
            <a:r>
              <a:rPr lang="ko-KR" altLang="en-US" sz="1200" dirty="0"/>
              <a:t>의 데이터를 추출하여 </a:t>
            </a:r>
            <a:r>
              <a:rPr lang="en-US" altLang="ko-KR" sz="1200" dirty="0" err="1"/>
              <a:t>HttpServletRequest</a:t>
            </a:r>
            <a:r>
              <a:rPr lang="ko-KR" altLang="en-US" sz="1200" dirty="0"/>
              <a:t>을 통해 컨트롤에 전달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Argument</a:t>
            </a:r>
            <a:r>
              <a:rPr lang="ko-KR" altLang="en-US" sz="1200" dirty="0"/>
              <a:t> </a:t>
            </a:r>
            <a:r>
              <a:rPr lang="en-US" altLang="ko-KR" sz="1200" dirty="0"/>
              <a:t>Resolver</a:t>
            </a:r>
            <a:r>
              <a:rPr lang="ko-KR" altLang="en-US" sz="1200" dirty="0"/>
              <a:t>를 사용하여 </a:t>
            </a:r>
            <a:r>
              <a:rPr lang="en-US" altLang="ko-KR" sz="1200" dirty="0"/>
              <a:t>Controller</a:t>
            </a:r>
            <a:r>
              <a:rPr lang="ko-KR" altLang="en-US" sz="1200" dirty="0"/>
              <a:t>에 반복되는 코드를 줄임 </a:t>
            </a:r>
            <a:endParaRPr lang="en-US" altLang="ko-KR" sz="1200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792499" y="78730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1924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589373"/>
            <a:ext cx="9306428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순서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s3</a:t>
            </a:r>
            <a:r>
              <a:rPr lang="ko-KR" altLang="en-US" sz="1400" b="1" dirty="0"/>
              <a:t>에 </a:t>
            </a:r>
            <a:r>
              <a:rPr lang="en-US" altLang="ko-KR" sz="1400" b="1" dirty="0"/>
              <a:t>jar</a:t>
            </a:r>
            <a:r>
              <a:rPr lang="ko-KR" altLang="en-US" sz="1400" b="1" dirty="0"/>
              <a:t>파일 업로드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 - code deploy</a:t>
            </a:r>
            <a:r>
              <a:rPr lang="ko-KR" altLang="en-US" sz="1400" b="1" dirty="0"/>
              <a:t>를 이용하여 덮어쓰기 후 </a:t>
            </a:r>
            <a:r>
              <a:rPr lang="en-US" altLang="ko-KR" sz="1400" b="1" dirty="0"/>
              <a:t>8081, 8082 </a:t>
            </a:r>
            <a:r>
              <a:rPr lang="ko-KR" altLang="en-US" sz="1400" b="1" dirty="0"/>
              <a:t>중 사용하지 않는 포트로 배포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400" b="1" dirty="0"/>
              <a:t>- Nginx</a:t>
            </a:r>
            <a:r>
              <a:rPr lang="ko-KR" altLang="en-US" sz="1400" b="1" dirty="0"/>
              <a:t> 리버스 프록시 포트 변경</a:t>
            </a:r>
            <a:endParaRPr lang="en-US" altLang="ko-KR" sz="1400" b="1" dirty="0"/>
          </a:p>
          <a:p>
            <a:r>
              <a:rPr lang="ko-KR" altLang="en-US" sz="1400" b="1" dirty="0"/>
              <a:t> </a:t>
            </a:r>
            <a:endParaRPr lang="en-US" altLang="ko-KR" sz="1200" dirty="0"/>
          </a:p>
          <a:p>
            <a:r>
              <a:rPr lang="en-US" altLang="ko-KR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1513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2984471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8260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6759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849506" y="39262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345735" y="3776196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366564" y="4168822"/>
            <a:ext cx="362153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 서버 </a:t>
            </a:r>
            <a:r>
              <a:rPr lang="en-US" altLang="ko-KR" sz="1100" dirty="0"/>
              <a:t>API </a:t>
            </a:r>
            <a:r>
              <a:rPr lang="ko-KR" altLang="en-US" sz="1100" dirty="0"/>
              <a:t>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00027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848098" y="27966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153140" y="26465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153140" y="3026440"/>
            <a:ext cx="25041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endParaRPr lang="en-US" altLang="ko-KR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7809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264000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중복 제거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다시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68307" y="3883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</a:t>
            </a:r>
            <a:r>
              <a:rPr lang="ko-KR" altLang="en-US" sz="1400" b="1"/>
              <a:t>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역직렬화가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22039" y="667976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캐싱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22370" y="1216642"/>
            <a:ext cx="1117101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 err="1"/>
              <a:t>memcached</a:t>
            </a:r>
            <a:r>
              <a:rPr lang="ko-KR" altLang="en-US" sz="1400" b="1" dirty="0"/>
              <a:t>를 이용한 </a:t>
            </a:r>
            <a:r>
              <a:rPr lang="ko-KR" altLang="en-US" sz="1400" b="1" dirty="0" err="1"/>
              <a:t>캐싱</a:t>
            </a:r>
            <a:endParaRPr lang="en-US" altLang="ko-KR" sz="1400" b="1" dirty="0"/>
          </a:p>
          <a:p>
            <a:endParaRPr lang="en-US" altLang="ko-KR" sz="14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단시간에 많은 요청이 예상되는 로직에 </a:t>
            </a:r>
            <a:r>
              <a:rPr lang="ko-KR" altLang="en-US" sz="1200" dirty="0" err="1"/>
              <a:t>캐싱을</a:t>
            </a:r>
            <a:r>
              <a:rPr lang="ko-KR" altLang="en-US" sz="1200" dirty="0"/>
              <a:t> 적용했습니다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DB</a:t>
            </a:r>
            <a:r>
              <a:rPr lang="ko-KR" altLang="en-US" sz="1200" dirty="0"/>
              <a:t>의 데이터가 변경되지 않는 로직이었기에</a:t>
            </a:r>
            <a:r>
              <a:rPr lang="en-US" altLang="ko-KR" sz="1200" dirty="0"/>
              <a:t> </a:t>
            </a:r>
            <a:r>
              <a:rPr lang="ko-KR" altLang="en-US" sz="1200" dirty="0"/>
              <a:t>데이터 정합성이 이슈가 되지 않았습니다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다른 인메모리 데이터 베이스보다 </a:t>
            </a:r>
            <a:r>
              <a:rPr lang="en-US" altLang="ko-KR" sz="1200" dirty="0" err="1"/>
              <a:t>memcached</a:t>
            </a:r>
            <a:r>
              <a:rPr lang="ko-KR" altLang="en-US" sz="1200" dirty="0"/>
              <a:t>가 적절하다고 판단하였습니다</a:t>
            </a:r>
            <a:r>
              <a:rPr lang="en-US" altLang="ko-KR" sz="1200" dirty="0"/>
              <a:t>.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88843" y="79227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C77245-E42C-435C-A054-4651C4671B97}"/>
              </a:ext>
            </a:extLst>
          </p:cNvPr>
          <p:cNvSpPr txBox="1"/>
          <p:nvPr/>
        </p:nvSpPr>
        <p:spPr>
          <a:xfrm>
            <a:off x="722037" y="3866713"/>
            <a:ext cx="3662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코드 </a:t>
            </a:r>
            <a:r>
              <a:rPr lang="ko-KR" altLang="en-US" b="1" dirty="0" err="1"/>
              <a:t>리팩토링</a:t>
            </a:r>
            <a:endParaRPr lang="en-US" altLang="ko-KR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1523E8-A352-4F9D-8E46-BC76EED9BB39}"/>
              </a:ext>
            </a:extLst>
          </p:cNvPr>
          <p:cNvSpPr txBox="1"/>
          <p:nvPr/>
        </p:nvSpPr>
        <p:spPr>
          <a:xfrm>
            <a:off x="822371" y="4234782"/>
            <a:ext cx="110939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부하 감소를 위해 하나의 요청이 실행 될 때마다 생기는 쿼리의 개수를 줄임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en-US" altLang="ko-KR" sz="1200" dirty="0"/>
              <a:t>   </a:t>
            </a:r>
            <a:r>
              <a:rPr lang="ko-KR" altLang="en-US" sz="1200" dirty="0"/>
              <a:t>기존 방법 </a:t>
            </a:r>
            <a:r>
              <a:rPr lang="en-US" altLang="ko-KR" sz="1200" dirty="0"/>
              <a:t>: For</a:t>
            </a:r>
            <a:r>
              <a:rPr lang="ko-KR" altLang="en-US" sz="1200" dirty="0"/>
              <a:t>문을 돌며 데이터를 </a:t>
            </a:r>
            <a:r>
              <a:rPr lang="en-US" altLang="ko-KR" sz="1200" dirty="0"/>
              <a:t>row</a:t>
            </a:r>
            <a:r>
              <a:rPr lang="ko-KR" altLang="en-US" sz="1200" dirty="0"/>
              <a:t>별로 받아오는 방식을 사용했고</a:t>
            </a:r>
            <a:r>
              <a:rPr lang="en-US" altLang="ko-KR" sz="1200" dirty="0"/>
              <a:t>, </a:t>
            </a:r>
            <a:r>
              <a:rPr lang="ko-KR" altLang="en-US" sz="1200" dirty="0"/>
              <a:t>이에 따라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커넥션이 많이 발생하여 서버의 부하가 큼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</a:t>
            </a:r>
            <a:r>
              <a:rPr lang="ko-KR" altLang="en-US" sz="1200" dirty="0" err="1"/>
              <a:t>리팩토링</a:t>
            </a:r>
            <a:r>
              <a:rPr lang="ko-KR" altLang="en-US" sz="1200" dirty="0"/>
              <a:t> </a:t>
            </a:r>
            <a:r>
              <a:rPr lang="en-US" altLang="ko-KR" sz="1200" dirty="0"/>
              <a:t>: Stream</a:t>
            </a:r>
            <a:r>
              <a:rPr lang="ko-KR" altLang="en-US" sz="1200" dirty="0"/>
              <a:t>을 활용하여 필요로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리스트로 한 번에 모아 쿼리를 </a:t>
            </a:r>
            <a:r>
              <a:rPr lang="ko-KR" altLang="en-US" sz="1200" dirty="0" err="1"/>
              <a:t>전송함으로서</a:t>
            </a:r>
            <a:r>
              <a:rPr lang="ko-KR" altLang="en-US" sz="1200" dirty="0"/>
              <a:t> </a:t>
            </a:r>
            <a:r>
              <a:rPr lang="en-US" altLang="ko-KR" sz="1200" dirty="0"/>
              <a:t>DB </a:t>
            </a:r>
            <a:r>
              <a:rPr lang="ko-KR" altLang="en-US" sz="1200" dirty="0"/>
              <a:t>커넥션을 감소시킴</a:t>
            </a:r>
            <a:endParaRPr lang="en-US" altLang="ko-KR" sz="1200" dirty="0"/>
          </a:p>
          <a:p>
            <a:endParaRPr lang="en-US" altLang="ko-KR" sz="1400" dirty="0"/>
          </a:p>
          <a:p>
            <a:endParaRPr lang="en-US" altLang="ko-KR" sz="1400" b="1" dirty="0"/>
          </a:p>
        </p:txBody>
      </p:sp>
      <p:sp>
        <p:nvSpPr>
          <p:cNvPr id="35" name="object 6">
            <a:extLst>
              <a:ext uri="{FF2B5EF4-FFF2-40B4-BE49-F238E27FC236}">
                <a16:creationId xmlns:a16="http://schemas.microsoft.com/office/drawing/2014/main" id="{ECF97475-7B77-4BFB-9D63-4AC76764C508}"/>
              </a:ext>
            </a:extLst>
          </p:cNvPr>
          <p:cNvSpPr/>
          <p:nvPr/>
        </p:nvSpPr>
        <p:spPr>
          <a:xfrm>
            <a:off x="588841" y="399101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714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Mysql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endParaRPr lang="en-US" altLang="ko-KR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244784" y="4096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459937" y="28553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371938" y="738917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317" y="335670"/>
            <a:ext cx="2196022" cy="2605156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7487" y="332327"/>
            <a:ext cx="2038830" cy="2605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4767" y="3406896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되었던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853341" y="237419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718635" y="2579303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2518BB9-A217-4D86-A3E5-CD1F3D284B15}"/>
              </a:ext>
            </a:extLst>
          </p:cNvPr>
          <p:cNvSpPr/>
          <p:nvPr/>
        </p:nvSpPr>
        <p:spPr>
          <a:xfrm>
            <a:off x="3675065" y="3444171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숭실대학교 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학식 사이트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B3380AB-AD99-4B35-9BC7-645D9AF76C17}"/>
              </a:ext>
            </a:extLst>
          </p:cNvPr>
          <p:cNvCxnSpPr>
            <a:cxnSpLocks/>
          </p:cNvCxnSpPr>
          <p:nvPr/>
        </p:nvCxnSpPr>
        <p:spPr>
          <a:xfrm flipV="1">
            <a:off x="2468199" y="3796904"/>
            <a:ext cx="1092629" cy="70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54E4DD-40D0-4E38-9EE5-1B217B06C71A}"/>
              </a:ext>
            </a:extLst>
          </p:cNvPr>
          <p:cNvSpPr txBox="1"/>
          <p:nvPr/>
        </p:nvSpPr>
        <p:spPr>
          <a:xfrm>
            <a:off x="1993751" y="3707416"/>
            <a:ext cx="14163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1. </a:t>
            </a:r>
            <a:r>
              <a:rPr lang="ko-KR" altLang="en-US" sz="800" dirty="0"/>
              <a:t>자정이 되면 해당 날짜의 학식 데이터를 </a:t>
            </a:r>
            <a:r>
              <a:rPr lang="ko-KR" altLang="en-US" sz="800" dirty="0" err="1"/>
              <a:t>크롤링</a:t>
            </a:r>
            <a:endParaRPr lang="ko-KR" altLang="en-US" sz="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BC16BF-EF36-48C6-BE8B-870889F153B4}"/>
              </a:ext>
            </a:extLst>
          </p:cNvPr>
          <p:cNvSpPr txBox="1"/>
          <p:nvPr/>
        </p:nvSpPr>
        <p:spPr>
          <a:xfrm>
            <a:off x="880885" y="3643920"/>
            <a:ext cx="8851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순서도</a:t>
            </a:r>
            <a:endParaRPr lang="en-US" altLang="ko-KR" sz="1400" b="1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28E8F128-C198-430C-9FA6-475B7590B0BA}"/>
              </a:ext>
            </a:extLst>
          </p:cNvPr>
          <p:cNvSpPr/>
          <p:nvPr/>
        </p:nvSpPr>
        <p:spPr>
          <a:xfrm>
            <a:off x="747688" y="3768221"/>
            <a:ext cx="113786" cy="9302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F48C2B-C763-4DB9-AE3F-19CDC12CC9BC}"/>
              </a:ext>
            </a:extLst>
          </p:cNvPr>
          <p:cNvSpPr/>
          <p:nvPr/>
        </p:nvSpPr>
        <p:spPr>
          <a:xfrm>
            <a:off x="1467876" y="4595798"/>
            <a:ext cx="1440074" cy="89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Server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F3225B4-0F2F-4242-B24F-FE0B81C3447F}"/>
              </a:ext>
            </a:extLst>
          </p:cNvPr>
          <p:cNvSpPr/>
          <p:nvPr/>
        </p:nvSpPr>
        <p:spPr>
          <a:xfrm>
            <a:off x="4635995" y="4431885"/>
            <a:ext cx="1157171" cy="95485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DB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68FC1645-17D7-4B6D-9452-D0AFB2F40BCA}"/>
              </a:ext>
            </a:extLst>
          </p:cNvPr>
          <p:cNvCxnSpPr>
            <a:cxnSpLocks/>
          </p:cNvCxnSpPr>
          <p:nvPr/>
        </p:nvCxnSpPr>
        <p:spPr>
          <a:xfrm>
            <a:off x="3014513" y="4705909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CEFD77-BE7B-4E16-ABFA-CFD7830DFE66}"/>
              </a:ext>
            </a:extLst>
          </p:cNvPr>
          <p:cNvSpPr txBox="1"/>
          <p:nvPr/>
        </p:nvSpPr>
        <p:spPr>
          <a:xfrm>
            <a:off x="3219614" y="4466821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2. </a:t>
            </a:r>
            <a:r>
              <a:rPr lang="ko-KR" altLang="en-US" sz="800" dirty="0"/>
              <a:t>학식 데이터 저장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A50BC5-F672-4FC4-9AED-743411B00FA6}"/>
              </a:ext>
            </a:extLst>
          </p:cNvPr>
          <p:cNvSpPr/>
          <p:nvPr/>
        </p:nvSpPr>
        <p:spPr>
          <a:xfrm>
            <a:off x="242241" y="5981798"/>
            <a:ext cx="1238465" cy="6374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Client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753177-2E9B-4414-8830-6BE2199BC645}"/>
              </a:ext>
            </a:extLst>
          </p:cNvPr>
          <p:cNvCxnSpPr>
            <a:cxnSpLocks/>
          </p:cNvCxnSpPr>
          <p:nvPr/>
        </p:nvCxnSpPr>
        <p:spPr>
          <a:xfrm flipV="1">
            <a:off x="580340" y="5226828"/>
            <a:ext cx="743131" cy="640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6D423B7-E165-43FC-BF05-A73AFAFD85D4}"/>
              </a:ext>
            </a:extLst>
          </p:cNvPr>
          <p:cNvSpPr txBox="1"/>
          <p:nvPr/>
        </p:nvSpPr>
        <p:spPr>
          <a:xfrm>
            <a:off x="63199" y="5279021"/>
            <a:ext cx="1127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3. </a:t>
            </a:r>
            <a:r>
              <a:rPr lang="ko-KR" altLang="en-US" sz="800" dirty="0"/>
              <a:t>학식 데이터 요청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D1F1630-41FA-4DD1-AF92-C101D0206764}"/>
              </a:ext>
            </a:extLst>
          </p:cNvPr>
          <p:cNvCxnSpPr>
            <a:cxnSpLocks/>
          </p:cNvCxnSpPr>
          <p:nvPr/>
        </p:nvCxnSpPr>
        <p:spPr>
          <a:xfrm>
            <a:off x="3024664" y="5071982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E71DBE-2187-4F3A-8E1A-A1D385369704}"/>
              </a:ext>
            </a:extLst>
          </p:cNvPr>
          <p:cNvSpPr txBox="1"/>
          <p:nvPr/>
        </p:nvSpPr>
        <p:spPr>
          <a:xfrm>
            <a:off x="3233178" y="4856538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4. </a:t>
            </a:r>
            <a:r>
              <a:rPr lang="ko-KR" altLang="en-US" sz="800" dirty="0"/>
              <a:t>학식 데이터 </a:t>
            </a:r>
            <a:r>
              <a:rPr lang="en-US" altLang="ko-KR" sz="800" dirty="0"/>
              <a:t>select</a:t>
            </a:r>
            <a:endParaRPr lang="ko-KR" altLang="en-US" sz="800" dirty="0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828667E0-BB6B-4E44-A105-69D772D08B13}"/>
              </a:ext>
            </a:extLst>
          </p:cNvPr>
          <p:cNvCxnSpPr/>
          <p:nvPr/>
        </p:nvCxnSpPr>
        <p:spPr>
          <a:xfrm flipH="1">
            <a:off x="3024664" y="5386743"/>
            <a:ext cx="14652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74C93D-B7A8-4FD5-91AD-8DC9A0C330D9}"/>
              </a:ext>
            </a:extLst>
          </p:cNvPr>
          <p:cNvSpPr txBox="1"/>
          <p:nvPr/>
        </p:nvSpPr>
        <p:spPr>
          <a:xfrm>
            <a:off x="3287318" y="5179704"/>
            <a:ext cx="14163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5. </a:t>
            </a:r>
            <a:r>
              <a:rPr lang="ko-KR" altLang="en-US" sz="800" dirty="0"/>
              <a:t>학식 데이터 전송 </a:t>
            </a:r>
          </a:p>
        </p:txBody>
      </p: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BFE034CB-AFE0-4529-A5D1-1492A8161455}"/>
              </a:ext>
            </a:extLst>
          </p:cNvPr>
          <p:cNvCxnSpPr>
            <a:cxnSpLocks/>
          </p:cNvCxnSpPr>
          <p:nvPr/>
        </p:nvCxnSpPr>
        <p:spPr>
          <a:xfrm flipH="1">
            <a:off x="1601006" y="5609576"/>
            <a:ext cx="544912" cy="528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D3116E5-6CB4-4A12-907A-3BC4AD5BF490}"/>
              </a:ext>
            </a:extLst>
          </p:cNvPr>
          <p:cNvSpPr txBox="1"/>
          <p:nvPr/>
        </p:nvSpPr>
        <p:spPr>
          <a:xfrm>
            <a:off x="1840613" y="5858411"/>
            <a:ext cx="1173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6. </a:t>
            </a:r>
            <a:r>
              <a:rPr lang="ko-KR" altLang="en-US" sz="800" dirty="0"/>
              <a:t>학식 데이터 전송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D578B79-6DDB-4C7A-812D-A903A43203B9}"/>
              </a:ext>
            </a:extLst>
          </p:cNvPr>
          <p:cNvCxnSpPr>
            <a:cxnSpLocks/>
          </p:cNvCxnSpPr>
          <p:nvPr/>
        </p:nvCxnSpPr>
        <p:spPr>
          <a:xfrm flipH="1">
            <a:off x="2558837" y="3884062"/>
            <a:ext cx="1016572" cy="663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6147540" y="5770089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5357</TotalTime>
  <Words>1589</Words>
  <Application>Microsoft Office PowerPoint</Application>
  <PresentationFormat>와이드스크린</PresentationFormat>
  <Paragraphs>314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349</cp:revision>
  <dcterms:created xsi:type="dcterms:W3CDTF">2021-09-02T08:00:50Z</dcterms:created>
  <dcterms:modified xsi:type="dcterms:W3CDTF">2022-04-30T16:12:32Z</dcterms:modified>
</cp:coreProperties>
</file>