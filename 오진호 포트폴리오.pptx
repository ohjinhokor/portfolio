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77" r:id="rId3"/>
    <p:sldId id="271" r:id="rId4"/>
    <p:sldId id="272" r:id="rId5"/>
    <p:sldId id="281" r:id="rId6"/>
    <p:sldId id="276" r:id="rId7"/>
    <p:sldId id="269" r:id="rId8"/>
    <p:sldId id="268" r:id="rId9"/>
    <p:sldId id="278" r:id="rId10"/>
    <p:sldId id="280" r:id="rId11"/>
    <p:sldId id="279" r:id="rId12"/>
    <p:sldId id="260" r:id="rId13"/>
    <p:sldId id="261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84" autoAdjust="0"/>
    <p:restoredTop sz="94660"/>
  </p:normalViewPr>
  <p:slideViewPr>
    <p:cSldViewPr snapToGrid="0">
      <p:cViewPr varScale="1">
        <p:scale>
          <a:sx n="66" d="100"/>
          <a:sy n="66" d="100"/>
        </p:scale>
        <p:origin x="72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antasy-ticket-2c3.notion.site/Be-st-Practice-Bepi-6eb9132dba294c6bac4b532fc273a13c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ohjinhokor" TargetMode="External"/><Relationship Id="rId4" Type="http://schemas.openxmlformats.org/officeDocument/2006/relationships/hyperlink" Target="mailto:ohjinho7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12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95204" y="4980220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803140" y="3189081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79" y="623815"/>
            <a:ext cx="56906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  </a:t>
            </a:r>
          </a:p>
          <a:p>
            <a:endParaRPr lang="en-US" altLang="ko-KR" sz="1600" dirty="0">
              <a:latin typeface="Arial Rounded MT Bold" panose="020F0704030504030204" pitchFamily="34" charset="0"/>
            </a:endParaRPr>
          </a:p>
          <a:p>
            <a:r>
              <a:rPr lang="ko-KR" altLang="en-US" sz="1600" dirty="0">
                <a:latin typeface="Arial Rounded MT Bold" panose="020F0704030504030204" pitchFamily="34" charset="0"/>
              </a:rPr>
              <a:t>더 좋은 방법을 고민하는 개발자 </a:t>
            </a:r>
            <a:r>
              <a:rPr lang="en-US" altLang="ko-KR" sz="1600" dirty="0" err="1">
                <a:latin typeface="Arial Rounded MT Bold" panose="020F0704030504030204" pitchFamily="34" charset="0"/>
              </a:rPr>
              <a:t>Bepi</a:t>
            </a:r>
            <a:r>
              <a:rPr lang="ko-KR" altLang="en-US" sz="1600" dirty="0">
                <a:latin typeface="Arial Rounded MT Bold" panose="020F0704030504030204" pitchFamily="34" charset="0"/>
              </a:rPr>
              <a:t>입니다</a:t>
            </a:r>
            <a:endParaRPr lang="en-US" altLang="ko-KR" sz="16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272330" y="5610278"/>
            <a:ext cx="385801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   </a:t>
            </a:r>
            <a:endParaRPr lang="en-US" altLang="ko-KR" sz="1100" b="1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Resume: </a:t>
            </a:r>
            <a:r>
              <a:rPr lang="ko-KR" altLang="en-US" sz="1100" dirty="0">
                <a:hlinkClick r:id="rId3"/>
              </a:rPr>
              <a:t>링크</a:t>
            </a:r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4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5"/>
              </a:rPr>
              <a:t>https://github.com/ohjinhokor</a:t>
            </a:r>
            <a:endParaRPr lang="en-US" altLang="ko-KR" sz="1100" dirty="0"/>
          </a:p>
          <a:p>
            <a:pPr algn="r"/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124991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17669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391508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95444D-8F9D-425E-8D71-6F757D1A70DC}"/>
              </a:ext>
            </a:extLst>
          </p:cNvPr>
          <p:cNvSpPr txBox="1"/>
          <p:nvPr/>
        </p:nvSpPr>
        <p:spPr>
          <a:xfrm>
            <a:off x="5800832" y="2711976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 err="1"/>
              <a:t>샵라이브</a:t>
            </a:r>
            <a:r>
              <a:rPr lang="ko-KR" altLang="en-US" sz="1100" dirty="0"/>
              <a:t> 코리아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</a:t>
            </a:r>
            <a:r>
              <a:rPr lang="ko-KR" altLang="en-US" sz="1100" dirty="0"/>
              <a:t>학점연계 인턴십</a:t>
            </a:r>
            <a:r>
              <a:rPr lang="en-US" altLang="ko-KR" sz="1100" dirty="0"/>
              <a:t>)</a:t>
            </a:r>
            <a:r>
              <a:rPr lang="ko-KR" altLang="en-US" sz="1100" dirty="0"/>
              <a:t> </a:t>
            </a:r>
            <a:r>
              <a:rPr lang="en-US" altLang="ko-KR" sz="1100" dirty="0"/>
              <a:t>(2022.03 ~ 2022.06)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CE5EC8-14B3-4915-9389-EE0F9D29C9B4}"/>
              </a:ext>
            </a:extLst>
          </p:cNvPr>
          <p:cNvSpPr txBox="1"/>
          <p:nvPr/>
        </p:nvSpPr>
        <p:spPr>
          <a:xfrm>
            <a:off x="5795204" y="4626275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학력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A6B76A-7240-4F37-96D3-DD897417E7B7}"/>
              </a:ext>
            </a:extLst>
          </p:cNvPr>
          <p:cNvSpPr txBox="1"/>
          <p:nvPr/>
        </p:nvSpPr>
        <p:spPr>
          <a:xfrm>
            <a:off x="5783580" y="2396679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49158-CF0F-4051-9153-867EC6C84947}"/>
              </a:ext>
            </a:extLst>
          </p:cNvPr>
          <p:cNvSpPr txBox="1"/>
          <p:nvPr/>
        </p:nvSpPr>
        <p:spPr>
          <a:xfrm>
            <a:off x="5783580" y="3598974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동아리 및 커뮤니티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F3775D8-2904-41BC-9A6A-F8862BF45D72}"/>
              </a:ext>
            </a:extLst>
          </p:cNvPr>
          <p:cNvCxnSpPr>
            <a:cxnSpLocks/>
          </p:cNvCxnSpPr>
          <p:nvPr/>
        </p:nvCxnSpPr>
        <p:spPr>
          <a:xfrm>
            <a:off x="5650302" y="5606058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FDD0120-1F58-41D2-A86C-0C75209B4B91}"/>
              </a:ext>
            </a:extLst>
          </p:cNvPr>
          <p:cNvSpPr txBox="1"/>
          <p:nvPr/>
        </p:nvSpPr>
        <p:spPr>
          <a:xfrm>
            <a:off x="5799080" y="2949377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스타트업 겨울방학 인턴십 </a:t>
            </a:r>
            <a:r>
              <a:rPr lang="en-US" altLang="ko-KR" sz="1100" dirty="0"/>
              <a:t>DINO-STUDIO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(2021.12 ~ 2022.02)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58601" y="453182"/>
            <a:ext cx="748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rial" panose="020B0604020202020204" pitchFamily="34" charset="0"/>
                <a:cs typeface="Arial" panose="020B0604020202020204" pitchFamily="34" charset="0"/>
              </a:rPr>
              <a:t>DINO STUDIO 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스타트업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05618" y="1878564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프로젝트 명 </a:t>
            </a:r>
            <a:r>
              <a:rPr lang="en-US" altLang="ko-KR" dirty="0"/>
              <a:t>: </a:t>
            </a:r>
            <a:r>
              <a:rPr lang="ko-KR" altLang="en-US" dirty="0"/>
              <a:t>하이엔드</a:t>
            </a:r>
            <a:r>
              <a:rPr lang="en-US" altLang="ko-KR" dirty="0"/>
              <a:t>(High-End)</a:t>
            </a:r>
            <a:endParaRPr lang="ko-KR" altLang="en-US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792649" y="295147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97691" y="280138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참여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118521" y="3170713"/>
            <a:ext cx="2769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12. 28 ~ 2022. 02. 28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7243355" y="260785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7548397" y="245775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7548397" y="2837668"/>
            <a:ext cx="38650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Querydsl</a:t>
            </a:r>
            <a:r>
              <a:rPr lang="en-US" altLang="ko-KR" sz="1400" dirty="0"/>
              <a:t>, MySQL</a:t>
            </a:r>
          </a:p>
          <a:p>
            <a:r>
              <a:rPr lang="en-US" altLang="ko-KR" sz="1400" dirty="0"/>
              <a:t>- EC2, RDS, S3, CloudFront</a:t>
            </a:r>
          </a:p>
          <a:p>
            <a:r>
              <a:rPr lang="en-US" altLang="ko-KR" sz="1400" dirty="0"/>
              <a:t>- </a:t>
            </a:r>
            <a:r>
              <a:rPr lang="en-US" altLang="ko-KR" sz="1400" dirty="0" err="1"/>
              <a:t>Github</a:t>
            </a:r>
            <a:r>
              <a:rPr lang="en-US" altLang="ko-KR" sz="1400" dirty="0"/>
              <a:t> Action, Code Deploy, S3, Nginx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792649" y="392540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71946" y="3775315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7243371" y="413606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415407" y="398597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436237" y="4407689"/>
            <a:ext cx="438017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⨀ </a:t>
            </a:r>
            <a:r>
              <a:rPr lang="en-US" altLang="ko-KR" sz="1100" dirty="0"/>
              <a:t>API </a:t>
            </a:r>
            <a:r>
              <a:rPr lang="ko-KR" altLang="en-US" sz="1100" dirty="0"/>
              <a:t>구현 및 비즈니스 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프로젝트 초기 인프라 구축 </a:t>
            </a:r>
            <a:r>
              <a:rPr lang="en-US" altLang="ko-KR" sz="1100" dirty="0"/>
              <a:t>– EC2, RDS, S3, CloudFront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Spring </a:t>
            </a:r>
            <a:r>
              <a:rPr lang="en-US" altLang="ko-KR" sz="1100" dirty="0" err="1"/>
              <a:t>WebClient</a:t>
            </a:r>
            <a:r>
              <a:rPr lang="ko-KR" altLang="en-US" sz="1100" dirty="0"/>
              <a:t>를 이용한 외부 </a:t>
            </a:r>
            <a:r>
              <a:rPr lang="en-US" altLang="ko-KR" sz="1100" dirty="0"/>
              <a:t>API</a:t>
            </a:r>
            <a:r>
              <a:rPr lang="ko-KR" altLang="en-US" sz="1100" dirty="0"/>
              <a:t>와의 통신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CI/CD</a:t>
            </a:r>
            <a:r>
              <a:rPr lang="ko-KR" altLang="en-US" sz="1100" dirty="0"/>
              <a:t>와 </a:t>
            </a:r>
            <a:r>
              <a:rPr lang="ko-KR" altLang="en-US" sz="1100" dirty="0" err="1"/>
              <a:t>무중단</a:t>
            </a:r>
            <a:r>
              <a:rPr lang="ko-KR" altLang="en-US" sz="1100" dirty="0"/>
              <a:t> 배포 </a:t>
            </a:r>
            <a:r>
              <a:rPr lang="en-US" altLang="ko-KR" sz="1100" dirty="0"/>
              <a:t>- </a:t>
            </a:r>
            <a:r>
              <a:rPr lang="en-US" altLang="ko-KR" sz="1100" dirty="0" err="1"/>
              <a:t>Github</a:t>
            </a:r>
            <a:r>
              <a:rPr lang="en-US" altLang="ko-KR" sz="1100" dirty="0"/>
              <a:t> Action, Code Deploy, S3, Nginx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스웨거를</a:t>
            </a:r>
            <a:r>
              <a:rPr lang="ko-KR" altLang="en-US" sz="1100" dirty="0"/>
              <a:t> 이용한 </a:t>
            </a:r>
            <a:r>
              <a:rPr lang="en-US" altLang="ko-KR" sz="1100" dirty="0"/>
              <a:t>API </a:t>
            </a:r>
            <a:r>
              <a:rPr lang="ko-KR" altLang="en-US" sz="1100" dirty="0"/>
              <a:t>문서 자동화 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18855" y="4194655"/>
            <a:ext cx="5408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남녀의 만남을 주선하는 소개팅 어플입니다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매일 새로운 이성을 추천합니다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설정에 따라 지인에게 내 정보가 노출되지 않도록 할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782876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8C0464AD-3790-4CC9-9053-57E7A97A5625}"/>
              </a:ext>
            </a:extLst>
          </p:cNvPr>
          <p:cNvSpPr/>
          <p:nvPr/>
        </p:nvSpPr>
        <p:spPr>
          <a:xfrm>
            <a:off x="4300630" y="2900737"/>
            <a:ext cx="2937950" cy="171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D7230D6-3102-46D1-BE37-7E8A853A34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670" y="3649428"/>
            <a:ext cx="853974" cy="57090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880CFB2-BA58-46B2-8B55-D798D3DD0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29" y="2786986"/>
            <a:ext cx="1682750" cy="152758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FD272B-72CA-452D-86F3-84BE21C584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49" y="751909"/>
            <a:ext cx="1213767" cy="10489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ADA086-C50C-4D13-9469-3C32C3C969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812" y="5463879"/>
            <a:ext cx="842160" cy="7711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CEE4584-9F76-44D4-B294-7F04B135A9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3413" y="2534274"/>
            <a:ext cx="726820" cy="777061"/>
          </a:xfrm>
          <a:prstGeom prst="rect">
            <a:avLst/>
          </a:prstGeom>
        </p:spPr>
      </p:pic>
      <p:pic>
        <p:nvPicPr>
          <p:cNvPr id="4" name="그림 3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ACCBE85-BEB1-4557-9F28-6BB685E86C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123" y="653243"/>
            <a:ext cx="1901945" cy="980384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13BC349-6ED3-426E-A8FD-8294867C9EA7}"/>
              </a:ext>
            </a:extLst>
          </p:cNvPr>
          <p:cNvCxnSpPr>
            <a:cxnSpLocks/>
          </p:cNvCxnSpPr>
          <p:nvPr/>
        </p:nvCxnSpPr>
        <p:spPr>
          <a:xfrm>
            <a:off x="2338918" y="3897038"/>
            <a:ext cx="21525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AB6D20D-C1BF-43B1-BEB8-F315878472F4}"/>
              </a:ext>
            </a:extLst>
          </p:cNvPr>
          <p:cNvCxnSpPr>
            <a:cxnSpLocks/>
          </p:cNvCxnSpPr>
          <p:nvPr/>
        </p:nvCxnSpPr>
        <p:spPr>
          <a:xfrm flipH="1" flipV="1">
            <a:off x="5727274" y="1514388"/>
            <a:ext cx="11053" cy="10329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4ADA31A-051D-4242-AB16-727D5A00FE40}"/>
              </a:ext>
            </a:extLst>
          </p:cNvPr>
          <p:cNvSpPr txBox="1"/>
          <p:nvPr/>
        </p:nvSpPr>
        <p:spPr>
          <a:xfrm>
            <a:off x="5736823" y="1961448"/>
            <a:ext cx="15113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저장 요청</a:t>
            </a: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0120EEE-87AC-4B52-8E02-6D2B325E4187}"/>
              </a:ext>
            </a:extLst>
          </p:cNvPr>
          <p:cNvCxnSpPr>
            <a:cxnSpLocks/>
          </p:cNvCxnSpPr>
          <p:nvPr/>
        </p:nvCxnSpPr>
        <p:spPr>
          <a:xfrm>
            <a:off x="3757143" y="1086897"/>
            <a:ext cx="1450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138F823-6B52-4725-A067-340F083B8228}"/>
              </a:ext>
            </a:extLst>
          </p:cNvPr>
          <p:cNvCxnSpPr>
            <a:cxnSpLocks/>
          </p:cNvCxnSpPr>
          <p:nvPr/>
        </p:nvCxnSpPr>
        <p:spPr>
          <a:xfrm>
            <a:off x="5630489" y="4740825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CCC8B95-BFBF-4791-9BAB-5BB10E113FC2}"/>
              </a:ext>
            </a:extLst>
          </p:cNvPr>
          <p:cNvCxnSpPr>
            <a:cxnSpLocks/>
          </p:cNvCxnSpPr>
          <p:nvPr/>
        </p:nvCxnSpPr>
        <p:spPr>
          <a:xfrm flipV="1">
            <a:off x="5867050" y="4739406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50D3A4-7E85-4793-87DF-7F69DE4C5364}"/>
              </a:ext>
            </a:extLst>
          </p:cNvPr>
          <p:cNvSpPr txBox="1"/>
          <p:nvPr/>
        </p:nvSpPr>
        <p:spPr>
          <a:xfrm>
            <a:off x="5196492" y="4967811"/>
            <a:ext cx="5084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CRUD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FB030E-21BE-451F-A3AB-E90418ABBE40}"/>
              </a:ext>
            </a:extLst>
          </p:cNvPr>
          <p:cNvSpPr txBox="1"/>
          <p:nvPr/>
        </p:nvSpPr>
        <p:spPr>
          <a:xfrm>
            <a:off x="5862581" y="4980251"/>
            <a:ext cx="7477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데이터 제공</a:t>
            </a:r>
            <a:endParaRPr lang="ko-KR" altLang="en-US" sz="8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2BCB56A-25FF-4DC0-98A5-D980E3E6B619}"/>
              </a:ext>
            </a:extLst>
          </p:cNvPr>
          <p:cNvCxnSpPr>
            <a:cxnSpLocks/>
          </p:cNvCxnSpPr>
          <p:nvPr/>
        </p:nvCxnSpPr>
        <p:spPr>
          <a:xfrm flipH="1">
            <a:off x="3734064" y="1448062"/>
            <a:ext cx="14504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8E68A65-84CA-4A76-A433-D4E9923DF8CF}"/>
              </a:ext>
            </a:extLst>
          </p:cNvPr>
          <p:cNvSpPr txBox="1"/>
          <p:nvPr/>
        </p:nvSpPr>
        <p:spPr>
          <a:xfrm>
            <a:off x="4127547" y="850931"/>
            <a:ext cx="11490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3215CE-062B-431D-A14B-396D6A0FFAEF}"/>
              </a:ext>
            </a:extLst>
          </p:cNvPr>
          <p:cNvSpPr txBox="1"/>
          <p:nvPr/>
        </p:nvSpPr>
        <p:spPr>
          <a:xfrm>
            <a:off x="4131650" y="1230597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제공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0C5A208-BBF2-4079-B615-8CDA55FF9DD6}"/>
              </a:ext>
            </a:extLst>
          </p:cNvPr>
          <p:cNvCxnSpPr>
            <a:cxnSpLocks/>
          </p:cNvCxnSpPr>
          <p:nvPr/>
        </p:nvCxnSpPr>
        <p:spPr>
          <a:xfrm flipV="1">
            <a:off x="1929108" y="1694265"/>
            <a:ext cx="815222" cy="1123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0567B36-AA95-4094-99CC-538597F7E02A}"/>
              </a:ext>
            </a:extLst>
          </p:cNvPr>
          <p:cNvCxnSpPr>
            <a:cxnSpLocks/>
          </p:cNvCxnSpPr>
          <p:nvPr/>
        </p:nvCxnSpPr>
        <p:spPr>
          <a:xfrm flipH="1">
            <a:off x="2073417" y="1806611"/>
            <a:ext cx="715619" cy="1011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F90489A-D6E7-461E-B574-A83A083621A3}"/>
              </a:ext>
            </a:extLst>
          </p:cNvPr>
          <p:cNvSpPr txBox="1"/>
          <p:nvPr/>
        </p:nvSpPr>
        <p:spPr>
          <a:xfrm>
            <a:off x="1654904" y="2134636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1A21E6-32E2-4FFC-B987-440175EB5A72}"/>
              </a:ext>
            </a:extLst>
          </p:cNvPr>
          <p:cNvSpPr txBox="1"/>
          <p:nvPr/>
        </p:nvSpPr>
        <p:spPr>
          <a:xfrm>
            <a:off x="2644044" y="1982699"/>
            <a:ext cx="1739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된 파일 제공</a:t>
            </a:r>
            <a:endParaRPr lang="en-US" altLang="ko-KR" sz="800" dirty="0"/>
          </a:p>
          <a:p>
            <a:r>
              <a:rPr lang="en-US" altLang="ko-KR" sz="800" dirty="0"/>
              <a:t>2)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되어있는 파일이 없을 경우 </a:t>
            </a:r>
            <a:r>
              <a:rPr lang="en-US" altLang="ko-KR" sz="800" dirty="0"/>
              <a:t>s3</a:t>
            </a:r>
            <a:r>
              <a:rPr lang="ko-KR" altLang="en-US" sz="800" dirty="0"/>
              <a:t>에 요청 후 제공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FB38C0-C2CB-4BC9-8576-35967547CAD4}"/>
              </a:ext>
            </a:extLst>
          </p:cNvPr>
          <p:cNvSpPr txBox="1"/>
          <p:nvPr/>
        </p:nvSpPr>
        <p:spPr>
          <a:xfrm>
            <a:off x="553957" y="283911"/>
            <a:ext cx="186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서버 구조도</a:t>
            </a:r>
            <a:endParaRPr lang="en-US" altLang="ko-KR" b="1" dirty="0"/>
          </a:p>
        </p:txBody>
      </p:sp>
      <p:sp>
        <p:nvSpPr>
          <p:cNvPr id="48" name="object 6">
            <a:extLst>
              <a:ext uri="{FF2B5EF4-FFF2-40B4-BE49-F238E27FC236}">
                <a16:creationId xmlns:a16="http://schemas.microsoft.com/office/drawing/2014/main" id="{5AB057B5-6CA2-42D4-9A59-9492C1D3C1D6}"/>
              </a:ext>
            </a:extLst>
          </p:cNvPr>
          <p:cNvSpPr/>
          <p:nvPr/>
        </p:nvSpPr>
        <p:spPr>
          <a:xfrm>
            <a:off x="420759" y="408212"/>
            <a:ext cx="127155" cy="12105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F1404A6-E716-4D3B-B010-5F7894E8BE43}"/>
              </a:ext>
            </a:extLst>
          </p:cNvPr>
          <p:cNvSpPr txBox="1"/>
          <p:nvPr/>
        </p:nvSpPr>
        <p:spPr>
          <a:xfrm>
            <a:off x="1385672" y="4098584"/>
            <a:ext cx="10651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Client</a:t>
            </a:r>
            <a:endParaRPr lang="ko-KR" altLang="en-US" sz="8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BB22664-7286-4AA0-92C8-3F47016BA850}"/>
              </a:ext>
            </a:extLst>
          </p:cNvPr>
          <p:cNvSpPr txBox="1"/>
          <p:nvPr/>
        </p:nvSpPr>
        <p:spPr>
          <a:xfrm>
            <a:off x="3078278" y="3670052"/>
            <a:ext cx="1739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Request</a:t>
            </a:r>
            <a:endParaRPr lang="ko-KR" altLang="en-US" sz="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9FBCD9-79E4-4B15-B458-552C10B4F538}"/>
              </a:ext>
            </a:extLst>
          </p:cNvPr>
          <p:cNvSpPr txBox="1"/>
          <p:nvPr/>
        </p:nvSpPr>
        <p:spPr>
          <a:xfrm>
            <a:off x="4560291" y="4214278"/>
            <a:ext cx="508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</a:t>
            </a:r>
            <a:endParaRPr lang="ko-KR" altLang="en-US" sz="800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71EE803-D086-4D2D-8C72-AC20D9C96552}"/>
              </a:ext>
            </a:extLst>
          </p:cNvPr>
          <p:cNvCxnSpPr>
            <a:cxnSpLocks/>
          </p:cNvCxnSpPr>
          <p:nvPr/>
        </p:nvCxnSpPr>
        <p:spPr>
          <a:xfrm flipV="1">
            <a:off x="5159632" y="3774932"/>
            <a:ext cx="317871" cy="141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DD76826-4F77-4BF7-83E6-85E8CD01AE25}"/>
              </a:ext>
            </a:extLst>
          </p:cNvPr>
          <p:cNvCxnSpPr>
            <a:cxnSpLocks/>
          </p:cNvCxnSpPr>
          <p:nvPr/>
        </p:nvCxnSpPr>
        <p:spPr>
          <a:xfrm>
            <a:off x="5150968" y="4211117"/>
            <a:ext cx="339804" cy="106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그림 3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2668650F-1498-4503-9573-885EE5A9A1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613" y="3512028"/>
            <a:ext cx="658246" cy="257888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54114-4103-4ADF-9FFC-1F2F9B240307}"/>
              </a:ext>
            </a:extLst>
          </p:cNvPr>
          <p:cNvSpPr txBox="1"/>
          <p:nvPr/>
        </p:nvSpPr>
        <p:spPr>
          <a:xfrm>
            <a:off x="5581103" y="3748832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Port:8081</a:t>
            </a:r>
            <a:endParaRPr lang="ko-KR" altLang="en-US" sz="8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F22E29-97C6-4671-B037-8480B316BFAA}"/>
              </a:ext>
            </a:extLst>
          </p:cNvPr>
          <p:cNvSpPr txBox="1"/>
          <p:nvPr/>
        </p:nvSpPr>
        <p:spPr>
          <a:xfrm>
            <a:off x="5592560" y="4339888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Port:8082</a:t>
            </a:r>
            <a:endParaRPr lang="ko-KR" altLang="en-US" sz="800" dirty="0"/>
          </a:p>
        </p:txBody>
      </p:sp>
      <p:pic>
        <p:nvPicPr>
          <p:cNvPr id="60" name="그림 59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0D4FC6C2-CBCA-4E2D-B8DB-C7EFD3CBDC3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3705" y="4117440"/>
            <a:ext cx="658246" cy="257888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DE8E5D85-A52B-4A5E-9538-2889ED495A5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8449" y="3173181"/>
            <a:ext cx="1024660" cy="677694"/>
          </a:xfrm>
          <a:prstGeom prst="rect">
            <a:avLst/>
          </a:prstGeom>
        </p:spPr>
      </p:pic>
      <p:pic>
        <p:nvPicPr>
          <p:cNvPr id="66" name="그림 65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BA8BFAB1-931D-4D23-9FA4-CDBDE4D07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470" y="2350080"/>
            <a:ext cx="1585915" cy="817482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0D5709E1-EE24-4769-9A8C-BCDCC24BED7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67" y="2922804"/>
            <a:ext cx="446432" cy="446432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B42B796F-908D-4572-BDB6-A40B8FC88166}"/>
              </a:ext>
            </a:extLst>
          </p:cNvPr>
          <p:cNvSpPr txBox="1"/>
          <p:nvPr/>
        </p:nvSpPr>
        <p:spPr>
          <a:xfrm>
            <a:off x="6392480" y="3311335"/>
            <a:ext cx="8822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dirty="0" err="1"/>
              <a:t>CodeDeploy</a:t>
            </a:r>
            <a:r>
              <a:rPr lang="en-US" altLang="ko-KR" sz="700" dirty="0"/>
              <a:t> Agent</a:t>
            </a:r>
            <a:endParaRPr lang="ko-KR" altLang="en-US" sz="700" dirty="0"/>
          </a:p>
        </p:txBody>
      </p:sp>
      <p:pic>
        <p:nvPicPr>
          <p:cNvPr id="74" name="그림 73">
            <a:extLst>
              <a:ext uri="{FF2B5EF4-FFF2-40B4-BE49-F238E27FC236}">
                <a16:creationId xmlns:a16="http://schemas.microsoft.com/office/drawing/2014/main" id="{ADF2ACAF-7C38-40AA-B8AC-FAC535C339E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199" y="3970511"/>
            <a:ext cx="811685" cy="811685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C9E36515-9DE3-434E-9499-A4F25F7099C9}"/>
              </a:ext>
            </a:extLst>
          </p:cNvPr>
          <p:cNvSpPr txBox="1"/>
          <p:nvPr/>
        </p:nvSpPr>
        <p:spPr>
          <a:xfrm>
            <a:off x="9747537" y="2649776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jar </a:t>
            </a:r>
            <a:r>
              <a:rPr lang="ko-KR" altLang="en-US" sz="800" dirty="0"/>
              <a:t>파일을 </a:t>
            </a:r>
            <a:r>
              <a:rPr lang="en-US" altLang="ko-KR" sz="800" dirty="0"/>
              <a:t>zip</a:t>
            </a:r>
            <a:r>
              <a:rPr lang="ko-KR" altLang="en-US" sz="800" dirty="0"/>
              <a:t>형태로 저장</a:t>
            </a: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94BE413B-7DA8-435D-A943-FD413A47EE25}"/>
              </a:ext>
            </a:extLst>
          </p:cNvPr>
          <p:cNvCxnSpPr>
            <a:cxnSpLocks/>
          </p:cNvCxnSpPr>
          <p:nvPr/>
        </p:nvCxnSpPr>
        <p:spPr>
          <a:xfrm flipH="1" flipV="1">
            <a:off x="9393255" y="2765577"/>
            <a:ext cx="1218720" cy="435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0AE2914-6FB7-4FF5-B5C0-60FC24381A0C}"/>
              </a:ext>
            </a:extLst>
          </p:cNvPr>
          <p:cNvCxnSpPr>
            <a:cxnSpLocks/>
          </p:cNvCxnSpPr>
          <p:nvPr/>
        </p:nvCxnSpPr>
        <p:spPr>
          <a:xfrm flipH="1">
            <a:off x="9531007" y="3843707"/>
            <a:ext cx="1157660" cy="470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903E4418-D9BC-4028-AB76-46AB6F4870A6}"/>
              </a:ext>
            </a:extLst>
          </p:cNvPr>
          <p:cNvSpPr txBox="1"/>
          <p:nvPr/>
        </p:nvSpPr>
        <p:spPr>
          <a:xfrm>
            <a:off x="9747537" y="4138662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과정 요청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316765-CDF4-41EC-BEB2-A999544271C9}"/>
              </a:ext>
            </a:extLst>
          </p:cNvPr>
          <p:cNvCxnSpPr>
            <a:cxnSpLocks/>
          </p:cNvCxnSpPr>
          <p:nvPr/>
        </p:nvCxnSpPr>
        <p:spPr>
          <a:xfrm flipH="1" flipV="1">
            <a:off x="7103212" y="3311335"/>
            <a:ext cx="1563669" cy="917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1F36704-BDB0-484B-85D1-AC4CE942CB47}"/>
              </a:ext>
            </a:extLst>
          </p:cNvPr>
          <p:cNvSpPr txBox="1"/>
          <p:nvPr/>
        </p:nvSpPr>
        <p:spPr>
          <a:xfrm>
            <a:off x="7094993" y="4022268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요청 전송</a:t>
            </a:r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A03C7FCC-9381-40FA-A953-AA7FCD80F19A}"/>
              </a:ext>
            </a:extLst>
          </p:cNvPr>
          <p:cNvCxnSpPr>
            <a:cxnSpLocks/>
          </p:cNvCxnSpPr>
          <p:nvPr/>
        </p:nvCxnSpPr>
        <p:spPr>
          <a:xfrm flipV="1">
            <a:off x="7074414" y="2786986"/>
            <a:ext cx="1638880" cy="4095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CFB44AA8-77A0-4E6B-92BC-30D28DA863D2}"/>
              </a:ext>
            </a:extLst>
          </p:cNvPr>
          <p:cNvCxnSpPr>
            <a:cxnSpLocks/>
          </p:cNvCxnSpPr>
          <p:nvPr/>
        </p:nvCxnSpPr>
        <p:spPr>
          <a:xfrm flipH="1">
            <a:off x="7056799" y="2779837"/>
            <a:ext cx="1672517" cy="261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09A67DBD-C530-4F97-97D9-05E871B96E7E}"/>
              </a:ext>
            </a:extLst>
          </p:cNvPr>
          <p:cNvSpPr txBox="1"/>
          <p:nvPr/>
        </p:nvSpPr>
        <p:spPr>
          <a:xfrm>
            <a:off x="7095650" y="2524459"/>
            <a:ext cx="16793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 </a:t>
            </a:r>
            <a:r>
              <a:rPr lang="ko-KR" altLang="en-US" sz="800" dirty="0"/>
              <a:t>저장된 파일을 받아온 후</a:t>
            </a:r>
            <a:endParaRPr lang="en-US" altLang="ko-KR" sz="800" dirty="0"/>
          </a:p>
          <a:p>
            <a:pPr algn="ctr"/>
            <a:r>
              <a:rPr lang="ko-KR" altLang="en-US" sz="800" dirty="0"/>
              <a:t>빌드 및 배포 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3EFA7D26-162B-4E9D-9660-AE7DF98FA1AB}"/>
              </a:ext>
            </a:extLst>
          </p:cNvPr>
          <p:cNvSpPr/>
          <p:nvPr/>
        </p:nvSpPr>
        <p:spPr>
          <a:xfrm>
            <a:off x="9816792" y="2687504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740A9D6A-7EE4-430B-8F1C-945950BC8CA3}"/>
              </a:ext>
            </a:extLst>
          </p:cNvPr>
          <p:cNvSpPr/>
          <p:nvPr/>
        </p:nvSpPr>
        <p:spPr>
          <a:xfrm>
            <a:off x="10058029" y="4164102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FBE8150B-AD90-4F8A-8F0F-77F95C452D9E}"/>
              </a:ext>
            </a:extLst>
          </p:cNvPr>
          <p:cNvSpPr/>
          <p:nvPr/>
        </p:nvSpPr>
        <p:spPr>
          <a:xfrm>
            <a:off x="7410073" y="4057361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CDA4369C-36A3-4D41-B58C-A420D17F4A85}"/>
              </a:ext>
            </a:extLst>
          </p:cNvPr>
          <p:cNvSpPr/>
          <p:nvPr/>
        </p:nvSpPr>
        <p:spPr>
          <a:xfrm>
            <a:off x="7192851" y="2566536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4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4103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72022" y="419343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32512" y="537744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491217" y="1786547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715CF2-3A3B-4F8B-9C52-C0298DE8C65D}"/>
              </a:ext>
            </a:extLst>
          </p:cNvPr>
          <p:cNvSpPr txBox="1"/>
          <p:nvPr/>
        </p:nvSpPr>
        <p:spPr>
          <a:xfrm>
            <a:off x="435378" y="1551081"/>
            <a:ext cx="51957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‘</a:t>
            </a:r>
            <a:r>
              <a:rPr lang="ko-KR" altLang="en-US" sz="1200" dirty="0"/>
              <a:t>아는 사람 피하기</a:t>
            </a:r>
            <a:r>
              <a:rPr lang="en-US" altLang="ko-KR" sz="1200" dirty="0"/>
              <a:t>’ </a:t>
            </a:r>
            <a:r>
              <a:rPr lang="ko-KR" altLang="en-US" sz="1200" dirty="0"/>
              <a:t>기능을 사용할 경우 핸드폰에 저장되어 있는 지인은 추천 되지 않으며 나의 정보를 지인에게 노출시키지 않을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서비스의 비즈니스 로직 대부분은 아는 사람 피하기 기능과 관련되어 동작합니다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속도를 빠르게 하기 위한 설계를 하였습니다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2D062E-830E-467E-83F7-30CBDC897793}"/>
              </a:ext>
            </a:extLst>
          </p:cNvPr>
          <p:cNvSpPr txBox="1"/>
          <p:nvPr/>
        </p:nvSpPr>
        <p:spPr>
          <a:xfrm>
            <a:off x="435378" y="3321836"/>
            <a:ext cx="503647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400" b="1" dirty="0"/>
              <a:t>⨀ 시나리오 예시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순서</a:t>
            </a:r>
            <a:r>
              <a:rPr lang="en-US" altLang="ko-KR" sz="1400" b="1" dirty="0"/>
              <a:t>)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유저 </a:t>
            </a:r>
            <a:r>
              <a:rPr lang="en-US" altLang="ko-KR" sz="1200" dirty="0"/>
              <a:t>A</a:t>
            </a:r>
            <a:r>
              <a:rPr lang="ko-KR" altLang="en-US" sz="1200" dirty="0"/>
              <a:t>는</a:t>
            </a:r>
            <a:r>
              <a:rPr lang="en-US" altLang="ko-KR" sz="1200" dirty="0"/>
              <a:t>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번호를 가지고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번호를 모릅니다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 때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피하기를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시간이 지나 유저 </a:t>
            </a:r>
            <a:r>
              <a:rPr lang="en-US" altLang="ko-KR" sz="1200" dirty="0"/>
              <a:t>B</a:t>
            </a:r>
            <a:r>
              <a:rPr lang="ko-KR" altLang="en-US" sz="1200" dirty="0"/>
              <a:t>가 아는 사람 피하기 기능을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이 과정 이후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 기능을 취소하더라도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와 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서로 추천되어서는 안됩니다</a:t>
            </a:r>
            <a:r>
              <a:rPr lang="en-US" altLang="ko-KR" sz="1200" dirty="0"/>
              <a:t>. B</a:t>
            </a:r>
            <a:r>
              <a:rPr lang="ko-KR" altLang="en-US" sz="1200" dirty="0"/>
              <a:t>는 여전히 아는 사람 피하기 기능을 사용하고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비록 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핸드폰에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번호가 없더라도 이전 과정을 통해서 두 사람이 아는 사이임을 알 수 있기 때문입니다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endParaRPr lang="en-US" altLang="ko-KR" sz="1200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EE488DC-F4FE-42BD-8412-1F89795D4F25}"/>
              </a:ext>
            </a:extLst>
          </p:cNvPr>
          <p:cNvCxnSpPr>
            <a:cxnSpLocks/>
          </p:cNvCxnSpPr>
          <p:nvPr/>
        </p:nvCxnSpPr>
        <p:spPr>
          <a:xfrm flipH="1">
            <a:off x="5919388" y="57529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D56DEBA-74EF-4BE0-9F3F-7A149550A0DC}"/>
              </a:ext>
            </a:extLst>
          </p:cNvPr>
          <p:cNvSpPr txBox="1"/>
          <p:nvPr/>
        </p:nvSpPr>
        <p:spPr>
          <a:xfrm>
            <a:off x="436667" y="1056860"/>
            <a:ext cx="51957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r>
              <a:rPr lang="en-US" altLang="ko-KR" sz="1200" dirty="0"/>
              <a:t>-  </a:t>
            </a:r>
            <a:r>
              <a:rPr lang="ko-KR" altLang="en-US" sz="1200" dirty="0"/>
              <a:t>매핑 테이블을 이용하여 비즈니스 요구사항을 풀어냈습니다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BD43C3-1CD3-4330-9988-8A3864288A65}"/>
              </a:ext>
            </a:extLst>
          </p:cNvPr>
          <p:cNvSpPr txBox="1"/>
          <p:nvPr/>
        </p:nvSpPr>
        <p:spPr>
          <a:xfrm>
            <a:off x="6384654" y="917078"/>
            <a:ext cx="5573924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 </a:t>
            </a:r>
            <a:endParaRPr lang="en-US" altLang="ko-KR" sz="1200" dirty="0"/>
          </a:p>
          <a:p>
            <a:r>
              <a:rPr lang="ko-KR" altLang="en-US" sz="1400" b="1" dirty="0"/>
              <a:t>⨀ 지인 등록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지인 등록은 두가지 상황에서 동작합니다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1)</a:t>
            </a:r>
            <a:r>
              <a:rPr lang="ko-KR" altLang="en-US" sz="1200" dirty="0"/>
              <a:t> 이미 가입한 유저가 아는 사람 피하기 기능을 요청할 때</a:t>
            </a:r>
            <a:endParaRPr lang="en-US" altLang="ko-KR" sz="1200" dirty="0"/>
          </a:p>
          <a:p>
            <a:r>
              <a:rPr lang="en-US" altLang="ko-KR" sz="1200" dirty="0"/>
              <a:t>  2) </a:t>
            </a:r>
            <a:r>
              <a:rPr lang="ko-KR" altLang="en-US" sz="1200" dirty="0"/>
              <a:t>새로운 유저가 가입할 때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1</a:t>
            </a:r>
            <a:r>
              <a:rPr lang="ko-KR" altLang="en-US" sz="1200" dirty="0"/>
              <a:t>번 상황에서 지인의 번호 목록을 통해 기존에 가입한 지인들을 파악하고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2</a:t>
            </a:r>
            <a:r>
              <a:rPr lang="ko-KR" altLang="en-US" sz="1200" dirty="0"/>
              <a:t>번 상황마다 미리 </a:t>
            </a:r>
            <a:r>
              <a:rPr lang="ko-KR" altLang="en-US" sz="1200" dirty="0" err="1"/>
              <a:t>등록해놓은</a:t>
            </a:r>
            <a:r>
              <a:rPr lang="ko-KR" altLang="en-US" sz="1200" dirty="0"/>
              <a:t> 번호를 이용하여 지인 여부를 판단한다면 모든 상황을 대처할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</p:txBody>
      </p:sp>
    </p:spTree>
    <p:extLst>
      <p:ext uri="{BB962C8B-B14F-4D97-AF65-F5344CB8AC3E}">
        <p14:creationId xmlns:p14="http://schemas.microsoft.com/office/powerpoint/2010/main" val="3242450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412139" y="505969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272629" y="624370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568218" y="1594041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894E1F-8DA6-41ED-9ADD-13B134F3F6E1}"/>
              </a:ext>
            </a:extLst>
          </p:cNvPr>
          <p:cNvSpPr txBox="1"/>
          <p:nvPr/>
        </p:nvSpPr>
        <p:spPr>
          <a:xfrm>
            <a:off x="537270" y="1511543"/>
            <a:ext cx="5848223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b="1" dirty="0"/>
          </a:p>
          <a:p>
            <a:r>
              <a:rPr lang="en-US" altLang="ko-KR" sz="1200" dirty="0"/>
              <a:t> 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en-US" altLang="ko-KR" sz="1200" b="1" dirty="0"/>
              <a:t>users </a:t>
            </a:r>
            <a:r>
              <a:rPr lang="ko-KR" altLang="en-US" sz="1200" b="1" dirty="0"/>
              <a:t>테이블에 기능 사용 여부 컬럼 추가</a:t>
            </a:r>
            <a:endParaRPr lang="en-US" altLang="ko-KR" sz="1200" b="1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r>
              <a:rPr lang="en-US" altLang="ko-KR" sz="1200" dirty="0"/>
              <a:t> - ‘</a:t>
            </a:r>
            <a:r>
              <a:rPr lang="ko-KR" altLang="en-US" sz="1200" dirty="0"/>
              <a:t>아는 사람 피하기 기능</a:t>
            </a:r>
            <a:r>
              <a:rPr lang="en-US" altLang="ko-KR" sz="1200" dirty="0"/>
              <a:t>’</a:t>
            </a:r>
            <a:r>
              <a:rPr lang="ko-KR" altLang="en-US" sz="1200" dirty="0"/>
              <a:t> 사용 여부를 알려주는 컬럼이 추가됩니다</a:t>
            </a:r>
            <a:r>
              <a:rPr lang="en-US" altLang="ko-KR" sz="1200" dirty="0"/>
              <a:t>.</a:t>
            </a:r>
          </a:p>
          <a:p>
            <a:endParaRPr lang="en-US" altLang="ko-KR" sz="1000" dirty="0"/>
          </a:p>
          <a:p>
            <a:endParaRPr lang="en-US" altLang="ko-KR" sz="1000" dirty="0"/>
          </a:p>
          <a:p>
            <a:endParaRPr lang="en-US" altLang="ko-KR" sz="1200" dirty="0"/>
          </a:p>
          <a:p>
            <a:r>
              <a:rPr lang="en-US" altLang="ko-KR" sz="1200" b="1" dirty="0"/>
              <a:t>2) </a:t>
            </a:r>
            <a:r>
              <a:rPr lang="en-US" altLang="ko-KR" sz="1200" b="1" dirty="0" err="1"/>
              <a:t>acquaintance_phone_numbers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핸드폰에 등록된 번호 목록을 저장하는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테이블과 </a:t>
            </a:r>
            <a:r>
              <a:rPr lang="en-US" altLang="ko-KR" sz="1200" dirty="0"/>
              <a:t>1:N </a:t>
            </a:r>
            <a:r>
              <a:rPr lang="ko-KR" altLang="en-US" sz="1200" dirty="0"/>
              <a:t>관계입니다</a:t>
            </a:r>
            <a:r>
              <a:rPr lang="en-US" altLang="ko-KR" sz="1200" dirty="0"/>
              <a:t>.</a:t>
            </a:r>
            <a:endParaRPr lang="en-US" altLang="ko-KR" sz="1000" dirty="0"/>
          </a:p>
          <a:p>
            <a:endParaRPr lang="en-US" altLang="ko-KR" sz="1000" dirty="0"/>
          </a:p>
          <a:p>
            <a:pPr marL="171450" indent="-171450">
              <a:buFontTx/>
              <a:buChar char="-"/>
            </a:pPr>
            <a:endParaRPr lang="en-US" altLang="ko-KR" sz="1200" b="1" dirty="0"/>
          </a:p>
          <a:p>
            <a:r>
              <a:rPr lang="en-US" altLang="ko-KR" sz="1200" b="1" dirty="0"/>
              <a:t>3) </a:t>
            </a:r>
            <a:r>
              <a:rPr lang="en-US" altLang="ko-KR" sz="1200" b="1" dirty="0" err="1"/>
              <a:t>acquaintance_relations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매핑 테이블</a:t>
            </a:r>
            <a:r>
              <a:rPr lang="en-US" altLang="ko-KR" sz="1200" b="1" dirty="0"/>
              <a:t>)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아는 사람 관계를 미리 저장하여 로직 수행 시간을 단축하기 위한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두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아는 사이임을 나타냅니다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 </a:t>
            </a:r>
            <a:r>
              <a:rPr lang="ko-KR" altLang="en-US" sz="1200" dirty="0"/>
              <a:t>대 </a:t>
            </a:r>
            <a:r>
              <a:rPr lang="en-US" altLang="ko-KR" sz="1200" dirty="0"/>
              <a:t>user </a:t>
            </a:r>
            <a:r>
              <a:rPr lang="ko-KR" altLang="en-US" sz="1200" dirty="0"/>
              <a:t>의 </a:t>
            </a:r>
            <a:r>
              <a:rPr lang="en-US" altLang="ko-KR" sz="1200" dirty="0"/>
              <a:t>N:N </a:t>
            </a:r>
            <a:r>
              <a:rPr lang="ko-KR" altLang="en-US" sz="1200" dirty="0"/>
              <a:t>관계를 풀어냈습니다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5F784CE-BE7D-42F3-8CCC-9BEEE70BAA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383" y="4773321"/>
            <a:ext cx="5390185" cy="147706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CD0B254-7476-4EA5-8E9A-9DA1626DAF47}"/>
              </a:ext>
            </a:extLst>
          </p:cNvPr>
          <p:cNvSpPr txBox="1"/>
          <p:nvPr/>
        </p:nvSpPr>
        <p:spPr>
          <a:xfrm>
            <a:off x="6701058" y="4300819"/>
            <a:ext cx="29017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데이터 베이스 예시</a:t>
            </a:r>
            <a:endParaRPr lang="en-US" altLang="ko-KR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F35CA0-340C-4E09-A591-4F9454FE3B47}"/>
              </a:ext>
            </a:extLst>
          </p:cNvPr>
          <p:cNvSpPr txBox="1"/>
          <p:nvPr/>
        </p:nvSpPr>
        <p:spPr>
          <a:xfrm>
            <a:off x="349630" y="1381671"/>
            <a:ext cx="519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데이터 베이스 설계 </a:t>
            </a:r>
            <a:endParaRPr lang="en-US" altLang="ko-KR" sz="1400" b="1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91CDE29-B291-4EC9-B9BA-3F540A1FE283}"/>
              </a:ext>
            </a:extLst>
          </p:cNvPr>
          <p:cNvCxnSpPr>
            <a:cxnSpLocks/>
          </p:cNvCxnSpPr>
          <p:nvPr/>
        </p:nvCxnSpPr>
        <p:spPr>
          <a:xfrm flipH="1">
            <a:off x="6432590" y="0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44F4F0F-B2E9-4DC2-BA50-7AFBB844CB10}"/>
              </a:ext>
            </a:extLst>
          </p:cNvPr>
          <p:cNvSpPr txBox="1"/>
          <p:nvPr/>
        </p:nvSpPr>
        <p:spPr>
          <a:xfrm>
            <a:off x="6856542" y="788673"/>
            <a:ext cx="5178026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/>
              <a:t>⨀ 지인 목록을 가져오는 경우 필요한 검색 조건 최소화</a:t>
            </a:r>
            <a:endParaRPr lang="en-US" altLang="ko-KR" sz="1400" b="1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하나의 지인 관계를 하나의 </a:t>
            </a:r>
            <a:r>
              <a:rPr lang="en-US" altLang="ko-KR" sz="1200" dirty="0"/>
              <a:t>row</a:t>
            </a:r>
            <a:r>
              <a:rPr lang="ko-KR" altLang="en-US" sz="1200" dirty="0"/>
              <a:t>로 표현 하는 방법 대신 </a:t>
            </a:r>
            <a:r>
              <a:rPr lang="ko-KR" altLang="en-US" sz="1200" b="1" dirty="0"/>
              <a:t>두개의 </a:t>
            </a:r>
            <a:r>
              <a:rPr lang="en-US" altLang="ko-KR" sz="1200" b="1" dirty="0"/>
              <a:t>row</a:t>
            </a:r>
            <a:r>
              <a:rPr lang="ko-KR" altLang="en-US" sz="1200" b="1" dirty="0"/>
              <a:t>로 표현하여 검색 속도를 빠르게 하였습니다</a:t>
            </a:r>
            <a:r>
              <a:rPr lang="en-US" altLang="ko-KR" sz="1200" b="1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user A</a:t>
            </a:r>
            <a:r>
              <a:rPr lang="ko-KR" altLang="en-US" sz="1200" dirty="0"/>
              <a:t>와 </a:t>
            </a:r>
            <a:r>
              <a:rPr lang="en-US" altLang="ko-KR" sz="1200" dirty="0"/>
              <a:t>user B</a:t>
            </a:r>
            <a:r>
              <a:rPr lang="ko-KR" altLang="en-US" sz="1200" dirty="0"/>
              <a:t>가 지인이라면 </a:t>
            </a:r>
            <a:r>
              <a:rPr lang="en-US" altLang="ko-KR" sz="1200" dirty="0"/>
              <a:t>user A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로 </a:t>
            </a:r>
            <a:r>
              <a:rPr lang="en-US" altLang="ko-KR" sz="1200" dirty="0"/>
              <a:t>user B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target_user_id</a:t>
            </a:r>
            <a:r>
              <a:rPr lang="ko-KR" altLang="en-US" sz="1200" dirty="0"/>
              <a:t>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를 만든 후 반대로 </a:t>
            </a:r>
            <a:r>
              <a:rPr lang="en-US" altLang="ko-KR" sz="1200" dirty="0"/>
              <a:t>user B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로 </a:t>
            </a:r>
            <a:r>
              <a:rPr lang="en-US" altLang="ko-KR" sz="1200" dirty="0"/>
              <a:t>user A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target_user_id</a:t>
            </a:r>
            <a:r>
              <a:rPr lang="ko-KR" altLang="en-US" sz="1200" dirty="0"/>
              <a:t>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를 추가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b="1" dirty="0"/>
              <a:t>검색 조건이 되는 </a:t>
            </a:r>
            <a:r>
              <a:rPr lang="en-US" altLang="ko-KR" sz="1200" b="1" dirty="0"/>
              <a:t>column</a:t>
            </a:r>
            <a:r>
              <a:rPr lang="ko-KR" altLang="en-US" sz="1200" b="1" dirty="0"/>
              <a:t>을 하나의 컬럼</a:t>
            </a:r>
            <a:r>
              <a:rPr lang="en-US" altLang="ko-KR" sz="1200" dirty="0"/>
              <a:t>(</a:t>
            </a:r>
            <a:r>
              <a:rPr lang="en-US" altLang="ko-KR" sz="1200" dirty="0" err="1"/>
              <a:t>user_id</a:t>
            </a:r>
            <a:r>
              <a:rPr lang="en-US" altLang="ko-KR" sz="1200" dirty="0"/>
              <a:t>)</a:t>
            </a:r>
            <a:r>
              <a:rPr lang="ko-KR" altLang="en-US" sz="1200" dirty="0"/>
              <a:t>으로 한 후 </a:t>
            </a:r>
            <a:r>
              <a:rPr lang="en-US" altLang="ko-KR" sz="1200" dirty="0"/>
              <a:t>indexing</a:t>
            </a:r>
            <a:r>
              <a:rPr lang="ko-KR" altLang="en-US" sz="1200" dirty="0"/>
              <a:t>을 하는 방법을 선택했습니다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6274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69346" y="605701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36149" y="730002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FB71C-A1A5-43BC-B879-61CC92F547DD}"/>
              </a:ext>
            </a:extLst>
          </p:cNvPr>
          <p:cNvSpPr txBox="1"/>
          <p:nvPr/>
        </p:nvSpPr>
        <p:spPr>
          <a:xfrm>
            <a:off x="861999" y="1461839"/>
            <a:ext cx="9306428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인덱싱을 통한 속도 향상</a:t>
            </a:r>
            <a:endParaRPr lang="en-US" altLang="ko-KR" sz="1400" b="1" dirty="0"/>
          </a:p>
          <a:p>
            <a:endParaRPr lang="en-US" altLang="ko-KR" sz="1200" b="1" dirty="0"/>
          </a:p>
          <a:p>
            <a:r>
              <a:rPr lang="en-US" altLang="ko-KR" sz="1200" dirty="0"/>
              <a:t>  - </a:t>
            </a:r>
            <a:r>
              <a:rPr lang="en-US" altLang="ko-KR" sz="1200" dirty="0" err="1"/>
              <a:t>acquaintance_relations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테이블의 </a:t>
            </a:r>
            <a:r>
              <a:rPr lang="en-US" altLang="ko-KR" sz="1200" dirty="0" err="1"/>
              <a:t>user_id</a:t>
            </a:r>
            <a:r>
              <a:rPr lang="en-US" altLang="ko-KR" sz="1200" dirty="0"/>
              <a:t> </a:t>
            </a:r>
            <a:r>
              <a:rPr lang="ko-KR" altLang="en-US" sz="1200" dirty="0"/>
              <a:t>컬럼에 </a:t>
            </a:r>
            <a:r>
              <a:rPr lang="en-US" altLang="ko-KR" sz="1200" dirty="0"/>
              <a:t>index</a:t>
            </a:r>
            <a:r>
              <a:rPr lang="ko-KR" altLang="en-US" sz="1200" dirty="0"/>
              <a:t>를 사용하여 서비스의 전체적인 로직 시간을 단축하였습니다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400" b="1" dirty="0"/>
              <a:t>⨀ 인덱싱을 선택한 이유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en-US" altLang="ko-KR" sz="1200" dirty="0"/>
              <a:t> 1) </a:t>
            </a:r>
            <a:r>
              <a:rPr lang="ko-KR" altLang="en-US" sz="1200" dirty="0"/>
              <a:t>개발적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이성 추천</a:t>
            </a:r>
            <a:r>
              <a:rPr lang="en-US" altLang="ko-KR" sz="1200" dirty="0"/>
              <a:t>,</a:t>
            </a:r>
            <a:r>
              <a:rPr lang="ko-KR" altLang="en-US" sz="1200" dirty="0"/>
              <a:t> 게시물 리스트 조회 등 대부분의 비즈니스 로직에서 지인 여부를 확인해야 했고</a:t>
            </a:r>
            <a:r>
              <a:rPr lang="en-US" altLang="ko-KR" sz="1200" dirty="0"/>
              <a:t> </a:t>
            </a:r>
            <a:r>
              <a:rPr lang="ko-KR" altLang="en-US" sz="1200" dirty="0"/>
              <a:t>그에 따라 </a:t>
            </a:r>
            <a:r>
              <a:rPr lang="en-US" altLang="ko-KR" sz="1200" b="1" dirty="0"/>
              <a:t>select</a:t>
            </a:r>
            <a:r>
              <a:rPr lang="ko-KR" altLang="en-US" sz="1200" b="1" dirty="0"/>
              <a:t>문을 사용하는 경우가 </a:t>
            </a:r>
            <a:r>
              <a:rPr lang="en-US" altLang="ko-KR" sz="1200" b="1" dirty="0"/>
              <a:t>update, delete, insert</a:t>
            </a:r>
            <a:r>
              <a:rPr lang="ko-KR" altLang="en-US" sz="1200" b="1" dirty="0"/>
              <a:t>를 사용하는 경우보다 압도적으로 빈번</a:t>
            </a:r>
            <a:r>
              <a:rPr lang="ko-KR" altLang="en-US" sz="1200" dirty="0"/>
              <a:t>했기 때문입니다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2) UX</a:t>
            </a:r>
            <a:r>
              <a:rPr lang="ko-KR" altLang="en-US" sz="1200" dirty="0"/>
              <a:t>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- </a:t>
            </a:r>
            <a:r>
              <a:rPr lang="ko-KR" altLang="en-US" sz="1200" dirty="0"/>
              <a:t>사용자가 지인 번호를 등록 또는 삭제하는 경우 시간이 더 소요되는 것에 대해 불편함을 느끼는 것보다</a:t>
            </a:r>
            <a:r>
              <a:rPr lang="en-US" altLang="ko-KR" sz="1200" dirty="0"/>
              <a:t>, </a:t>
            </a:r>
            <a:r>
              <a:rPr lang="ko-KR" altLang="en-US" sz="1200" dirty="0"/>
              <a:t>제공하는 서비스가 전반적으로 빠르게 동작하는 것에 대해 더 큰 만족감을 느낀다고 판단하였습니다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6389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925696" y="663005"/>
            <a:ext cx="153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로그인 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771919" y="1427811"/>
            <a:ext cx="926570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JWT,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Argument Resolver </a:t>
            </a:r>
            <a:r>
              <a:rPr lang="ko-KR" altLang="en-US" sz="1400" b="1" dirty="0"/>
              <a:t>사용</a:t>
            </a:r>
            <a:r>
              <a:rPr lang="en-US" altLang="ko-KR" sz="1400" b="1" dirty="0"/>
              <a:t>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300" dirty="0"/>
              <a:t> 1. </a:t>
            </a:r>
            <a:r>
              <a:rPr lang="ko-KR" altLang="en-US" sz="1300" dirty="0"/>
              <a:t>세션 로그인 방법 대신 </a:t>
            </a:r>
            <a:r>
              <a:rPr lang="en-US" altLang="ko-KR" sz="1300" dirty="0"/>
              <a:t>JWT</a:t>
            </a:r>
            <a:r>
              <a:rPr lang="ko-KR" altLang="en-US" sz="1300" dirty="0"/>
              <a:t>를 사용하여 서버 구조가 쉽게 확장 되도록 하였습니다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endParaRPr lang="en-US" altLang="ko-KR" sz="1300" dirty="0"/>
          </a:p>
          <a:p>
            <a:r>
              <a:rPr lang="en-US" altLang="ko-KR" sz="1300" dirty="0"/>
              <a:t> 2. Refresh Token</a:t>
            </a:r>
            <a:r>
              <a:rPr lang="ko-KR" altLang="en-US" sz="1300" dirty="0"/>
              <a:t>을 사용하여 자동 로그인 기능을 구현하였습니다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endParaRPr lang="en-US" altLang="ko-KR" sz="1300" dirty="0"/>
          </a:p>
          <a:p>
            <a:endParaRPr lang="en-US" altLang="ko-KR" sz="1300" dirty="0"/>
          </a:p>
          <a:p>
            <a:r>
              <a:rPr lang="en-US" altLang="ko-KR" sz="1300" dirty="0"/>
              <a:t> 3. </a:t>
            </a:r>
            <a:r>
              <a:rPr lang="ko-KR" altLang="en-US" sz="1300" dirty="0"/>
              <a:t>반복되는 코드를 줄이기 위해 </a:t>
            </a:r>
            <a:r>
              <a:rPr lang="en-US" altLang="ko-KR" sz="1300" dirty="0"/>
              <a:t>Spring</a:t>
            </a:r>
            <a:r>
              <a:rPr lang="ko-KR" altLang="en-US" sz="1300" dirty="0"/>
              <a:t>에서 제공하는 </a:t>
            </a:r>
            <a:r>
              <a:rPr lang="en-US" altLang="ko-KR" sz="1300" dirty="0"/>
              <a:t>Argument Resolver</a:t>
            </a:r>
            <a:r>
              <a:rPr lang="ko-KR" altLang="en-US" sz="1300" dirty="0"/>
              <a:t>를 사용하였습니다</a:t>
            </a:r>
            <a:r>
              <a:rPr lang="en-US" altLang="ko-KR" sz="13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   </a:t>
            </a:r>
            <a:r>
              <a:rPr lang="ko-KR" altLang="en-US" sz="1200" dirty="0"/>
              <a:t>기존 방법 </a:t>
            </a:r>
            <a:r>
              <a:rPr lang="en-US" altLang="ko-KR" sz="1200" dirty="0"/>
              <a:t>: interceptor</a:t>
            </a:r>
            <a:r>
              <a:rPr lang="ko-KR" altLang="en-US" sz="1200" dirty="0"/>
              <a:t>에서 </a:t>
            </a:r>
            <a:r>
              <a:rPr lang="en-US" altLang="ko-KR" sz="1200" dirty="0"/>
              <a:t>JWT</a:t>
            </a:r>
            <a:r>
              <a:rPr lang="ko-KR" altLang="en-US" sz="1200" dirty="0"/>
              <a:t>의 데이터를 추출하여 </a:t>
            </a:r>
            <a:r>
              <a:rPr lang="en-US" altLang="ko-KR" sz="1200" dirty="0" err="1"/>
              <a:t>HttpServletRequest</a:t>
            </a:r>
            <a:r>
              <a:rPr lang="ko-KR" altLang="en-US" sz="1200" dirty="0"/>
              <a:t>을 통해 컨트롤에 전달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 </a:t>
            </a:r>
            <a:r>
              <a:rPr lang="ko-KR" altLang="en-US" sz="1200" dirty="0" err="1"/>
              <a:t>리팩토링</a:t>
            </a:r>
            <a:r>
              <a:rPr lang="ko-KR" altLang="en-US" sz="1200" dirty="0"/>
              <a:t> </a:t>
            </a:r>
            <a:r>
              <a:rPr lang="en-US" altLang="ko-KR" sz="1200" dirty="0"/>
              <a:t>: Argument</a:t>
            </a:r>
            <a:r>
              <a:rPr lang="ko-KR" altLang="en-US" sz="1200" dirty="0"/>
              <a:t> </a:t>
            </a:r>
            <a:r>
              <a:rPr lang="en-US" altLang="ko-KR" sz="1200" dirty="0"/>
              <a:t>Resolver</a:t>
            </a:r>
            <a:r>
              <a:rPr lang="ko-KR" altLang="en-US" sz="1200" dirty="0"/>
              <a:t>를 사용하여 </a:t>
            </a:r>
            <a:r>
              <a:rPr lang="en-US" altLang="ko-KR" sz="1200" dirty="0"/>
              <a:t>Controller</a:t>
            </a:r>
            <a:r>
              <a:rPr lang="ko-KR" altLang="en-US" sz="1200" dirty="0"/>
              <a:t>에 반복되는 코드를 줄임 </a:t>
            </a:r>
            <a:endParaRPr lang="en-US" altLang="ko-KR" sz="1200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792499" y="78730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1924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3183A0-7D7F-4187-8267-CA1C64C3292F}"/>
              </a:ext>
            </a:extLst>
          </p:cNvPr>
          <p:cNvSpPr txBox="1"/>
          <p:nvPr/>
        </p:nvSpPr>
        <p:spPr>
          <a:xfrm>
            <a:off x="769346" y="605701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</a:t>
            </a:r>
            <a:r>
              <a:rPr lang="en-US" altLang="ko-KR" b="1" dirty="0"/>
              <a:t>CICD, </a:t>
            </a:r>
            <a:r>
              <a:rPr lang="ko-KR" altLang="en-US" b="1" dirty="0" err="1"/>
              <a:t>무중단</a:t>
            </a:r>
            <a:r>
              <a:rPr lang="ko-KR" altLang="en-US" b="1" dirty="0"/>
              <a:t> 배포</a:t>
            </a:r>
            <a:endParaRPr lang="en-US" altLang="ko-KR" b="1" dirty="0"/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2598DB5E-12BF-464C-BABE-AAE203B9779F}"/>
              </a:ext>
            </a:extLst>
          </p:cNvPr>
          <p:cNvSpPr/>
          <p:nvPr/>
        </p:nvSpPr>
        <p:spPr>
          <a:xfrm>
            <a:off x="636149" y="730002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3D032-E693-4434-8197-B391CE437843}"/>
              </a:ext>
            </a:extLst>
          </p:cNvPr>
          <p:cNvSpPr txBox="1"/>
          <p:nvPr/>
        </p:nvSpPr>
        <p:spPr>
          <a:xfrm>
            <a:off x="939002" y="1589373"/>
            <a:ext cx="9306428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/>
              <a:t>CICD - </a:t>
            </a:r>
            <a:r>
              <a:rPr lang="en-US" altLang="ko-KR" sz="1400" b="1" dirty="0" err="1"/>
              <a:t>github</a:t>
            </a:r>
            <a:r>
              <a:rPr lang="en-US" altLang="ko-KR" sz="1400" b="1" dirty="0"/>
              <a:t> action, code deploy, s3</a:t>
            </a:r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Nginx</a:t>
            </a:r>
            <a:r>
              <a:rPr lang="ko-KR" altLang="en-US" sz="1400" b="1" dirty="0"/>
              <a:t>를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이용한 </a:t>
            </a:r>
            <a:r>
              <a:rPr lang="ko-KR" altLang="en-US" sz="1400" b="1" dirty="0" err="1"/>
              <a:t>무중단</a:t>
            </a:r>
            <a:r>
              <a:rPr lang="ko-KR" altLang="en-US" sz="1400" b="1" dirty="0"/>
              <a:t> 배포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블루그린 방식</a:t>
            </a:r>
            <a:r>
              <a:rPr lang="en-US" altLang="ko-KR" sz="1400" b="1" dirty="0"/>
              <a:t>)</a:t>
            </a:r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순서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 - s3</a:t>
            </a:r>
            <a:r>
              <a:rPr lang="ko-KR" altLang="en-US" sz="1400" b="1" dirty="0"/>
              <a:t>에 </a:t>
            </a:r>
            <a:r>
              <a:rPr lang="en-US" altLang="ko-KR" sz="1400" b="1" dirty="0"/>
              <a:t>jar</a:t>
            </a:r>
            <a:r>
              <a:rPr lang="ko-KR" altLang="en-US" sz="1400" b="1" dirty="0"/>
              <a:t>파일 업로드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 - code deploy</a:t>
            </a:r>
            <a:r>
              <a:rPr lang="ko-KR" altLang="en-US" sz="1400" b="1" dirty="0"/>
              <a:t>를 이용하여 덮어쓰기 후 </a:t>
            </a:r>
            <a:r>
              <a:rPr lang="en-US" altLang="ko-KR" sz="1400" b="1" dirty="0"/>
              <a:t>8081, 8082 </a:t>
            </a:r>
            <a:r>
              <a:rPr lang="ko-KR" altLang="en-US" sz="1400" b="1" dirty="0"/>
              <a:t>중 사용하지 않는 포트로 배포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- Nginx</a:t>
            </a:r>
            <a:r>
              <a:rPr lang="ko-KR" altLang="en-US" sz="1400" b="1" dirty="0"/>
              <a:t> 리버스 프록시 포트 변경</a:t>
            </a:r>
            <a:endParaRPr lang="en-US" altLang="ko-KR" sz="1400" b="1" dirty="0"/>
          </a:p>
          <a:p>
            <a:r>
              <a:rPr lang="ko-KR" altLang="en-US" sz="1400" b="1" dirty="0"/>
              <a:t> </a:t>
            </a:r>
            <a:endParaRPr lang="en-US" altLang="ko-KR" sz="1200" dirty="0"/>
          </a:p>
          <a:p>
            <a:r>
              <a:rPr lang="en-US" altLang="ko-KR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86900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7696" y="601440"/>
            <a:ext cx="471142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ShopLive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 Korea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학점 연계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183229" y="261513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인턴십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204060" y="2984471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2022. 03 ~ 2022. 06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7695" y="38260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203903" y="367598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서비스 설명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849506" y="39262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345735" y="3776196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366564" y="4168822"/>
            <a:ext cx="3621533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ko-KR" altLang="en-US" sz="1100" dirty="0"/>
              <a:t>⨀ 서버 </a:t>
            </a:r>
            <a:r>
              <a:rPr lang="en-US" altLang="ko-KR" sz="1100" dirty="0"/>
              <a:t>API </a:t>
            </a:r>
            <a:r>
              <a:rPr lang="ko-KR" altLang="en-US" sz="1100" dirty="0"/>
              <a:t>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mem-cached</a:t>
            </a:r>
            <a:r>
              <a:rPr lang="ko-KR" altLang="en-US" sz="1100" dirty="0"/>
              <a:t>를 이용한 </a:t>
            </a:r>
            <a:r>
              <a:rPr lang="ko-KR" altLang="en-US" sz="1100" dirty="0" err="1"/>
              <a:t>캐싱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리팩토링을</a:t>
            </a:r>
            <a:r>
              <a:rPr lang="ko-KR" altLang="en-US" sz="1100" dirty="0"/>
              <a:t> 통한 시간 단축 및 코드 간소화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50520" y="4000272"/>
            <a:ext cx="44892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라이브 영상을 시청하며 실시간으로 물건을 구매할 수 있는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B</a:t>
            </a:r>
            <a:r>
              <a:rPr lang="ko-KR" altLang="en-US" sz="1200" dirty="0"/>
              <a:t> </a:t>
            </a:r>
            <a:r>
              <a:rPr lang="en-US" altLang="ko-KR" sz="1200" dirty="0"/>
              <a:t>to</a:t>
            </a:r>
            <a:r>
              <a:rPr lang="ko-KR" altLang="en-US" sz="1200" dirty="0"/>
              <a:t> </a:t>
            </a:r>
            <a:r>
              <a:rPr lang="en-US" altLang="ko-KR" sz="1200" dirty="0"/>
              <a:t>B</a:t>
            </a:r>
            <a:r>
              <a:rPr lang="ko-KR" altLang="en-US" sz="1200" dirty="0"/>
              <a:t> 서비스로서 고객사의 </a:t>
            </a:r>
            <a:r>
              <a:rPr lang="en-US" altLang="ko-KR" sz="1200" dirty="0"/>
              <a:t>UI </a:t>
            </a:r>
            <a:r>
              <a:rPr lang="ko-KR" altLang="en-US" sz="1200" dirty="0"/>
              <a:t>화면에 플러그인 형식으로 서비스를 제공합니다</a:t>
            </a:r>
            <a:r>
              <a:rPr lang="en-US" altLang="ko-KR" sz="120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1CF93A-764F-4F9D-8609-81213E855908}"/>
              </a:ext>
            </a:extLst>
          </p:cNvPr>
          <p:cNvSpPr txBox="1"/>
          <p:nvPr/>
        </p:nvSpPr>
        <p:spPr>
          <a:xfrm>
            <a:off x="686714" y="1891546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서비스 명 </a:t>
            </a:r>
            <a:r>
              <a:rPr lang="en-US" altLang="ko-KR" dirty="0"/>
              <a:t>: </a:t>
            </a:r>
            <a:r>
              <a:rPr lang="ko-KR" altLang="en-US" dirty="0" err="1"/>
              <a:t>샵라이브</a:t>
            </a:r>
            <a:endParaRPr lang="ko-KR" altLang="en-US" dirty="0"/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59A1C677-34F2-458B-A034-4C3F4C3032EB}"/>
              </a:ext>
            </a:extLst>
          </p:cNvPr>
          <p:cNvSpPr/>
          <p:nvPr/>
        </p:nvSpPr>
        <p:spPr>
          <a:xfrm>
            <a:off x="6848098" y="279662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46F0F0-0293-4599-A93F-A00BC965088A}"/>
              </a:ext>
            </a:extLst>
          </p:cNvPr>
          <p:cNvSpPr txBox="1"/>
          <p:nvPr/>
        </p:nvSpPr>
        <p:spPr>
          <a:xfrm>
            <a:off x="7153140" y="264653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4678DA-0FEE-416F-A515-5D1F36F4A337}"/>
              </a:ext>
            </a:extLst>
          </p:cNvPr>
          <p:cNvSpPr txBox="1"/>
          <p:nvPr/>
        </p:nvSpPr>
        <p:spPr>
          <a:xfrm>
            <a:off x="7153140" y="3026440"/>
            <a:ext cx="2504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MySQL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8AFF7DF-C4DB-49BA-B65D-82B5E44E6A38}"/>
              </a:ext>
            </a:extLst>
          </p:cNvPr>
          <p:cNvSpPr/>
          <p:nvPr/>
        </p:nvSpPr>
        <p:spPr>
          <a:xfrm>
            <a:off x="686714" y="278091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447286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01503" y="264000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코드 중복 제거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805743" y="629792"/>
            <a:ext cx="1033331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상황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/>
              <a:t>비디오 클래스와 이미지 클래스는 미디어 클래스를 상속합니다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비디오 클래스와 이미지 클래스는 다른 필드를 가지고 있으므로 요청에 대해 다른 </a:t>
            </a:r>
            <a:r>
              <a:rPr lang="en-US" altLang="ko-KR" sz="1200" dirty="0"/>
              <a:t>DTO</a:t>
            </a:r>
            <a:r>
              <a:rPr lang="ko-KR" altLang="en-US" sz="1200" dirty="0"/>
              <a:t>를 사용합니다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비슷한 코드가 여러 번 작성됩니다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미디어의 종류가 추가될 때마다 코드 중복이 다시 발생합니다</a:t>
            </a:r>
            <a:r>
              <a:rPr lang="en-US" altLang="ko-KR" sz="1200" dirty="0"/>
              <a:t>.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468307" y="3883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80F2B8-E8AD-40CA-8337-F0B70EA45237}"/>
              </a:ext>
            </a:extLst>
          </p:cNvPr>
          <p:cNvSpPr txBox="1"/>
          <p:nvPr/>
        </p:nvSpPr>
        <p:spPr>
          <a:xfrm>
            <a:off x="805742" y="2465534"/>
            <a:ext cx="753607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인터페이스와 추상클래스를 이용한 코드 중복 해결 </a:t>
            </a:r>
            <a:r>
              <a:rPr lang="ko-KR" altLang="en-US" sz="1400" b="1"/>
              <a:t>및 확장성 증가 </a:t>
            </a:r>
            <a:endParaRPr lang="en-US" altLang="ko-KR" sz="1400" b="1" dirty="0"/>
          </a:p>
          <a:p>
            <a:endParaRPr lang="en-US" altLang="ko-KR" sz="12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08D3B2B-F01E-49D5-BAC4-3BD9E2C50806}"/>
              </a:ext>
            </a:extLst>
          </p:cNvPr>
          <p:cNvSpPr/>
          <p:nvPr/>
        </p:nvSpPr>
        <p:spPr>
          <a:xfrm>
            <a:off x="919235" y="3543362"/>
            <a:ext cx="1395859" cy="393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@JsonInfoType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5EAEE2-4C7A-45E1-85C7-5078C535A8E5}"/>
              </a:ext>
            </a:extLst>
          </p:cNvPr>
          <p:cNvSpPr txBox="1"/>
          <p:nvPr/>
        </p:nvSpPr>
        <p:spPr>
          <a:xfrm>
            <a:off x="1112601" y="3326599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인터페이스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63A051F-E10A-41F7-8D52-390D109F77DF}"/>
              </a:ext>
            </a:extLst>
          </p:cNvPr>
          <p:cNvCxnSpPr>
            <a:cxnSpLocks/>
          </p:cNvCxnSpPr>
          <p:nvPr/>
        </p:nvCxnSpPr>
        <p:spPr>
          <a:xfrm>
            <a:off x="2384698" y="3992251"/>
            <a:ext cx="10635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75B351-87DA-4206-BE19-B4ACB6C9D843}"/>
              </a:ext>
            </a:extLst>
          </p:cNvPr>
          <p:cNvSpPr txBox="1"/>
          <p:nvPr/>
        </p:nvSpPr>
        <p:spPr>
          <a:xfrm>
            <a:off x="2532560" y="377680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implements</a:t>
            </a:r>
            <a:endParaRPr lang="ko-KR" altLang="en-US" sz="8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4A1493D-49BC-4669-9006-6B5E4E27FA50}"/>
              </a:ext>
            </a:extLst>
          </p:cNvPr>
          <p:cNvSpPr/>
          <p:nvPr/>
        </p:nvSpPr>
        <p:spPr>
          <a:xfrm>
            <a:off x="919234" y="3936962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getMediaType</a:t>
            </a:r>
            <a:r>
              <a:rPr lang="en-US" altLang="ko-KR" sz="12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879D04-AC8A-409E-9EBE-9F27740F7965}"/>
              </a:ext>
            </a:extLst>
          </p:cNvPr>
          <p:cNvSpPr/>
          <p:nvPr/>
        </p:nvSpPr>
        <p:spPr>
          <a:xfrm>
            <a:off x="3561293" y="371365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미디어 클래스의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자식 클래스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공통 필드 선언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C8AF7A-F898-4584-B57D-9AF77709C63E}"/>
              </a:ext>
            </a:extLst>
          </p:cNvPr>
          <p:cNvSpPr txBox="1"/>
          <p:nvPr/>
        </p:nvSpPr>
        <p:spPr>
          <a:xfrm>
            <a:off x="3705544" y="3498213"/>
            <a:ext cx="13302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추상 클래스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E7CDA494-2249-4547-9577-E956D4B82E51}"/>
              </a:ext>
            </a:extLst>
          </p:cNvPr>
          <p:cNvCxnSpPr>
            <a:cxnSpLocks/>
          </p:cNvCxnSpPr>
          <p:nvPr/>
        </p:nvCxnSpPr>
        <p:spPr>
          <a:xfrm flipV="1">
            <a:off x="5050552" y="3605935"/>
            <a:ext cx="935333" cy="386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B6072E89-7E52-47E8-AC08-FC9CB073E9F2}"/>
              </a:ext>
            </a:extLst>
          </p:cNvPr>
          <p:cNvCxnSpPr>
            <a:cxnSpLocks/>
          </p:cNvCxnSpPr>
          <p:nvPr/>
        </p:nvCxnSpPr>
        <p:spPr>
          <a:xfrm>
            <a:off x="5050552" y="4270845"/>
            <a:ext cx="896738" cy="453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A409384-AE9F-472C-956F-8A2C4E70B466}"/>
              </a:ext>
            </a:extLst>
          </p:cNvPr>
          <p:cNvSpPr/>
          <p:nvPr/>
        </p:nvSpPr>
        <p:spPr>
          <a:xfrm>
            <a:off x="6143181" y="318842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비디오 클래스 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EB86AE-5000-4606-A770-2106C9FB0AB3}"/>
              </a:ext>
            </a:extLst>
          </p:cNvPr>
          <p:cNvSpPr/>
          <p:nvPr/>
        </p:nvSpPr>
        <p:spPr>
          <a:xfrm>
            <a:off x="6143180" y="4408763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이미지 클래스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E2A58D-C820-41E7-8F4F-929F69131482}"/>
              </a:ext>
            </a:extLst>
          </p:cNvPr>
          <p:cNvSpPr txBox="1"/>
          <p:nvPr/>
        </p:nvSpPr>
        <p:spPr>
          <a:xfrm>
            <a:off x="6333384" y="2977139"/>
            <a:ext cx="117717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비디오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6DF18F-EB76-4A87-A704-A24C5D72C2FE}"/>
              </a:ext>
            </a:extLst>
          </p:cNvPr>
          <p:cNvSpPr txBox="1"/>
          <p:nvPr/>
        </p:nvSpPr>
        <p:spPr>
          <a:xfrm>
            <a:off x="6333384" y="4202660"/>
            <a:ext cx="13383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이미지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E0AFBF-824A-4104-9020-2B212D7FC232}"/>
              </a:ext>
            </a:extLst>
          </p:cNvPr>
          <p:cNvSpPr txBox="1"/>
          <p:nvPr/>
        </p:nvSpPr>
        <p:spPr>
          <a:xfrm>
            <a:off x="805743" y="5422996"/>
            <a:ext cx="98594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200" dirty="0" err="1"/>
              <a:t>JsonInfoType</a:t>
            </a:r>
            <a:r>
              <a:rPr lang="en-US" altLang="ko-KR" sz="1200" dirty="0"/>
              <a:t>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이용하여 메시지 컨버터가 요청에 알맞은 구체 클래스로 데이터를 매핑합니다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getMediaType</a:t>
            </a:r>
            <a:r>
              <a:rPr lang="en-US" altLang="ko-KR" sz="1200" dirty="0"/>
              <a:t> </a:t>
            </a:r>
            <a:r>
              <a:rPr lang="ko-KR" altLang="en-US" sz="1200" dirty="0"/>
              <a:t>메서드를 이용하여 코드 레벨에서 인자로 들어온 클래스의 타입을 확인합니다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통해 어떤 구체 클래스의 객체로 역직렬화가 되었는지 알 수 있습니다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이용하여 다음 서비스 로직을 실행합니다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이를 통해 컨트롤러와 서비스에서 하나의 메서드로 모든 미디어 타입에 대한 요청에 응답할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583930-2F80-4B1B-9635-B4668D4D1387}"/>
              </a:ext>
            </a:extLst>
          </p:cNvPr>
          <p:cNvSpPr txBox="1"/>
          <p:nvPr/>
        </p:nvSpPr>
        <p:spPr>
          <a:xfrm rot="20211078">
            <a:off x="5178176" y="3512943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9BD33E-E9B8-41E3-B90D-06EA53E7A531}"/>
              </a:ext>
            </a:extLst>
          </p:cNvPr>
          <p:cNvSpPr txBox="1"/>
          <p:nvPr/>
        </p:nvSpPr>
        <p:spPr>
          <a:xfrm rot="1640210">
            <a:off x="5198664" y="439237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434463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22039" y="667976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캐싱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822370" y="1216642"/>
            <a:ext cx="1117101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 err="1"/>
              <a:t>memcached</a:t>
            </a:r>
            <a:r>
              <a:rPr lang="ko-KR" altLang="en-US" sz="1400" b="1" dirty="0"/>
              <a:t>를 이용한 </a:t>
            </a:r>
            <a:r>
              <a:rPr lang="ko-KR" altLang="en-US" sz="1400" b="1" dirty="0" err="1"/>
              <a:t>캐싱</a:t>
            </a:r>
            <a:endParaRPr lang="en-US" altLang="ko-KR" sz="1400" b="1" dirty="0"/>
          </a:p>
          <a:p>
            <a:endParaRPr lang="en-US" altLang="ko-KR" sz="14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단시간에 많은 요청이 예상되는 로직에 </a:t>
            </a:r>
            <a:r>
              <a:rPr lang="ko-KR" altLang="en-US" sz="1200" dirty="0" err="1"/>
              <a:t>캐싱을</a:t>
            </a:r>
            <a:r>
              <a:rPr lang="ko-KR" altLang="en-US" sz="1200" dirty="0"/>
              <a:t> 적용했습니다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DB</a:t>
            </a:r>
            <a:r>
              <a:rPr lang="ko-KR" altLang="en-US" sz="1200" dirty="0"/>
              <a:t>의 데이터가 변경되지 않는 로직이었기에</a:t>
            </a:r>
            <a:r>
              <a:rPr lang="en-US" altLang="ko-KR" sz="1200" dirty="0"/>
              <a:t> </a:t>
            </a:r>
            <a:r>
              <a:rPr lang="ko-KR" altLang="en-US" sz="1200" dirty="0"/>
              <a:t>데이터 정합성이 이슈가 되지 않았습니다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다른 인메모리 데이터 베이스보다 </a:t>
            </a:r>
            <a:r>
              <a:rPr lang="en-US" altLang="ko-KR" sz="1200" dirty="0" err="1"/>
              <a:t>memcached</a:t>
            </a:r>
            <a:r>
              <a:rPr lang="ko-KR" altLang="en-US" sz="1200" dirty="0"/>
              <a:t>가 적절하다고 판단하였습니다</a:t>
            </a:r>
            <a:r>
              <a:rPr lang="en-US" altLang="ko-KR" sz="1200" dirty="0"/>
              <a:t>.</a:t>
            </a:r>
          </a:p>
          <a:p>
            <a:endParaRPr lang="en-US" altLang="ko-KR" sz="1400" b="1" dirty="0"/>
          </a:p>
          <a:p>
            <a:endParaRPr lang="en-US" altLang="ko-KR" sz="1400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88843" y="79227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9C77245-E42C-435C-A054-4651C4671B97}"/>
              </a:ext>
            </a:extLst>
          </p:cNvPr>
          <p:cNvSpPr txBox="1"/>
          <p:nvPr/>
        </p:nvSpPr>
        <p:spPr>
          <a:xfrm>
            <a:off x="722037" y="3866713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코드 </a:t>
            </a:r>
            <a:r>
              <a:rPr lang="ko-KR" altLang="en-US" b="1" dirty="0" err="1"/>
              <a:t>리팩토링</a:t>
            </a:r>
            <a:endParaRPr lang="en-US" altLang="ko-KR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1523E8-A352-4F9D-8E46-BC76EED9BB39}"/>
              </a:ext>
            </a:extLst>
          </p:cNvPr>
          <p:cNvSpPr txBox="1"/>
          <p:nvPr/>
        </p:nvSpPr>
        <p:spPr>
          <a:xfrm>
            <a:off x="822371" y="4234782"/>
            <a:ext cx="1109392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부하 감소를 위해 하나의 요청이 실행 될 때마다 생기는 쿼리의 개수를 줄임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200" dirty="0"/>
              <a:t>   </a:t>
            </a:r>
            <a:r>
              <a:rPr lang="ko-KR" altLang="en-US" sz="1200" dirty="0"/>
              <a:t>기존 방법 </a:t>
            </a:r>
            <a:r>
              <a:rPr lang="en-US" altLang="ko-KR" sz="1200" dirty="0"/>
              <a:t>: For</a:t>
            </a:r>
            <a:r>
              <a:rPr lang="ko-KR" altLang="en-US" sz="1200" dirty="0"/>
              <a:t>문을 돌며 데이터를 </a:t>
            </a:r>
            <a:r>
              <a:rPr lang="en-US" altLang="ko-KR" sz="1200" dirty="0"/>
              <a:t>row</a:t>
            </a:r>
            <a:r>
              <a:rPr lang="ko-KR" altLang="en-US" sz="1200" dirty="0"/>
              <a:t>별로 받아오는 방식을 사용했고</a:t>
            </a:r>
            <a:r>
              <a:rPr lang="en-US" altLang="ko-KR" sz="1200" dirty="0"/>
              <a:t>, </a:t>
            </a:r>
            <a:r>
              <a:rPr lang="ko-KR" altLang="en-US" sz="1200" dirty="0"/>
              <a:t>이에 따라 </a:t>
            </a:r>
            <a:r>
              <a:rPr lang="en-US" altLang="ko-KR" sz="1200" dirty="0"/>
              <a:t>DB </a:t>
            </a:r>
            <a:r>
              <a:rPr lang="ko-KR" altLang="en-US" sz="1200" dirty="0"/>
              <a:t>커넥션이 많이 발생하여 서버의 부하가 큼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</a:t>
            </a:r>
            <a:r>
              <a:rPr lang="ko-KR" altLang="en-US" sz="1200" dirty="0" err="1"/>
              <a:t>리팩토링</a:t>
            </a:r>
            <a:r>
              <a:rPr lang="ko-KR" altLang="en-US" sz="1200" dirty="0"/>
              <a:t> </a:t>
            </a:r>
            <a:r>
              <a:rPr lang="en-US" altLang="ko-KR" sz="1200" dirty="0"/>
              <a:t>: Stream</a:t>
            </a:r>
            <a:r>
              <a:rPr lang="ko-KR" altLang="en-US" sz="1200" dirty="0"/>
              <a:t>을 활용하여 필요로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리스트로 한 번에 모아 쿼리를 </a:t>
            </a:r>
            <a:r>
              <a:rPr lang="ko-KR" altLang="en-US" sz="1200" dirty="0" err="1"/>
              <a:t>전송함으로서</a:t>
            </a:r>
            <a:r>
              <a:rPr lang="ko-KR" altLang="en-US" sz="1200" dirty="0"/>
              <a:t> </a:t>
            </a:r>
            <a:r>
              <a:rPr lang="en-US" altLang="ko-KR" sz="1200" dirty="0"/>
              <a:t>DB </a:t>
            </a:r>
            <a:r>
              <a:rPr lang="ko-KR" altLang="en-US" sz="1200" dirty="0"/>
              <a:t>커넥션을 감소시킴</a:t>
            </a:r>
            <a:endParaRPr lang="en-US" altLang="ko-KR" sz="1200" dirty="0"/>
          </a:p>
          <a:p>
            <a:endParaRPr lang="en-US" altLang="ko-KR" sz="1400" dirty="0"/>
          </a:p>
          <a:p>
            <a:endParaRPr lang="en-US" altLang="ko-KR" sz="1400" b="1" dirty="0"/>
          </a:p>
        </p:txBody>
      </p:sp>
      <p:sp>
        <p:nvSpPr>
          <p:cNvPr id="35" name="object 6">
            <a:extLst>
              <a:ext uri="{FF2B5EF4-FFF2-40B4-BE49-F238E27FC236}">
                <a16:creationId xmlns:a16="http://schemas.microsoft.com/office/drawing/2014/main" id="{ECF97475-7B77-4BFB-9D63-4AC76764C508}"/>
              </a:ext>
            </a:extLst>
          </p:cNvPr>
          <p:cNvSpPr/>
          <p:nvPr/>
        </p:nvSpPr>
        <p:spPr>
          <a:xfrm>
            <a:off x="588841" y="399101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4714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572366"/>
            <a:ext cx="60778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Side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Project (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소규모 프로젝트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/>
              <a:t>프로젝트 명 </a:t>
            </a:r>
            <a:r>
              <a:rPr lang="en-US" altLang="ko-KR" sz="2200" dirty="0"/>
              <a:t>: </a:t>
            </a:r>
            <a:r>
              <a:rPr lang="ko-KR" altLang="en-US" sz="2200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681699" y="283897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77260" y="2688884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098090" y="3058216"/>
            <a:ext cx="2465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2021. 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681698" y="3774001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1077260" y="3573718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1077259" y="4013017"/>
            <a:ext cx="48330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MySQL, </a:t>
            </a:r>
            <a:r>
              <a:rPr lang="en-US" altLang="ko-KR" sz="1400" dirty="0" err="1"/>
              <a:t>Jsoup</a:t>
            </a:r>
            <a:r>
              <a:rPr lang="ko-KR" altLang="en-US" sz="1400" dirty="0"/>
              <a:t>라이브러리</a:t>
            </a:r>
            <a:endParaRPr lang="en-US" altLang="ko-KR" sz="1400" dirty="0"/>
          </a:p>
          <a:p>
            <a:r>
              <a:rPr lang="en-US" altLang="ko-KR" sz="1400" dirty="0"/>
              <a:t>- </a:t>
            </a:r>
            <a:r>
              <a:rPr lang="en-US" altLang="ko-KR" sz="1400" dirty="0" err="1"/>
              <a:t>Github</a:t>
            </a:r>
            <a:r>
              <a:rPr lang="en-US" altLang="ko-KR" sz="1400" dirty="0"/>
              <a:t> Action, Code Deploy, S3, Nginx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1697" y="5268725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98091" y="5105995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1077260" y="5538869"/>
            <a:ext cx="48330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417521" y="2843564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812307" y="2719428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833138" y="3218923"/>
            <a:ext cx="47375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</a:t>
            </a:r>
            <a:r>
              <a:rPr lang="ko-KR" altLang="en-US" sz="1200" b="1" dirty="0"/>
              <a:t>성능 개선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ko-KR" altLang="en-US" sz="1200" dirty="0"/>
              <a:t>⨀ 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 모든 과정 참여</a:t>
            </a:r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2000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E496C3E9-755C-4066-9165-4E8051C47E2D}"/>
              </a:ext>
            </a:extLst>
          </p:cNvPr>
          <p:cNvSpPr/>
          <p:nvPr/>
        </p:nvSpPr>
        <p:spPr>
          <a:xfrm>
            <a:off x="6417521" y="4637192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B1500-AEC2-4D57-9B5A-677112BE2866}"/>
              </a:ext>
            </a:extLst>
          </p:cNvPr>
          <p:cNvSpPr txBox="1"/>
          <p:nvPr/>
        </p:nvSpPr>
        <p:spPr>
          <a:xfrm>
            <a:off x="6816215" y="4549415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깃허브</a:t>
            </a:r>
            <a:endParaRPr lang="en-US" altLang="ko-KR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1A9CA9-3DD8-4EA1-85AA-C825A52810D8}"/>
              </a:ext>
            </a:extLst>
          </p:cNvPr>
          <p:cNvSpPr txBox="1"/>
          <p:nvPr/>
        </p:nvSpPr>
        <p:spPr>
          <a:xfrm>
            <a:off x="6813082" y="4937992"/>
            <a:ext cx="4758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URL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https://github.com/ohjinhokor/SoongsilHaksik</a:t>
            </a:r>
          </a:p>
        </p:txBody>
      </p:sp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244784" y="4096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459937" y="285536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371938" y="738917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317" y="335670"/>
            <a:ext cx="2196022" cy="2605156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7487" y="332327"/>
            <a:ext cx="2038830" cy="26051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404767" y="3406896"/>
            <a:ext cx="5766807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되었던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6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853341" y="2374191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718635" y="2579303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2518BB9-A217-4D86-A3E5-CD1F3D284B15}"/>
              </a:ext>
            </a:extLst>
          </p:cNvPr>
          <p:cNvSpPr/>
          <p:nvPr/>
        </p:nvSpPr>
        <p:spPr>
          <a:xfrm>
            <a:off x="3675065" y="3444171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숭실대학교 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학식 사이트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B3380AB-AD99-4B35-9BC7-645D9AF76C17}"/>
              </a:ext>
            </a:extLst>
          </p:cNvPr>
          <p:cNvCxnSpPr>
            <a:cxnSpLocks/>
          </p:cNvCxnSpPr>
          <p:nvPr/>
        </p:nvCxnSpPr>
        <p:spPr>
          <a:xfrm flipV="1">
            <a:off x="2468199" y="3796904"/>
            <a:ext cx="1092629" cy="70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54E4DD-40D0-4E38-9EE5-1B217B06C71A}"/>
              </a:ext>
            </a:extLst>
          </p:cNvPr>
          <p:cNvSpPr txBox="1"/>
          <p:nvPr/>
        </p:nvSpPr>
        <p:spPr>
          <a:xfrm>
            <a:off x="1993751" y="3707416"/>
            <a:ext cx="1416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</a:t>
            </a:r>
            <a:r>
              <a:rPr lang="ko-KR" altLang="en-US" sz="800" dirty="0"/>
              <a:t>자정이 되면 해당 날짜의 학식 데이터를 </a:t>
            </a:r>
            <a:r>
              <a:rPr lang="ko-KR" altLang="en-US" sz="800" dirty="0" err="1"/>
              <a:t>크롤링</a:t>
            </a:r>
            <a:endParaRPr lang="ko-KR" altLang="en-US" sz="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BC16BF-EF36-48C6-BE8B-870889F153B4}"/>
              </a:ext>
            </a:extLst>
          </p:cNvPr>
          <p:cNvSpPr txBox="1"/>
          <p:nvPr/>
        </p:nvSpPr>
        <p:spPr>
          <a:xfrm>
            <a:off x="880885" y="3643920"/>
            <a:ext cx="8851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순서도</a:t>
            </a:r>
            <a:endParaRPr lang="en-US" altLang="ko-KR" sz="1400" b="1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28E8F128-C198-430C-9FA6-475B7590B0BA}"/>
              </a:ext>
            </a:extLst>
          </p:cNvPr>
          <p:cNvSpPr/>
          <p:nvPr/>
        </p:nvSpPr>
        <p:spPr>
          <a:xfrm>
            <a:off x="747688" y="3768221"/>
            <a:ext cx="113786" cy="9302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DF48C2B-C763-4DB9-AE3F-19CDC12CC9BC}"/>
              </a:ext>
            </a:extLst>
          </p:cNvPr>
          <p:cNvSpPr/>
          <p:nvPr/>
        </p:nvSpPr>
        <p:spPr>
          <a:xfrm>
            <a:off x="1467876" y="4595798"/>
            <a:ext cx="1440074" cy="8986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Server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3225B4-0F2F-4242-B24F-FE0B81C3447F}"/>
              </a:ext>
            </a:extLst>
          </p:cNvPr>
          <p:cNvSpPr/>
          <p:nvPr/>
        </p:nvSpPr>
        <p:spPr>
          <a:xfrm>
            <a:off x="4635995" y="4431885"/>
            <a:ext cx="1157171" cy="95485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68FC1645-17D7-4B6D-9452-D0AFB2F40BCA}"/>
              </a:ext>
            </a:extLst>
          </p:cNvPr>
          <p:cNvCxnSpPr>
            <a:cxnSpLocks/>
          </p:cNvCxnSpPr>
          <p:nvPr/>
        </p:nvCxnSpPr>
        <p:spPr>
          <a:xfrm>
            <a:off x="3014513" y="4705909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CCEFD77-BE7B-4E16-ABFA-CFD7830DFE66}"/>
              </a:ext>
            </a:extLst>
          </p:cNvPr>
          <p:cNvSpPr txBox="1"/>
          <p:nvPr/>
        </p:nvSpPr>
        <p:spPr>
          <a:xfrm>
            <a:off x="3219614" y="4466821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2. </a:t>
            </a:r>
            <a:r>
              <a:rPr lang="ko-KR" altLang="en-US" sz="800" dirty="0"/>
              <a:t>학식 데이터 저장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A50BC5-F672-4FC4-9AED-743411B00FA6}"/>
              </a:ext>
            </a:extLst>
          </p:cNvPr>
          <p:cNvSpPr/>
          <p:nvPr/>
        </p:nvSpPr>
        <p:spPr>
          <a:xfrm>
            <a:off x="242241" y="5981798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Client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753177-2E9B-4414-8830-6BE2199BC645}"/>
              </a:ext>
            </a:extLst>
          </p:cNvPr>
          <p:cNvCxnSpPr>
            <a:cxnSpLocks/>
          </p:cNvCxnSpPr>
          <p:nvPr/>
        </p:nvCxnSpPr>
        <p:spPr>
          <a:xfrm flipV="1">
            <a:off x="580340" y="5226828"/>
            <a:ext cx="743131" cy="640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6D423B7-E165-43FC-BF05-A73AFAFD85D4}"/>
              </a:ext>
            </a:extLst>
          </p:cNvPr>
          <p:cNvSpPr txBox="1"/>
          <p:nvPr/>
        </p:nvSpPr>
        <p:spPr>
          <a:xfrm>
            <a:off x="63199" y="5279021"/>
            <a:ext cx="1127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3. </a:t>
            </a:r>
            <a:r>
              <a:rPr lang="ko-KR" altLang="en-US" sz="800" dirty="0"/>
              <a:t>학식 데이터 요청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D1F1630-41FA-4DD1-AF92-C101D0206764}"/>
              </a:ext>
            </a:extLst>
          </p:cNvPr>
          <p:cNvCxnSpPr>
            <a:cxnSpLocks/>
          </p:cNvCxnSpPr>
          <p:nvPr/>
        </p:nvCxnSpPr>
        <p:spPr>
          <a:xfrm>
            <a:off x="3024664" y="5071982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E71DBE-2187-4F3A-8E1A-A1D385369704}"/>
              </a:ext>
            </a:extLst>
          </p:cNvPr>
          <p:cNvSpPr txBox="1"/>
          <p:nvPr/>
        </p:nvSpPr>
        <p:spPr>
          <a:xfrm>
            <a:off x="3233178" y="4856538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4. </a:t>
            </a:r>
            <a:r>
              <a:rPr lang="ko-KR" altLang="en-US" sz="800" dirty="0"/>
              <a:t>학식 데이터 </a:t>
            </a:r>
            <a:r>
              <a:rPr lang="en-US" altLang="ko-KR" sz="800" dirty="0"/>
              <a:t>select</a:t>
            </a:r>
            <a:endParaRPr lang="ko-KR" altLang="en-US" sz="800" dirty="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828667E0-BB6B-4E44-A105-69D772D08B13}"/>
              </a:ext>
            </a:extLst>
          </p:cNvPr>
          <p:cNvCxnSpPr/>
          <p:nvPr/>
        </p:nvCxnSpPr>
        <p:spPr>
          <a:xfrm flipH="1">
            <a:off x="3024664" y="5386743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874C93D-B7A8-4FD5-91AD-8DC9A0C330D9}"/>
              </a:ext>
            </a:extLst>
          </p:cNvPr>
          <p:cNvSpPr txBox="1"/>
          <p:nvPr/>
        </p:nvSpPr>
        <p:spPr>
          <a:xfrm>
            <a:off x="3287318" y="5179704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5. </a:t>
            </a:r>
            <a:r>
              <a:rPr lang="ko-KR" altLang="en-US" sz="800" dirty="0"/>
              <a:t>학식 데이터 전송 </a:t>
            </a: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FE034CB-AFE0-4529-A5D1-1492A8161455}"/>
              </a:ext>
            </a:extLst>
          </p:cNvPr>
          <p:cNvCxnSpPr>
            <a:cxnSpLocks/>
          </p:cNvCxnSpPr>
          <p:nvPr/>
        </p:nvCxnSpPr>
        <p:spPr>
          <a:xfrm flipH="1">
            <a:off x="1601006" y="5609576"/>
            <a:ext cx="544912" cy="528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D3116E5-6CB4-4A12-907A-3BC4AD5BF490}"/>
              </a:ext>
            </a:extLst>
          </p:cNvPr>
          <p:cNvSpPr txBox="1"/>
          <p:nvPr/>
        </p:nvSpPr>
        <p:spPr>
          <a:xfrm>
            <a:off x="1840613" y="5858411"/>
            <a:ext cx="1173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6. </a:t>
            </a:r>
            <a:r>
              <a:rPr lang="ko-KR" altLang="en-US" sz="800" dirty="0"/>
              <a:t>학식 데이터 전송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D578B79-6DDB-4C7A-812D-A903A43203B9}"/>
              </a:ext>
            </a:extLst>
          </p:cNvPr>
          <p:cNvCxnSpPr>
            <a:cxnSpLocks/>
          </p:cNvCxnSpPr>
          <p:nvPr/>
        </p:nvCxnSpPr>
        <p:spPr>
          <a:xfrm flipH="1">
            <a:off x="2558837" y="3884062"/>
            <a:ext cx="1016572" cy="663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1F20BE13-55BC-49E5-94D9-15A72C52B0D7}"/>
              </a:ext>
            </a:extLst>
          </p:cNvPr>
          <p:cNvSpPr txBox="1"/>
          <p:nvPr/>
        </p:nvSpPr>
        <p:spPr>
          <a:xfrm>
            <a:off x="6147540" y="5770089"/>
            <a:ext cx="592493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&lt;</a:t>
            </a:r>
            <a:r>
              <a:rPr lang="ko-KR" altLang="en-US" sz="1600" b="1" dirty="0" err="1"/>
              <a:t>리팩토링</a:t>
            </a:r>
            <a:r>
              <a:rPr lang="ko-KR" altLang="en-US" sz="1600" b="1" dirty="0"/>
              <a:t> 결과</a:t>
            </a:r>
            <a:r>
              <a:rPr lang="en-US" altLang="ko-KR" sz="1600" b="1" dirty="0"/>
              <a:t>&gt; </a:t>
            </a:r>
            <a:r>
              <a:rPr lang="ko-KR" altLang="en-US" sz="1600" b="1" dirty="0"/>
              <a:t>수행 시간이 </a:t>
            </a:r>
            <a:r>
              <a:rPr lang="en-US" altLang="ko-KR" sz="1600" b="1" dirty="0"/>
              <a:t>1561ms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-&gt; 213ms</a:t>
            </a:r>
            <a:r>
              <a:rPr lang="ko-KR" altLang="en-US" sz="1600" b="1" dirty="0"/>
              <a:t>로 줄어드는</a:t>
            </a:r>
            <a:endParaRPr lang="en-US" altLang="ko-KR" sz="1600" b="1" dirty="0"/>
          </a:p>
          <a:p>
            <a:r>
              <a:rPr lang="ko-KR" altLang="en-US" sz="1600" b="1" dirty="0"/>
              <a:t> 성능 향상을 보였습니다</a:t>
            </a:r>
            <a:endParaRPr lang="en-US" altLang="ko-KR" sz="16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5359</TotalTime>
  <Words>1591</Words>
  <Application>Microsoft Office PowerPoint</Application>
  <PresentationFormat>와이드스크린</PresentationFormat>
  <Paragraphs>314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오진호</cp:lastModifiedBy>
  <cp:revision>351</cp:revision>
  <dcterms:created xsi:type="dcterms:W3CDTF">2021-09-02T08:00:50Z</dcterms:created>
  <dcterms:modified xsi:type="dcterms:W3CDTF">2022-05-01T03:30:36Z</dcterms:modified>
</cp:coreProperties>
</file>