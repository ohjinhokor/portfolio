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77" r:id="rId3"/>
    <p:sldId id="271" r:id="rId4"/>
    <p:sldId id="272" r:id="rId5"/>
    <p:sldId id="281" r:id="rId6"/>
    <p:sldId id="276" r:id="rId7"/>
    <p:sldId id="269" r:id="rId8"/>
    <p:sldId id="268" r:id="rId9"/>
    <p:sldId id="278" r:id="rId10"/>
    <p:sldId id="280" r:id="rId11"/>
    <p:sldId id="279" r:id="rId12"/>
    <p:sldId id="260" r:id="rId13"/>
    <p:sldId id="261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584" autoAdjust="0"/>
    <p:restoredTop sz="94660"/>
  </p:normalViewPr>
  <p:slideViewPr>
    <p:cSldViewPr snapToGrid="0">
      <p:cViewPr varScale="1">
        <p:scale>
          <a:sx n="162" d="100"/>
          <a:sy n="162" d="100"/>
        </p:scale>
        <p:origin x="372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06EAE-9ED8-4493-8307-E0CBB87D5314}" type="datetimeFigureOut">
              <a:rPr lang="ko-KR" altLang="en-US" smtClean="0"/>
              <a:t>2022-04-30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7C8723-B0A8-44DF-B11C-1529A2C957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066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EDD1A-FA7A-434E-9B66-FC62095226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128C861-011E-4490-8EB3-D6B78A380A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92949AD-E147-4013-99FF-2D4FA55AC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2022-04-30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199DBB-B2C3-4721-AAB9-D30B21FD8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910567-EA62-4EDC-9619-23EF37049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39604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983461-3589-47C9-BC84-1F6774FC5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54A376-77FE-4F01-8822-8CBBBBADEC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D2D8F8-AD77-49DC-BA99-52ECACFFD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2022-04-30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20A9B4-60CD-4A93-84AA-4AA1D2090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393833-3554-460E-A120-8DDB080CB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7077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745B1B-F050-4A2E-B57E-319B1C151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F77761F-5150-4DF9-90F4-FF93ECB0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244BEF7-2AFC-49B8-997E-D079E85BD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2022-04-30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AC3AFE-7BEC-4BD7-8F3D-86E2498A0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22FAAA-4AC4-4900-B217-DDC5EF04A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22431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06BFD-C93D-465A-A1BB-06A08E91D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B60447-EBBC-4A0D-85FE-8138E59D23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22DDACD-F475-4279-A52A-FC383F7C7C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719B81-9EF5-48B5-9F19-81D0EC8B6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2022-04-30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6D725C-7393-4A0F-A51C-8C027A295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5426847-7F7E-4006-BB97-B2BC9E684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655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C919D5-CD33-4C17-8E2A-F118161B5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F24C9D-D6D6-46A1-95F2-108C468853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80F65BC-44EC-41FC-A9DE-AAC9AB6B91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9786B56-9E80-44D6-A8C6-86E45EAFA3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A721A22-D187-400F-ABCB-7050B71CAD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804F337-125F-45E4-8955-5378A8373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2022-04-30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BC0B01-4F3B-4208-8467-E19A95B00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81BDFEF-3759-495D-93CB-A30309D0B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7509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B6692B-4DB1-477F-8B2E-E14A7B04B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54098E-EAF2-43FE-B149-05BFB8AD5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2022-04-30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559DEC-B562-4D7A-98D6-03916C74F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A102E4-8946-4025-B68A-DA96B5A99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86984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97A45C2-3C32-4A6B-B928-5F793752F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2022-04-30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A053D21-9CC7-4967-ACA6-83B5DB911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57EC49-987B-4C80-B3D1-362EC260C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04999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9BE49-7F10-4C93-A11F-FAE538C9D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EC39CF-03FF-4F26-8B3A-9FEA98024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7642CD6-3AEF-4525-94E7-237EE094FB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A85488-BC5C-4363-A379-A8E4EFDAE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2022-04-30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2C6A69-6D5A-42C1-8E2F-D9C680443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BF19BC-229C-4365-AD57-0682792CD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8324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7BBB45-7470-45A7-8EDB-1DDFB4E69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FC7D90B-075C-4168-ABCD-C1736F09F9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7F0EB17-CC0E-4C44-9611-02A3EA736A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BE52177-2A67-47BC-8871-A32F29A00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2022-04-30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6B5F624-CEF9-4E83-9A21-A05DEE08E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A94CA1-DBCD-45E2-B760-4E65B2068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701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49C12-874F-4399-86CB-E5EEB7A96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A78AB1-E5E4-4A97-A836-4FD4651CD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65C709-F1DC-4C8C-B086-1E83CF964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2022-04-30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BC370C-0849-47CE-B076-DA641B06F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A398DF-CA33-4612-81A2-CF2006DB4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5233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4D70B29-E381-4250-AF87-56596084E7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F73C664-F4C6-4766-864B-D8BAA1385B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8103BF-587F-40C1-B45E-0E35C7C93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2022-04-30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1C9230-EE9A-4001-BD76-F6E1055B9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0A6A60-EC7C-49AA-A82E-3D553D88D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7891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4F0BA2D-27E8-4ED2-89A1-2FA10A13F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9D619A-8D01-4053-9EB1-7BC4E9DA09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2646E7-6A4E-4A9D-B6CE-B600874297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1FD04A-7A57-4ABB-A4D2-40192FED31D2}" type="datetimeFigureOut">
              <a:rPr lang="ko-KR" altLang="en-US" smtClean="0"/>
              <a:t>2022-04-30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77F178-130D-4E3E-86C3-65F2AFFC8D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DB19FC-C1E5-43E9-88F3-0DEB5E755C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7504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fantasy-ticket-2c3.notion.site/Be-st-Practice-Bepi-6eb9132dba294c6bac4b532fc273a13c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thub.com/ohjinhokor" TargetMode="External"/><Relationship Id="rId4" Type="http://schemas.openxmlformats.org/officeDocument/2006/relationships/hyperlink" Target="mailto:ohjinho7@gmail.com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4.JPG"/><Relationship Id="rId7" Type="http://schemas.openxmlformats.org/officeDocument/2006/relationships/image" Target="../media/image8.jpg"/><Relationship Id="rId12" Type="http://schemas.openxmlformats.org/officeDocument/2006/relationships/image" Target="../media/image1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11.png"/><Relationship Id="rId5" Type="http://schemas.openxmlformats.org/officeDocument/2006/relationships/image" Target="../media/image6.png"/><Relationship Id="rId10" Type="http://schemas.openxmlformats.org/officeDocument/2006/relationships/image" Target="../media/image10.png"/><Relationship Id="rId4" Type="http://schemas.openxmlformats.org/officeDocument/2006/relationships/image" Target="../media/image5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벽, 실내, 사람이(가) 표시된 사진&#10;&#10;자동 생성된 설명">
            <a:extLst>
              <a:ext uri="{FF2B5EF4-FFF2-40B4-BE49-F238E27FC236}">
                <a16:creationId xmlns:a16="http://schemas.microsoft.com/office/drawing/2014/main" id="{F400C45B-EF0D-436F-8A0E-2754E15A2D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" y="453390"/>
            <a:ext cx="5288280" cy="53416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7BCA0CD-2103-4879-BA3D-3B0748FB66AF}"/>
              </a:ext>
            </a:extLst>
          </p:cNvPr>
          <p:cNvSpPr txBox="1"/>
          <p:nvPr/>
        </p:nvSpPr>
        <p:spPr>
          <a:xfrm>
            <a:off x="5795204" y="4980220"/>
            <a:ext cx="5173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숭실대학교 </a:t>
            </a:r>
            <a:r>
              <a:rPr lang="en-US" altLang="ko-KR" sz="1100" dirty="0"/>
              <a:t>IT</a:t>
            </a:r>
            <a:r>
              <a:rPr lang="ko-KR" altLang="en-US" sz="1100" dirty="0"/>
              <a:t>대학 글로벌미디어학부</a:t>
            </a:r>
            <a:r>
              <a:rPr lang="en-US" altLang="ko-KR" sz="1100" dirty="0"/>
              <a:t>(2016.03 ~)</a:t>
            </a:r>
            <a:endParaRPr lang="ko-KR" altLang="en-US" sz="11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FDEF8A-92A1-4EF9-859A-584344041B80}"/>
              </a:ext>
            </a:extLst>
          </p:cNvPr>
          <p:cNvSpPr txBox="1"/>
          <p:nvPr/>
        </p:nvSpPr>
        <p:spPr>
          <a:xfrm>
            <a:off x="5803140" y="3189081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숭실대학교 창업지원단 소속 </a:t>
            </a:r>
            <a:r>
              <a:rPr lang="ko-KR" altLang="en-US" sz="1100" dirty="0" err="1"/>
              <a:t>온더브릿지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(2021. 04 ~ 2021.08)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F5C8A2-14A3-4EB8-890A-39A82BF61709}"/>
              </a:ext>
            </a:extLst>
          </p:cNvPr>
          <p:cNvSpPr txBox="1"/>
          <p:nvPr/>
        </p:nvSpPr>
        <p:spPr>
          <a:xfrm>
            <a:off x="5783579" y="623815"/>
            <a:ext cx="569066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Be</a:t>
            </a:r>
            <a:r>
              <a:rPr lang="en-US" altLang="ko-KR" sz="2800" dirty="0">
                <a:latin typeface="Arial Rounded MT Bold" panose="020F0704030504030204" pitchFamily="34" charset="0"/>
              </a:rPr>
              <a:t>st 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P</a:t>
            </a:r>
            <a:r>
              <a:rPr lang="en-US" altLang="ko-KR" sz="2800" dirty="0">
                <a:latin typeface="Arial Rounded MT Bold" panose="020F0704030504030204" pitchFamily="34" charset="0"/>
              </a:rPr>
              <a:t>ract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i</a:t>
            </a:r>
            <a:r>
              <a:rPr lang="en-US" altLang="ko-KR" sz="2800" dirty="0">
                <a:latin typeface="Arial Rounded MT Bold" panose="020F0704030504030204" pitchFamily="34" charset="0"/>
              </a:rPr>
              <a:t>ce  </a:t>
            </a:r>
          </a:p>
          <a:p>
            <a:endParaRPr lang="en-US" altLang="ko-KR" sz="1600" dirty="0">
              <a:latin typeface="Arial Rounded MT Bold" panose="020F0704030504030204" pitchFamily="34" charset="0"/>
            </a:endParaRPr>
          </a:p>
          <a:p>
            <a:r>
              <a:rPr lang="ko-KR" altLang="en-US" sz="1600" dirty="0">
                <a:latin typeface="Arial Rounded MT Bold" panose="020F0704030504030204" pitchFamily="34" charset="0"/>
              </a:rPr>
              <a:t>더 좋은 방법을 고민하는 개발자 </a:t>
            </a:r>
            <a:r>
              <a:rPr lang="en-US" altLang="ko-KR" sz="1600" dirty="0" err="1">
                <a:latin typeface="Arial Rounded MT Bold" panose="020F0704030504030204" pitchFamily="34" charset="0"/>
              </a:rPr>
              <a:t>Bepi</a:t>
            </a:r>
            <a:r>
              <a:rPr lang="ko-KR" altLang="en-US" sz="1600" dirty="0">
                <a:latin typeface="Arial Rounded MT Bold" panose="020F0704030504030204" pitchFamily="34" charset="0"/>
              </a:rPr>
              <a:t>입니다</a:t>
            </a:r>
            <a:endParaRPr lang="en-US" altLang="ko-KR" sz="1600" dirty="0">
              <a:latin typeface="Arial Rounded MT Bold" panose="020F07040305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2AD1C1-A19B-4AC8-A413-FE5F5F43CBCB}"/>
              </a:ext>
            </a:extLst>
          </p:cNvPr>
          <p:cNvSpPr txBox="1"/>
          <p:nvPr/>
        </p:nvSpPr>
        <p:spPr>
          <a:xfrm>
            <a:off x="1695450" y="6069568"/>
            <a:ext cx="2415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백엔드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개발자 오진호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8D3ACA-DCCA-4D45-A3EB-63540921026B}"/>
              </a:ext>
            </a:extLst>
          </p:cNvPr>
          <p:cNvSpPr txBox="1"/>
          <p:nvPr/>
        </p:nvSpPr>
        <p:spPr>
          <a:xfrm>
            <a:off x="8272330" y="5610278"/>
            <a:ext cx="3858017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   </a:t>
            </a:r>
            <a:endParaRPr lang="en-US" altLang="ko-KR" sz="1100" b="1" dirty="0"/>
          </a:p>
          <a:p>
            <a:endParaRPr lang="en-US" altLang="ko-KR" sz="1100" dirty="0"/>
          </a:p>
          <a:p>
            <a:endParaRPr lang="en-US" altLang="ko-KR" sz="1100" dirty="0"/>
          </a:p>
          <a:p>
            <a:pPr algn="r"/>
            <a:r>
              <a:rPr lang="en-US" altLang="ko-KR" sz="1100" dirty="0"/>
              <a:t>Resume: </a:t>
            </a:r>
            <a:r>
              <a:rPr lang="ko-KR" altLang="en-US" sz="1100" dirty="0">
                <a:hlinkClick r:id="rId3"/>
              </a:rPr>
              <a:t>링크</a:t>
            </a:r>
            <a:endParaRPr lang="en-US" altLang="ko-KR" sz="1100" dirty="0"/>
          </a:p>
          <a:p>
            <a:pPr algn="r"/>
            <a:r>
              <a:rPr lang="en-US" altLang="ko-KR" sz="1100" dirty="0"/>
              <a:t>Email: </a:t>
            </a:r>
            <a:r>
              <a:rPr lang="en-US" altLang="ko-KR" sz="1100" dirty="0">
                <a:hlinkClick r:id="rId4"/>
              </a:rPr>
              <a:t>ohjinho7@gmail.com</a:t>
            </a:r>
            <a:endParaRPr lang="en-US" altLang="ko-KR" sz="1100" dirty="0"/>
          </a:p>
          <a:p>
            <a:pPr algn="r"/>
            <a:r>
              <a:rPr lang="en-US" altLang="ko-KR" sz="1100" dirty="0" err="1"/>
              <a:t>Github</a:t>
            </a:r>
            <a:r>
              <a:rPr lang="en-US" altLang="ko-KR" sz="1100" dirty="0"/>
              <a:t>: </a:t>
            </a:r>
            <a:r>
              <a:rPr lang="en-US" altLang="ko-KR" sz="1100" dirty="0">
                <a:hlinkClick r:id="rId5"/>
              </a:rPr>
              <a:t>https://github.com/ohjinhokor</a:t>
            </a:r>
            <a:endParaRPr lang="en-US" altLang="ko-KR" sz="1100" dirty="0"/>
          </a:p>
          <a:p>
            <a:pPr algn="r"/>
            <a:endParaRPr lang="en-US" altLang="ko-KR" sz="1100" dirty="0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D204CD73-0EED-42FC-8D21-86A2373FAD75}"/>
              </a:ext>
            </a:extLst>
          </p:cNvPr>
          <p:cNvCxnSpPr>
            <a:cxnSpLocks/>
          </p:cNvCxnSpPr>
          <p:nvPr/>
        </p:nvCxnSpPr>
        <p:spPr>
          <a:xfrm>
            <a:off x="5650302" y="2124991"/>
            <a:ext cx="64294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3A6887C-B1DA-4C65-92C8-63DC460BC854}"/>
              </a:ext>
            </a:extLst>
          </p:cNvPr>
          <p:cNvSpPr txBox="1"/>
          <p:nvPr/>
        </p:nvSpPr>
        <p:spPr>
          <a:xfrm>
            <a:off x="5783580" y="4176695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Google Developers Student Club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Server/Cloud Member(2021.09~)</a:t>
            </a:r>
            <a:endParaRPr lang="ko-KR" altLang="en-US" sz="11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9BA9AE-E79D-4B05-BFF5-BCCBB1FB312E}"/>
              </a:ext>
            </a:extLst>
          </p:cNvPr>
          <p:cNvSpPr txBox="1"/>
          <p:nvPr/>
        </p:nvSpPr>
        <p:spPr>
          <a:xfrm>
            <a:off x="5783580" y="3915085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숭실대학교</a:t>
            </a:r>
            <a:r>
              <a:rPr lang="en-US" altLang="ko-KR" sz="1100" dirty="0"/>
              <a:t> </a:t>
            </a:r>
            <a:r>
              <a:rPr lang="ko-KR" altLang="en-US" sz="1100" dirty="0"/>
              <a:t>개발동아리 </a:t>
            </a:r>
            <a:r>
              <a:rPr lang="ko-KR" altLang="en-US" sz="1100" dirty="0" err="1"/>
              <a:t>유어슈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팀원</a:t>
            </a:r>
            <a:r>
              <a:rPr lang="en-US" altLang="ko-KR" sz="1100" dirty="0"/>
              <a:t>(2021.10~)</a:t>
            </a:r>
            <a:endParaRPr lang="ko-KR" altLang="en-US" sz="11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95444D-8F9D-425E-8D71-6F757D1A70DC}"/>
              </a:ext>
            </a:extLst>
          </p:cNvPr>
          <p:cNvSpPr txBox="1"/>
          <p:nvPr/>
        </p:nvSpPr>
        <p:spPr>
          <a:xfrm>
            <a:off x="5800832" y="2711976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 err="1"/>
              <a:t>샵라이브</a:t>
            </a:r>
            <a:r>
              <a:rPr lang="ko-KR" altLang="en-US" sz="1100" dirty="0"/>
              <a:t> 코리아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</a:t>
            </a:r>
            <a:r>
              <a:rPr lang="ko-KR" altLang="en-US" sz="1100" dirty="0"/>
              <a:t>학점연계 인턴십</a:t>
            </a:r>
            <a:r>
              <a:rPr lang="en-US" altLang="ko-KR" sz="1100" dirty="0"/>
              <a:t>)</a:t>
            </a:r>
            <a:r>
              <a:rPr lang="ko-KR" altLang="en-US" sz="1100" dirty="0"/>
              <a:t> </a:t>
            </a:r>
            <a:r>
              <a:rPr lang="en-US" altLang="ko-KR" sz="1100" dirty="0"/>
              <a:t>(2022.03 ~ 2022.06)</a:t>
            </a:r>
            <a:endParaRPr lang="ko-KR" altLang="en-US" sz="11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CE5EC8-14B3-4915-9389-EE0F9D29C9B4}"/>
              </a:ext>
            </a:extLst>
          </p:cNvPr>
          <p:cNvSpPr txBox="1"/>
          <p:nvPr/>
        </p:nvSpPr>
        <p:spPr>
          <a:xfrm>
            <a:off x="5795204" y="4626275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학력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A6B76A-7240-4F37-96D3-DD897417E7B7}"/>
              </a:ext>
            </a:extLst>
          </p:cNvPr>
          <p:cNvSpPr txBox="1"/>
          <p:nvPr/>
        </p:nvSpPr>
        <p:spPr>
          <a:xfrm>
            <a:off x="5783580" y="2396679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이력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349158-CF0F-4051-9153-867EC6C84947}"/>
              </a:ext>
            </a:extLst>
          </p:cNvPr>
          <p:cNvSpPr txBox="1"/>
          <p:nvPr/>
        </p:nvSpPr>
        <p:spPr>
          <a:xfrm>
            <a:off x="5783580" y="3598974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동아리 및 커뮤니티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F3775D8-2904-41BC-9A6A-F8862BF45D72}"/>
              </a:ext>
            </a:extLst>
          </p:cNvPr>
          <p:cNvCxnSpPr>
            <a:cxnSpLocks/>
          </p:cNvCxnSpPr>
          <p:nvPr/>
        </p:nvCxnSpPr>
        <p:spPr>
          <a:xfrm>
            <a:off x="5650302" y="5606058"/>
            <a:ext cx="64294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9FDD0120-1F58-41D2-A86C-0C75209B4B91}"/>
              </a:ext>
            </a:extLst>
          </p:cNvPr>
          <p:cNvSpPr txBox="1"/>
          <p:nvPr/>
        </p:nvSpPr>
        <p:spPr>
          <a:xfrm>
            <a:off x="5799080" y="2949377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스타트업 겨울방학 인턴십 </a:t>
            </a:r>
            <a:r>
              <a:rPr lang="en-US" altLang="ko-KR" sz="1100" dirty="0"/>
              <a:t>DINO-STUDIO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 </a:t>
            </a:r>
            <a:r>
              <a:rPr lang="en-US" altLang="ko-KR" sz="1100" dirty="0"/>
              <a:t>(2021.12 ~ 2022.02)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729090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58601" y="453182"/>
            <a:ext cx="74816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>
                <a:latin typeface="Arial" panose="020B0604020202020204" pitchFamily="34" charset="0"/>
                <a:cs typeface="Arial" panose="020B0604020202020204" pitchFamily="34" charset="0"/>
              </a:rPr>
              <a:t>DINO STUDIO </a:t>
            </a:r>
          </a:p>
          <a:p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ko-KR" alt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스타트업 인턴십</a:t>
            </a:r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ko-KR" alt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05618" y="1878564"/>
            <a:ext cx="456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프로젝트 명 </a:t>
            </a:r>
            <a:r>
              <a:rPr lang="en-US" altLang="ko-KR" dirty="0"/>
              <a:t>: </a:t>
            </a:r>
            <a:r>
              <a:rPr lang="ko-KR" altLang="en-US" dirty="0"/>
              <a:t>하이엔드</a:t>
            </a:r>
            <a:r>
              <a:rPr lang="en-US" altLang="ko-KR" dirty="0"/>
              <a:t>(High-End)</a:t>
            </a:r>
            <a:endParaRPr lang="ko-KR" altLang="en-US" dirty="0"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792649" y="2951474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1097691" y="280138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참여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1118521" y="3170713"/>
            <a:ext cx="2769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12. 28 ~ 2022. 02. 28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7243355" y="2607851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7548397" y="2457758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7548397" y="2837668"/>
            <a:ext cx="386500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Jpa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Querydsl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MySql</a:t>
            </a:r>
            <a:endParaRPr lang="en-US" altLang="ko-KR" sz="1400" dirty="0"/>
          </a:p>
          <a:p>
            <a:r>
              <a:rPr lang="en-US" altLang="ko-KR" sz="1400" dirty="0"/>
              <a:t>- EC2, RDS, S3, CloudFront</a:t>
            </a:r>
          </a:p>
          <a:p>
            <a:r>
              <a:rPr lang="en-US" altLang="ko-KR" sz="1400" dirty="0"/>
              <a:t>- CICD</a:t>
            </a:r>
            <a:endParaRPr lang="ko-KR" altLang="en-US" sz="1400" dirty="0"/>
          </a:p>
          <a:p>
            <a:r>
              <a:rPr lang="en-US" altLang="ko-KR" sz="1400" dirty="0"/>
              <a:t>- </a:t>
            </a:r>
            <a:r>
              <a:rPr lang="ko-KR" altLang="en-US" sz="1400" dirty="0" err="1"/>
              <a:t>무중단</a:t>
            </a:r>
            <a:r>
              <a:rPr lang="ko-KR" altLang="en-US" sz="1400" dirty="0"/>
              <a:t> 배포</a:t>
            </a:r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792649" y="3925408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1071946" y="3775315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7243371" y="4136064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7415407" y="398597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7436237" y="4407689"/>
            <a:ext cx="3507469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⨀ 서버 </a:t>
            </a:r>
            <a:r>
              <a:rPr lang="en-US" altLang="ko-KR" sz="1100" dirty="0"/>
              <a:t>API </a:t>
            </a:r>
            <a:r>
              <a:rPr lang="ko-KR" altLang="en-US" sz="1100" dirty="0"/>
              <a:t>구현 및 비즈니스 로직 작성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인프라 구축 </a:t>
            </a:r>
            <a:r>
              <a:rPr lang="en-US" altLang="ko-KR" sz="1100" dirty="0"/>
              <a:t>- EC2, RDS, S3, CloudFront</a:t>
            </a:r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en-US" altLang="ko-KR" sz="1100" dirty="0"/>
              <a:t>Spring </a:t>
            </a:r>
            <a:r>
              <a:rPr lang="en-US" altLang="ko-KR" sz="1100" dirty="0" err="1"/>
              <a:t>WebClient</a:t>
            </a:r>
            <a:r>
              <a:rPr lang="ko-KR" altLang="en-US" sz="1100" dirty="0"/>
              <a:t>를 이용한 외부 </a:t>
            </a:r>
            <a:r>
              <a:rPr lang="en-US" altLang="ko-KR" sz="1100" dirty="0"/>
              <a:t>API</a:t>
            </a:r>
            <a:r>
              <a:rPr lang="ko-KR" altLang="en-US" sz="1100" dirty="0"/>
              <a:t>와의 통신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en-US" altLang="ko-KR" sz="1100" dirty="0"/>
              <a:t>CICD</a:t>
            </a:r>
            <a:r>
              <a:rPr lang="ko-KR" altLang="en-US" sz="1100" dirty="0"/>
              <a:t>와 </a:t>
            </a:r>
            <a:r>
              <a:rPr lang="ko-KR" altLang="en-US" sz="1100" dirty="0" err="1"/>
              <a:t>무중단</a:t>
            </a:r>
            <a:r>
              <a:rPr lang="ko-KR" altLang="en-US" sz="1100" dirty="0"/>
              <a:t> 배포 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ko-KR" altLang="en-US" sz="1100" dirty="0" err="1"/>
              <a:t>스웨거를</a:t>
            </a:r>
            <a:r>
              <a:rPr lang="ko-KR" altLang="en-US" sz="1100" dirty="0"/>
              <a:t> 이용한 </a:t>
            </a:r>
            <a:r>
              <a:rPr lang="en-US" altLang="ko-KR" sz="1100" dirty="0"/>
              <a:t>API </a:t>
            </a:r>
            <a:r>
              <a:rPr lang="ko-KR" altLang="en-US" sz="1100" dirty="0"/>
              <a:t>문서 자동화 </a:t>
            </a:r>
            <a:endParaRPr lang="en-US" altLang="ko-KR" sz="1100" dirty="0"/>
          </a:p>
          <a:p>
            <a:endParaRPr lang="en-US" altLang="ko-KR" sz="11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3427E50-B330-4DAB-8331-9469154D2C22}"/>
              </a:ext>
            </a:extLst>
          </p:cNvPr>
          <p:cNvSpPr txBox="1"/>
          <p:nvPr/>
        </p:nvSpPr>
        <p:spPr>
          <a:xfrm>
            <a:off x="1018855" y="4194655"/>
            <a:ext cx="54088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1200" dirty="0"/>
              <a:t>남녀의 만남을 주선하는 소개팅 어플입니다</a:t>
            </a:r>
            <a:r>
              <a:rPr lang="en-US" altLang="ko-KR" sz="1200" dirty="0"/>
              <a:t>. 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매일 새로운 이성을 추천합니다</a:t>
            </a:r>
            <a:r>
              <a:rPr lang="en-US" altLang="ko-KR" sz="1200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설정에 따라 지인에게 내 정보가 노출되지 않도록 할 수 있습니다</a:t>
            </a:r>
            <a:r>
              <a:rPr lang="en-US" altLang="ko-KR" sz="1200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7828767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직사각형 17">
            <a:extLst>
              <a:ext uri="{FF2B5EF4-FFF2-40B4-BE49-F238E27FC236}">
                <a16:creationId xmlns:a16="http://schemas.microsoft.com/office/drawing/2014/main" id="{8C0464AD-3790-4CC9-9053-57E7A97A5625}"/>
              </a:ext>
            </a:extLst>
          </p:cNvPr>
          <p:cNvSpPr/>
          <p:nvPr/>
        </p:nvSpPr>
        <p:spPr>
          <a:xfrm>
            <a:off x="4300630" y="2900737"/>
            <a:ext cx="2937950" cy="17186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D7230D6-3102-46D1-BE37-7E8A853A34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7670" y="3649428"/>
            <a:ext cx="853974" cy="570905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5880CFB2-BA58-46B2-8B55-D798D3DD06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529" y="2786986"/>
            <a:ext cx="1682750" cy="152758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2FD272B-72CA-452D-86F3-84BE21C584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249" y="751909"/>
            <a:ext cx="1213767" cy="104893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5ADA086-C50C-4D13-9469-3C32C3C969B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1812" y="5463879"/>
            <a:ext cx="842160" cy="77111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CEE4584-9F76-44D4-B294-7F04B135A94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3413" y="2534274"/>
            <a:ext cx="726820" cy="777061"/>
          </a:xfrm>
          <a:prstGeom prst="rect">
            <a:avLst/>
          </a:prstGeom>
        </p:spPr>
      </p:pic>
      <p:pic>
        <p:nvPicPr>
          <p:cNvPr id="4" name="그림 3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CACCBE85-BEB1-4557-9F28-6BB685E86CD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4123" y="653243"/>
            <a:ext cx="1901945" cy="980384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13BC349-6ED3-426E-A8FD-8294867C9EA7}"/>
              </a:ext>
            </a:extLst>
          </p:cNvPr>
          <p:cNvCxnSpPr>
            <a:cxnSpLocks/>
          </p:cNvCxnSpPr>
          <p:nvPr/>
        </p:nvCxnSpPr>
        <p:spPr>
          <a:xfrm>
            <a:off x="2338918" y="3897038"/>
            <a:ext cx="215256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AB6D20D-C1BF-43B1-BEB8-F315878472F4}"/>
              </a:ext>
            </a:extLst>
          </p:cNvPr>
          <p:cNvCxnSpPr>
            <a:cxnSpLocks/>
          </p:cNvCxnSpPr>
          <p:nvPr/>
        </p:nvCxnSpPr>
        <p:spPr>
          <a:xfrm flipH="1" flipV="1">
            <a:off x="5727274" y="1514388"/>
            <a:ext cx="11053" cy="10329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4ADA31A-051D-4242-AB16-727D5A00FE40}"/>
              </a:ext>
            </a:extLst>
          </p:cNvPr>
          <p:cNvSpPr txBox="1"/>
          <p:nvPr/>
        </p:nvSpPr>
        <p:spPr>
          <a:xfrm>
            <a:off x="5736823" y="1961448"/>
            <a:ext cx="15113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저장 요청</a:t>
            </a: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70120EEE-87AC-4B52-8E02-6D2B325E4187}"/>
              </a:ext>
            </a:extLst>
          </p:cNvPr>
          <p:cNvCxnSpPr>
            <a:cxnSpLocks/>
          </p:cNvCxnSpPr>
          <p:nvPr/>
        </p:nvCxnSpPr>
        <p:spPr>
          <a:xfrm>
            <a:off x="3757143" y="1086897"/>
            <a:ext cx="14504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B138F823-6B52-4725-A067-340F083B8228}"/>
              </a:ext>
            </a:extLst>
          </p:cNvPr>
          <p:cNvCxnSpPr>
            <a:cxnSpLocks/>
          </p:cNvCxnSpPr>
          <p:nvPr/>
        </p:nvCxnSpPr>
        <p:spPr>
          <a:xfrm>
            <a:off x="5630489" y="4740825"/>
            <a:ext cx="0" cy="6489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FCCC8B95-BFBF-4791-9BAB-5BB10E113FC2}"/>
              </a:ext>
            </a:extLst>
          </p:cNvPr>
          <p:cNvCxnSpPr>
            <a:cxnSpLocks/>
          </p:cNvCxnSpPr>
          <p:nvPr/>
        </p:nvCxnSpPr>
        <p:spPr>
          <a:xfrm flipV="1">
            <a:off x="5867050" y="4739406"/>
            <a:ext cx="0" cy="6489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550D3A4-7E85-4793-87DF-7F69DE4C5364}"/>
              </a:ext>
            </a:extLst>
          </p:cNvPr>
          <p:cNvSpPr txBox="1"/>
          <p:nvPr/>
        </p:nvSpPr>
        <p:spPr>
          <a:xfrm>
            <a:off x="5196492" y="4967811"/>
            <a:ext cx="5084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CRUD</a:t>
            </a:r>
            <a:endParaRPr lang="ko-KR" altLang="en-US" sz="8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FB030E-21BE-451F-A3AB-E90418ABBE40}"/>
              </a:ext>
            </a:extLst>
          </p:cNvPr>
          <p:cNvSpPr txBox="1"/>
          <p:nvPr/>
        </p:nvSpPr>
        <p:spPr>
          <a:xfrm>
            <a:off x="5862581" y="4980251"/>
            <a:ext cx="74778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/>
              <a:t>데이터 제공</a:t>
            </a:r>
            <a:endParaRPr lang="ko-KR" altLang="en-US" sz="800" dirty="0"/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E2BCB56A-25FF-4DC0-98A5-D980E3E6B619}"/>
              </a:ext>
            </a:extLst>
          </p:cNvPr>
          <p:cNvCxnSpPr>
            <a:cxnSpLocks/>
          </p:cNvCxnSpPr>
          <p:nvPr/>
        </p:nvCxnSpPr>
        <p:spPr>
          <a:xfrm flipH="1">
            <a:off x="3734064" y="1448062"/>
            <a:ext cx="145040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98E68A65-84CA-4A76-A433-D4E9923DF8CF}"/>
              </a:ext>
            </a:extLst>
          </p:cNvPr>
          <p:cNvSpPr txBox="1"/>
          <p:nvPr/>
        </p:nvSpPr>
        <p:spPr>
          <a:xfrm>
            <a:off x="4127547" y="850931"/>
            <a:ext cx="114907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요청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B3215CE-062B-431D-A14B-396D6A0FFAEF}"/>
              </a:ext>
            </a:extLst>
          </p:cNvPr>
          <p:cNvSpPr txBox="1"/>
          <p:nvPr/>
        </p:nvSpPr>
        <p:spPr>
          <a:xfrm>
            <a:off x="4131650" y="1230597"/>
            <a:ext cx="7112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제공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80C5A208-BBF2-4079-B615-8CDA55FF9DD6}"/>
              </a:ext>
            </a:extLst>
          </p:cNvPr>
          <p:cNvCxnSpPr>
            <a:cxnSpLocks/>
          </p:cNvCxnSpPr>
          <p:nvPr/>
        </p:nvCxnSpPr>
        <p:spPr>
          <a:xfrm flipV="1">
            <a:off x="1929108" y="1694265"/>
            <a:ext cx="815222" cy="11234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70567B36-AA95-4094-99CC-538597F7E02A}"/>
              </a:ext>
            </a:extLst>
          </p:cNvPr>
          <p:cNvCxnSpPr>
            <a:cxnSpLocks/>
          </p:cNvCxnSpPr>
          <p:nvPr/>
        </p:nvCxnSpPr>
        <p:spPr>
          <a:xfrm flipH="1">
            <a:off x="2073417" y="1806611"/>
            <a:ext cx="715619" cy="10111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F90489A-D6E7-461E-B574-A83A083621A3}"/>
              </a:ext>
            </a:extLst>
          </p:cNvPr>
          <p:cNvSpPr txBox="1"/>
          <p:nvPr/>
        </p:nvSpPr>
        <p:spPr>
          <a:xfrm>
            <a:off x="1654904" y="2134636"/>
            <a:ext cx="7112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요청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21A21E6-32E2-4FFC-B987-440175EB5A72}"/>
              </a:ext>
            </a:extLst>
          </p:cNvPr>
          <p:cNvSpPr txBox="1"/>
          <p:nvPr/>
        </p:nvSpPr>
        <p:spPr>
          <a:xfrm>
            <a:off x="2644044" y="1982699"/>
            <a:ext cx="17396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1) </a:t>
            </a:r>
            <a:r>
              <a:rPr lang="ko-KR" altLang="en-US" sz="800" dirty="0" err="1"/>
              <a:t>캐싱</a:t>
            </a:r>
            <a:r>
              <a:rPr lang="ko-KR" altLang="en-US" sz="800" dirty="0"/>
              <a:t> 된 파일 제공</a:t>
            </a:r>
            <a:endParaRPr lang="en-US" altLang="ko-KR" sz="800" dirty="0"/>
          </a:p>
          <a:p>
            <a:r>
              <a:rPr lang="en-US" altLang="ko-KR" sz="800" dirty="0"/>
              <a:t>2) </a:t>
            </a:r>
            <a:r>
              <a:rPr lang="ko-KR" altLang="en-US" sz="800" dirty="0" err="1"/>
              <a:t>캐싱</a:t>
            </a:r>
            <a:r>
              <a:rPr lang="ko-KR" altLang="en-US" sz="800" dirty="0"/>
              <a:t> 되어있는 파일이 없을 경우 </a:t>
            </a:r>
            <a:r>
              <a:rPr lang="en-US" altLang="ko-KR" sz="800" dirty="0"/>
              <a:t>s3</a:t>
            </a:r>
            <a:r>
              <a:rPr lang="ko-KR" altLang="en-US" sz="800" dirty="0"/>
              <a:t>에 요청 후 제공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6FB38C0-C2CB-4BC9-8576-35967547CAD4}"/>
              </a:ext>
            </a:extLst>
          </p:cNvPr>
          <p:cNvSpPr txBox="1"/>
          <p:nvPr/>
        </p:nvSpPr>
        <p:spPr>
          <a:xfrm>
            <a:off x="553957" y="283911"/>
            <a:ext cx="1865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서버 구조도</a:t>
            </a:r>
            <a:endParaRPr lang="en-US" altLang="ko-KR" b="1" dirty="0"/>
          </a:p>
        </p:txBody>
      </p:sp>
      <p:sp>
        <p:nvSpPr>
          <p:cNvPr id="48" name="object 6">
            <a:extLst>
              <a:ext uri="{FF2B5EF4-FFF2-40B4-BE49-F238E27FC236}">
                <a16:creationId xmlns:a16="http://schemas.microsoft.com/office/drawing/2014/main" id="{5AB057B5-6CA2-42D4-9A59-9492C1D3C1D6}"/>
              </a:ext>
            </a:extLst>
          </p:cNvPr>
          <p:cNvSpPr/>
          <p:nvPr/>
        </p:nvSpPr>
        <p:spPr>
          <a:xfrm>
            <a:off x="420759" y="408212"/>
            <a:ext cx="127155" cy="121059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F1404A6-E716-4D3B-B010-5F7894E8BE43}"/>
              </a:ext>
            </a:extLst>
          </p:cNvPr>
          <p:cNvSpPr txBox="1"/>
          <p:nvPr/>
        </p:nvSpPr>
        <p:spPr>
          <a:xfrm>
            <a:off x="1385672" y="4098584"/>
            <a:ext cx="10651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Client</a:t>
            </a:r>
            <a:endParaRPr lang="ko-KR" altLang="en-US" sz="800" b="1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BB22664-7286-4AA0-92C8-3F47016BA850}"/>
              </a:ext>
            </a:extLst>
          </p:cNvPr>
          <p:cNvSpPr txBox="1"/>
          <p:nvPr/>
        </p:nvSpPr>
        <p:spPr>
          <a:xfrm>
            <a:off x="3078278" y="3670052"/>
            <a:ext cx="1739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Request</a:t>
            </a:r>
            <a:endParaRPr lang="ko-KR" altLang="en-US" sz="8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39FBCD9-79E4-4B15-B458-552C10B4F538}"/>
              </a:ext>
            </a:extLst>
          </p:cNvPr>
          <p:cNvSpPr txBox="1"/>
          <p:nvPr/>
        </p:nvSpPr>
        <p:spPr>
          <a:xfrm>
            <a:off x="4560291" y="4214278"/>
            <a:ext cx="50873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Port:80</a:t>
            </a:r>
            <a:endParaRPr lang="ko-KR" altLang="en-US" sz="800" dirty="0"/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B71EE803-D086-4D2D-8C72-AC20D9C96552}"/>
              </a:ext>
            </a:extLst>
          </p:cNvPr>
          <p:cNvCxnSpPr>
            <a:cxnSpLocks/>
          </p:cNvCxnSpPr>
          <p:nvPr/>
        </p:nvCxnSpPr>
        <p:spPr>
          <a:xfrm flipV="1">
            <a:off x="5159632" y="3774932"/>
            <a:ext cx="317871" cy="1412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4DD76826-4F77-4BF7-83E6-85E8CD01AE25}"/>
              </a:ext>
            </a:extLst>
          </p:cNvPr>
          <p:cNvCxnSpPr>
            <a:cxnSpLocks/>
          </p:cNvCxnSpPr>
          <p:nvPr/>
        </p:nvCxnSpPr>
        <p:spPr>
          <a:xfrm>
            <a:off x="5150968" y="4211117"/>
            <a:ext cx="339804" cy="106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그림 38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2668650F-1498-4503-9573-885EE5A9A14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6613" y="3512028"/>
            <a:ext cx="658246" cy="257888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45954114-4103-4ADF-9FFC-1F2F9B240307}"/>
              </a:ext>
            </a:extLst>
          </p:cNvPr>
          <p:cNvSpPr txBox="1"/>
          <p:nvPr/>
        </p:nvSpPr>
        <p:spPr>
          <a:xfrm>
            <a:off x="5581103" y="3748832"/>
            <a:ext cx="6692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Port:8081</a:t>
            </a:r>
            <a:endParaRPr lang="ko-KR" altLang="en-US" sz="800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2F22E29-97C6-4671-B037-8480B316BFAA}"/>
              </a:ext>
            </a:extLst>
          </p:cNvPr>
          <p:cNvSpPr txBox="1"/>
          <p:nvPr/>
        </p:nvSpPr>
        <p:spPr>
          <a:xfrm>
            <a:off x="5592560" y="4339888"/>
            <a:ext cx="6692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Port:8082</a:t>
            </a:r>
            <a:endParaRPr lang="ko-KR" altLang="en-US" sz="800" dirty="0"/>
          </a:p>
        </p:txBody>
      </p:sp>
      <p:pic>
        <p:nvPicPr>
          <p:cNvPr id="60" name="그림 59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0D4FC6C2-CBCA-4E2D-B8DB-C7EFD3CBDC3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3705" y="4117440"/>
            <a:ext cx="658246" cy="257888"/>
          </a:xfrm>
          <a:prstGeom prst="rect">
            <a:avLst/>
          </a:prstGeom>
        </p:spPr>
      </p:pic>
      <p:pic>
        <p:nvPicPr>
          <p:cNvPr id="65" name="그림 64">
            <a:extLst>
              <a:ext uri="{FF2B5EF4-FFF2-40B4-BE49-F238E27FC236}">
                <a16:creationId xmlns:a16="http://schemas.microsoft.com/office/drawing/2014/main" id="{DE8E5D85-A52B-4A5E-9538-2889ED495A5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8449" y="3173181"/>
            <a:ext cx="1024660" cy="677694"/>
          </a:xfrm>
          <a:prstGeom prst="rect">
            <a:avLst/>
          </a:prstGeom>
        </p:spPr>
      </p:pic>
      <p:pic>
        <p:nvPicPr>
          <p:cNvPr id="66" name="그림 65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BA8BFAB1-931D-4D23-9FA4-CDBDE4D0783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2470" y="2350080"/>
            <a:ext cx="1585915" cy="817482"/>
          </a:xfrm>
          <a:prstGeom prst="rect">
            <a:avLst/>
          </a:prstGeom>
        </p:spPr>
      </p:pic>
      <p:pic>
        <p:nvPicPr>
          <p:cNvPr id="69" name="그림 68">
            <a:extLst>
              <a:ext uri="{FF2B5EF4-FFF2-40B4-BE49-F238E27FC236}">
                <a16:creationId xmlns:a16="http://schemas.microsoft.com/office/drawing/2014/main" id="{0D5709E1-EE24-4769-9A8C-BCDCC24BED7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0367" y="2922804"/>
            <a:ext cx="446432" cy="446432"/>
          </a:xfrm>
          <a:prstGeom prst="rect">
            <a:avLst/>
          </a:prstGeom>
        </p:spPr>
      </p:pic>
      <p:sp>
        <p:nvSpPr>
          <p:cNvPr id="70" name="TextBox 69">
            <a:extLst>
              <a:ext uri="{FF2B5EF4-FFF2-40B4-BE49-F238E27FC236}">
                <a16:creationId xmlns:a16="http://schemas.microsoft.com/office/drawing/2014/main" id="{B42B796F-908D-4572-BDB6-A40B8FC88166}"/>
              </a:ext>
            </a:extLst>
          </p:cNvPr>
          <p:cNvSpPr txBox="1"/>
          <p:nvPr/>
        </p:nvSpPr>
        <p:spPr>
          <a:xfrm>
            <a:off x="6392480" y="3311335"/>
            <a:ext cx="8822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00" dirty="0" err="1"/>
              <a:t>CodeDeploy</a:t>
            </a:r>
            <a:r>
              <a:rPr lang="en-US" altLang="ko-KR" sz="700" dirty="0"/>
              <a:t> Agent</a:t>
            </a:r>
            <a:endParaRPr lang="ko-KR" altLang="en-US" sz="700" dirty="0"/>
          </a:p>
        </p:txBody>
      </p:sp>
      <p:pic>
        <p:nvPicPr>
          <p:cNvPr id="74" name="그림 73">
            <a:extLst>
              <a:ext uri="{FF2B5EF4-FFF2-40B4-BE49-F238E27FC236}">
                <a16:creationId xmlns:a16="http://schemas.microsoft.com/office/drawing/2014/main" id="{ADF2ACAF-7C38-40AA-B8AC-FAC535C339E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8199" y="3970511"/>
            <a:ext cx="811685" cy="811685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C9E36515-9DE3-434E-9499-A4F25F7099C9}"/>
              </a:ext>
            </a:extLst>
          </p:cNvPr>
          <p:cNvSpPr txBox="1"/>
          <p:nvPr/>
        </p:nvSpPr>
        <p:spPr>
          <a:xfrm>
            <a:off x="9747537" y="2649776"/>
            <a:ext cx="16793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jar </a:t>
            </a:r>
            <a:r>
              <a:rPr lang="ko-KR" altLang="en-US" sz="800" dirty="0"/>
              <a:t>파일을 </a:t>
            </a:r>
            <a:r>
              <a:rPr lang="en-US" altLang="ko-KR" sz="800" dirty="0"/>
              <a:t>zip</a:t>
            </a:r>
            <a:r>
              <a:rPr lang="ko-KR" altLang="en-US" sz="800" dirty="0"/>
              <a:t>형태로 저장</a:t>
            </a:r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94BE413B-7DA8-435D-A943-FD413A47EE25}"/>
              </a:ext>
            </a:extLst>
          </p:cNvPr>
          <p:cNvCxnSpPr>
            <a:cxnSpLocks/>
          </p:cNvCxnSpPr>
          <p:nvPr/>
        </p:nvCxnSpPr>
        <p:spPr>
          <a:xfrm flipH="1" flipV="1">
            <a:off x="9393255" y="2765577"/>
            <a:ext cx="1218720" cy="4350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90AE2914-6FB7-4FF5-B5C0-60FC24381A0C}"/>
              </a:ext>
            </a:extLst>
          </p:cNvPr>
          <p:cNvCxnSpPr>
            <a:cxnSpLocks/>
          </p:cNvCxnSpPr>
          <p:nvPr/>
        </p:nvCxnSpPr>
        <p:spPr>
          <a:xfrm flipH="1">
            <a:off x="9531007" y="3843707"/>
            <a:ext cx="1157660" cy="4703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903E4418-D9BC-4028-AB76-46AB6F4870A6}"/>
              </a:ext>
            </a:extLst>
          </p:cNvPr>
          <p:cNvSpPr txBox="1"/>
          <p:nvPr/>
        </p:nvSpPr>
        <p:spPr>
          <a:xfrm>
            <a:off x="9747537" y="4138662"/>
            <a:ext cx="16793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배포 과정 요청</a:t>
            </a:r>
          </a:p>
        </p:txBody>
      </p: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EE316765-CDF4-41EC-BEB2-A999544271C9}"/>
              </a:ext>
            </a:extLst>
          </p:cNvPr>
          <p:cNvCxnSpPr>
            <a:cxnSpLocks/>
          </p:cNvCxnSpPr>
          <p:nvPr/>
        </p:nvCxnSpPr>
        <p:spPr>
          <a:xfrm flipH="1" flipV="1">
            <a:off x="7103212" y="3311335"/>
            <a:ext cx="1563669" cy="917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81F36704-BDB0-484B-85D1-AC4CE942CB47}"/>
              </a:ext>
            </a:extLst>
          </p:cNvPr>
          <p:cNvSpPr txBox="1"/>
          <p:nvPr/>
        </p:nvSpPr>
        <p:spPr>
          <a:xfrm>
            <a:off x="7094993" y="4022268"/>
            <a:ext cx="16793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배포 요청 전송</a:t>
            </a:r>
          </a:p>
        </p:txBody>
      </p: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A03C7FCC-9381-40FA-A953-AA7FCD80F19A}"/>
              </a:ext>
            </a:extLst>
          </p:cNvPr>
          <p:cNvCxnSpPr>
            <a:cxnSpLocks/>
          </p:cNvCxnSpPr>
          <p:nvPr/>
        </p:nvCxnSpPr>
        <p:spPr>
          <a:xfrm flipV="1">
            <a:off x="7074414" y="2786986"/>
            <a:ext cx="1638880" cy="4095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CFB44AA8-77A0-4E6B-92BC-30D28DA863D2}"/>
              </a:ext>
            </a:extLst>
          </p:cNvPr>
          <p:cNvCxnSpPr>
            <a:cxnSpLocks/>
          </p:cNvCxnSpPr>
          <p:nvPr/>
        </p:nvCxnSpPr>
        <p:spPr>
          <a:xfrm flipH="1">
            <a:off x="7056799" y="2779837"/>
            <a:ext cx="1672517" cy="2618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09A67DBD-C530-4F97-97D9-05E871B96E7E}"/>
              </a:ext>
            </a:extLst>
          </p:cNvPr>
          <p:cNvSpPr txBox="1"/>
          <p:nvPr/>
        </p:nvSpPr>
        <p:spPr>
          <a:xfrm>
            <a:off x="7095650" y="2524459"/>
            <a:ext cx="16793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 </a:t>
            </a:r>
            <a:r>
              <a:rPr lang="ko-KR" altLang="en-US" sz="800" dirty="0"/>
              <a:t>저장된 파일을 받아온 후</a:t>
            </a:r>
            <a:endParaRPr lang="en-US" altLang="ko-KR" sz="800" dirty="0"/>
          </a:p>
          <a:p>
            <a:pPr algn="ctr"/>
            <a:r>
              <a:rPr lang="ko-KR" altLang="en-US" sz="800" dirty="0"/>
              <a:t>빌드 및 배포 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3EFA7D26-162B-4E9D-9660-AE7DF98FA1AB}"/>
              </a:ext>
            </a:extLst>
          </p:cNvPr>
          <p:cNvSpPr/>
          <p:nvPr/>
        </p:nvSpPr>
        <p:spPr>
          <a:xfrm>
            <a:off x="9816792" y="2687504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1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740A9D6A-7EE4-430B-8F1C-945950BC8CA3}"/>
              </a:ext>
            </a:extLst>
          </p:cNvPr>
          <p:cNvSpPr/>
          <p:nvPr/>
        </p:nvSpPr>
        <p:spPr>
          <a:xfrm>
            <a:off x="10058029" y="4164102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2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7" name="타원 106">
            <a:extLst>
              <a:ext uri="{FF2B5EF4-FFF2-40B4-BE49-F238E27FC236}">
                <a16:creationId xmlns:a16="http://schemas.microsoft.com/office/drawing/2014/main" id="{FBE8150B-AD90-4F8A-8F0F-77F95C452D9E}"/>
              </a:ext>
            </a:extLst>
          </p:cNvPr>
          <p:cNvSpPr/>
          <p:nvPr/>
        </p:nvSpPr>
        <p:spPr>
          <a:xfrm>
            <a:off x="7410073" y="4057361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3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8" name="타원 107">
            <a:extLst>
              <a:ext uri="{FF2B5EF4-FFF2-40B4-BE49-F238E27FC236}">
                <a16:creationId xmlns:a16="http://schemas.microsoft.com/office/drawing/2014/main" id="{CDA4369C-36A3-4D41-B58C-A420D17F4A85}"/>
              </a:ext>
            </a:extLst>
          </p:cNvPr>
          <p:cNvSpPr/>
          <p:nvPr/>
        </p:nvSpPr>
        <p:spPr>
          <a:xfrm>
            <a:off x="7192851" y="2566536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4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41032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72022" y="419343"/>
            <a:ext cx="2901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 아는 사람 피하기 기능</a:t>
            </a:r>
            <a:endParaRPr lang="en-US" altLang="ko-KR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532512" y="537744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97C965-BC1A-49A6-8774-FBD81A10BD17}"/>
              </a:ext>
            </a:extLst>
          </p:cNvPr>
          <p:cNvSpPr txBox="1"/>
          <p:nvPr/>
        </p:nvSpPr>
        <p:spPr>
          <a:xfrm>
            <a:off x="491217" y="1786547"/>
            <a:ext cx="477162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endParaRPr lang="en-US" altLang="ko-KR" sz="900" dirty="0"/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715CF2-3A3B-4F8B-9C52-C0298DE8C65D}"/>
              </a:ext>
            </a:extLst>
          </p:cNvPr>
          <p:cNvSpPr txBox="1"/>
          <p:nvPr/>
        </p:nvSpPr>
        <p:spPr>
          <a:xfrm>
            <a:off x="435378" y="1551081"/>
            <a:ext cx="519576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en-US" altLang="ko-KR" sz="1200" dirty="0"/>
              <a:t>‘</a:t>
            </a:r>
            <a:r>
              <a:rPr lang="ko-KR" altLang="en-US" sz="1200" dirty="0"/>
              <a:t>아는 사람 피하기</a:t>
            </a:r>
            <a:r>
              <a:rPr lang="en-US" altLang="ko-KR" sz="1200" dirty="0"/>
              <a:t>’ </a:t>
            </a:r>
            <a:r>
              <a:rPr lang="ko-KR" altLang="en-US" sz="1200" dirty="0"/>
              <a:t>기능을 사용할 경우 핸드폰에 저장되어 있는 지인은 추천 되지 않으며 나의 정보를 지인에게 노출시키지 않을 수 있습니다</a:t>
            </a:r>
            <a:r>
              <a:rPr lang="en-US" altLang="ko-KR" sz="1200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서비스의 비즈니스 로직 대부분은 아는 사람 피하기 기능과 관련되어 동작합니다</a:t>
            </a:r>
            <a:r>
              <a:rPr lang="en-US" altLang="ko-KR" sz="1200" dirty="0"/>
              <a:t>. </a:t>
            </a:r>
            <a:r>
              <a:rPr lang="ko-KR" altLang="en-US" sz="1200" dirty="0"/>
              <a:t>따라서 속도를 빠르게 하기 위한 설계를 하였습니다</a:t>
            </a:r>
            <a:r>
              <a:rPr lang="en-US" altLang="ko-KR" sz="1200" dirty="0"/>
              <a:t>.</a:t>
            </a:r>
            <a:endParaRPr lang="en-US" altLang="ko-KR" sz="9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2D062E-830E-467E-83F7-30CBDC897793}"/>
              </a:ext>
            </a:extLst>
          </p:cNvPr>
          <p:cNvSpPr txBox="1"/>
          <p:nvPr/>
        </p:nvSpPr>
        <p:spPr>
          <a:xfrm>
            <a:off x="435378" y="3321836"/>
            <a:ext cx="503647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400" b="1" dirty="0"/>
              <a:t>⨀ 시나리오 예시 </a:t>
            </a:r>
            <a:r>
              <a:rPr lang="en-US" altLang="ko-KR" sz="1400" b="1" dirty="0"/>
              <a:t>(</a:t>
            </a:r>
            <a:r>
              <a:rPr lang="ko-KR" altLang="en-US" sz="1400" b="1" dirty="0"/>
              <a:t>순서</a:t>
            </a:r>
            <a:r>
              <a:rPr lang="en-US" altLang="ko-KR" sz="1400" b="1" dirty="0"/>
              <a:t>)</a:t>
            </a:r>
          </a:p>
          <a:p>
            <a:endParaRPr lang="en-US" altLang="ko-KR" sz="1200" dirty="0"/>
          </a:p>
          <a:p>
            <a:pPr marL="228600" indent="-228600">
              <a:buAutoNum type="arabicParenR"/>
            </a:pPr>
            <a:r>
              <a:rPr lang="ko-KR" altLang="en-US" sz="1200" dirty="0"/>
              <a:t>유저 </a:t>
            </a:r>
            <a:r>
              <a:rPr lang="en-US" altLang="ko-KR" sz="1200" dirty="0"/>
              <a:t>A</a:t>
            </a:r>
            <a:r>
              <a:rPr lang="ko-KR" altLang="en-US" sz="1200" dirty="0"/>
              <a:t>는</a:t>
            </a:r>
            <a:r>
              <a:rPr lang="en-US" altLang="ko-KR" sz="1200" dirty="0"/>
              <a:t> </a:t>
            </a:r>
            <a:r>
              <a:rPr lang="ko-KR" altLang="en-US" sz="1200" dirty="0"/>
              <a:t>유저 </a:t>
            </a:r>
            <a:r>
              <a:rPr lang="en-US" altLang="ko-KR" sz="1200" dirty="0"/>
              <a:t>B</a:t>
            </a:r>
            <a:r>
              <a:rPr lang="ko-KR" altLang="en-US" sz="1200" dirty="0"/>
              <a:t>의 번호를 가지고 있고</a:t>
            </a:r>
            <a:r>
              <a:rPr lang="en-US" altLang="ko-KR" sz="1200" dirty="0"/>
              <a:t>, </a:t>
            </a:r>
            <a:r>
              <a:rPr lang="ko-KR" altLang="en-US" sz="1200" dirty="0"/>
              <a:t>유저 </a:t>
            </a:r>
            <a:r>
              <a:rPr lang="en-US" altLang="ko-KR" sz="1200" dirty="0"/>
              <a:t>B</a:t>
            </a:r>
            <a:r>
              <a:rPr lang="ko-KR" altLang="en-US" sz="1200" dirty="0"/>
              <a:t>는 유저 </a:t>
            </a:r>
            <a:r>
              <a:rPr lang="en-US" altLang="ko-KR" sz="1200" dirty="0"/>
              <a:t>A</a:t>
            </a:r>
            <a:r>
              <a:rPr lang="ko-KR" altLang="en-US" sz="1200" dirty="0"/>
              <a:t>의 번호를 모릅니다</a:t>
            </a:r>
            <a:r>
              <a:rPr lang="en-US" altLang="ko-KR" sz="1200" dirty="0"/>
              <a:t>. </a:t>
            </a:r>
            <a:r>
              <a:rPr lang="ko-KR" altLang="en-US" sz="1200" dirty="0"/>
              <a:t>이 때 유저 </a:t>
            </a:r>
            <a:r>
              <a:rPr lang="en-US" altLang="ko-KR" sz="1200" dirty="0"/>
              <a:t>A</a:t>
            </a:r>
            <a:r>
              <a:rPr lang="ko-KR" altLang="en-US" sz="1200" dirty="0"/>
              <a:t>가 아는 사람 피하기를 신청합니다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pPr marL="228600" indent="-228600">
              <a:buAutoNum type="arabicParenR"/>
            </a:pPr>
            <a:r>
              <a:rPr lang="ko-KR" altLang="en-US" sz="1200" dirty="0"/>
              <a:t>시간이 지나 유저 </a:t>
            </a:r>
            <a:r>
              <a:rPr lang="en-US" altLang="ko-KR" sz="1200" dirty="0"/>
              <a:t>B</a:t>
            </a:r>
            <a:r>
              <a:rPr lang="ko-KR" altLang="en-US" sz="1200" dirty="0"/>
              <a:t>가 아는 사람 피하기 기능을 신청합니다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pPr marL="228600" indent="-228600">
              <a:buAutoNum type="arabicParenR"/>
            </a:pPr>
            <a:r>
              <a:rPr lang="ko-KR" altLang="en-US" sz="1200" dirty="0"/>
              <a:t>이 과정 이후 유저 </a:t>
            </a:r>
            <a:r>
              <a:rPr lang="en-US" altLang="ko-KR" sz="1200" dirty="0"/>
              <a:t>A</a:t>
            </a:r>
            <a:r>
              <a:rPr lang="ko-KR" altLang="en-US" sz="1200" dirty="0"/>
              <a:t>가 아는 사람 피하기 기능을 취소하더라도 유저 </a:t>
            </a:r>
            <a:r>
              <a:rPr lang="en-US" altLang="ko-KR" sz="1200" dirty="0"/>
              <a:t>A</a:t>
            </a:r>
            <a:r>
              <a:rPr lang="ko-KR" altLang="en-US" sz="1200" dirty="0"/>
              <a:t>와 유저 </a:t>
            </a:r>
            <a:r>
              <a:rPr lang="en-US" altLang="ko-KR" sz="1200" dirty="0"/>
              <a:t>B</a:t>
            </a:r>
            <a:r>
              <a:rPr lang="ko-KR" altLang="en-US" sz="1200" dirty="0"/>
              <a:t>는 서로 추천되어서는 안됩니다</a:t>
            </a:r>
            <a:r>
              <a:rPr lang="en-US" altLang="ko-KR" sz="1200" dirty="0"/>
              <a:t>. B</a:t>
            </a:r>
            <a:r>
              <a:rPr lang="ko-KR" altLang="en-US" sz="1200" dirty="0"/>
              <a:t>는 여전히 아는 사람 피하기 기능을 사용하고 있고</a:t>
            </a:r>
            <a:r>
              <a:rPr lang="en-US" altLang="ko-KR" sz="1200" dirty="0"/>
              <a:t>, </a:t>
            </a:r>
            <a:r>
              <a:rPr lang="ko-KR" altLang="en-US" sz="1200" dirty="0"/>
              <a:t>비록 유저 </a:t>
            </a:r>
            <a:r>
              <a:rPr lang="en-US" altLang="ko-KR" sz="1200" dirty="0"/>
              <a:t>B</a:t>
            </a:r>
            <a:r>
              <a:rPr lang="ko-KR" altLang="en-US" sz="1200" dirty="0"/>
              <a:t>의 핸드폰에 유저 </a:t>
            </a:r>
            <a:r>
              <a:rPr lang="en-US" altLang="ko-KR" sz="1200" dirty="0"/>
              <a:t>A</a:t>
            </a:r>
            <a:r>
              <a:rPr lang="ko-KR" altLang="en-US" sz="1200" dirty="0"/>
              <a:t>의 번호가 없더라도 이전 과정을 통해서 두 사람이 아는 사이임을 알 수 있기 때문입니다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endParaRPr lang="en-US" altLang="ko-KR" sz="1200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2EE488DC-F4FE-42BD-8412-1F89795D4F25}"/>
              </a:ext>
            </a:extLst>
          </p:cNvPr>
          <p:cNvCxnSpPr>
            <a:cxnSpLocks/>
          </p:cNvCxnSpPr>
          <p:nvPr/>
        </p:nvCxnSpPr>
        <p:spPr>
          <a:xfrm flipH="1">
            <a:off x="5919388" y="57529"/>
            <a:ext cx="17734" cy="685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D56DEBA-74EF-4BE0-9F3F-7A149550A0DC}"/>
              </a:ext>
            </a:extLst>
          </p:cNvPr>
          <p:cNvSpPr txBox="1"/>
          <p:nvPr/>
        </p:nvSpPr>
        <p:spPr>
          <a:xfrm>
            <a:off x="436667" y="1056860"/>
            <a:ext cx="51957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endParaRPr lang="en-US" altLang="ko-KR" sz="1200" dirty="0"/>
          </a:p>
          <a:p>
            <a:r>
              <a:rPr lang="en-US" altLang="ko-KR" sz="1200" dirty="0"/>
              <a:t>-  </a:t>
            </a:r>
            <a:r>
              <a:rPr lang="ko-KR" altLang="en-US" sz="1200" dirty="0"/>
              <a:t>매핑 테이블을 이용하여 비즈니스 요구사항을 풀어냈습니다</a:t>
            </a:r>
            <a:r>
              <a:rPr lang="en-US" altLang="ko-KR" sz="1200" dirty="0"/>
              <a:t>.</a:t>
            </a:r>
            <a:endParaRPr lang="en-US" altLang="ko-KR" sz="9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BD43C3-1CD3-4330-9988-8A3864288A65}"/>
              </a:ext>
            </a:extLst>
          </p:cNvPr>
          <p:cNvSpPr txBox="1"/>
          <p:nvPr/>
        </p:nvSpPr>
        <p:spPr>
          <a:xfrm>
            <a:off x="6384654" y="917078"/>
            <a:ext cx="5573924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 </a:t>
            </a:r>
            <a:endParaRPr lang="en-US" altLang="ko-KR" sz="1200" dirty="0"/>
          </a:p>
          <a:p>
            <a:r>
              <a:rPr lang="ko-KR" altLang="en-US" sz="1400" b="1" dirty="0"/>
              <a:t>⨀ 지인 등록</a:t>
            </a:r>
            <a:endParaRPr lang="en-US" altLang="ko-KR" sz="1400" b="1" dirty="0"/>
          </a:p>
          <a:p>
            <a:endParaRPr lang="en-US" altLang="ko-KR" sz="1200" dirty="0"/>
          </a:p>
          <a:p>
            <a:r>
              <a:rPr lang="ko-KR" altLang="en-US" sz="1200" dirty="0"/>
              <a:t>지인 등록은 두가지 상황에서 동작합니다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  </a:t>
            </a:r>
            <a:r>
              <a:rPr lang="en-US" altLang="ko-KR" sz="1200" dirty="0"/>
              <a:t>1)</a:t>
            </a:r>
            <a:r>
              <a:rPr lang="ko-KR" altLang="en-US" sz="1200" dirty="0"/>
              <a:t> 이미 가입한 유저가 아는 사람 피하기 기능을 요청할 때</a:t>
            </a:r>
            <a:endParaRPr lang="en-US" altLang="ko-KR" sz="1200" dirty="0"/>
          </a:p>
          <a:p>
            <a:r>
              <a:rPr lang="en-US" altLang="ko-KR" sz="1200" dirty="0"/>
              <a:t>  2) </a:t>
            </a:r>
            <a:r>
              <a:rPr lang="ko-KR" altLang="en-US" sz="1200" dirty="0"/>
              <a:t>새로운 유저가 가입할 때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1</a:t>
            </a:r>
            <a:r>
              <a:rPr lang="ko-KR" altLang="en-US" sz="1200" dirty="0"/>
              <a:t>번 상황에서 지인의 번호 목록을 통해 기존에 가입한 지인들을 파악하고</a:t>
            </a:r>
            <a:r>
              <a:rPr lang="en-US" altLang="ko-KR" sz="1200" dirty="0"/>
              <a:t>,</a:t>
            </a:r>
          </a:p>
          <a:p>
            <a:r>
              <a:rPr lang="en-US" altLang="ko-KR" sz="1200" dirty="0"/>
              <a:t>2</a:t>
            </a:r>
            <a:r>
              <a:rPr lang="ko-KR" altLang="en-US" sz="1200" dirty="0"/>
              <a:t>번 상황마다 미리 </a:t>
            </a:r>
            <a:r>
              <a:rPr lang="ko-KR" altLang="en-US" sz="1200" dirty="0" err="1"/>
              <a:t>등록해놓은</a:t>
            </a:r>
            <a:r>
              <a:rPr lang="ko-KR" altLang="en-US" sz="1200" dirty="0"/>
              <a:t> 번호를 이용하여 지인 여부를 판단한다면 모든 상황을 대처할 수 있습니다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en-US" altLang="ko-KR" sz="1200" b="1" dirty="0"/>
          </a:p>
        </p:txBody>
      </p:sp>
    </p:spTree>
    <p:extLst>
      <p:ext uri="{BB962C8B-B14F-4D97-AF65-F5344CB8AC3E}">
        <p14:creationId xmlns:p14="http://schemas.microsoft.com/office/powerpoint/2010/main" val="3242450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412139" y="505969"/>
            <a:ext cx="2901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 아는 사람 피하기 기능</a:t>
            </a:r>
            <a:endParaRPr lang="en-US" altLang="ko-KR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272629" y="624370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97C965-BC1A-49A6-8774-FBD81A10BD17}"/>
              </a:ext>
            </a:extLst>
          </p:cNvPr>
          <p:cNvSpPr txBox="1"/>
          <p:nvPr/>
        </p:nvSpPr>
        <p:spPr>
          <a:xfrm>
            <a:off x="568218" y="1594041"/>
            <a:ext cx="477162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endParaRPr lang="en-US" altLang="ko-KR" sz="900" dirty="0"/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894E1F-8DA6-41ED-9ADD-13B134F3F6E1}"/>
              </a:ext>
            </a:extLst>
          </p:cNvPr>
          <p:cNvSpPr txBox="1"/>
          <p:nvPr/>
        </p:nvSpPr>
        <p:spPr>
          <a:xfrm>
            <a:off x="537270" y="1511543"/>
            <a:ext cx="5848223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b="1" dirty="0"/>
          </a:p>
          <a:p>
            <a:r>
              <a:rPr lang="en-US" altLang="ko-KR" sz="1200" dirty="0"/>
              <a:t> </a:t>
            </a:r>
          </a:p>
          <a:p>
            <a:endParaRPr lang="en-US" altLang="ko-KR" sz="1200" dirty="0"/>
          </a:p>
          <a:p>
            <a:pPr marL="228600" indent="-228600">
              <a:buAutoNum type="arabicParenR"/>
            </a:pPr>
            <a:r>
              <a:rPr lang="en-US" altLang="ko-KR" sz="1200" b="1" dirty="0"/>
              <a:t>users </a:t>
            </a:r>
            <a:r>
              <a:rPr lang="ko-KR" altLang="en-US" sz="1200" b="1" dirty="0"/>
              <a:t>테이블에 기능 사용 여부 컬럼 추가</a:t>
            </a:r>
            <a:endParaRPr lang="en-US" altLang="ko-KR" sz="1200" b="1" dirty="0"/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r>
              <a:rPr lang="en-US" altLang="ko-KR" sz="1200" dirty="0"/>
              <a:t> - ‘</a:t>
            </a:r>
            <a:r>
              <a:rPr lang="ko-KR" altLang="en-US" sz="1200" dirty="0"/>
              <a:t>아는 사람 피하기 기능</a:t>
            </a:r>
            <a:r>
              <a:rPr lang="en-US" altLang="ko-KR" sz="1200" dirty="0"/>
              <a:t>’</a:t>
            </a:r>
            <a:r>
              <a:rPr lang="ko-KR" altLang="en-US" sz="1200" dirty="0"/>
              <a:t> 사용 여부를 알려주는 컬럼이 추가됩니다</a:t>
            </a:r>
            <a:r>
              <a:rPr lang="en-US" altLang="ko-KR" sz="1200" dirty="0"/>
              <a:t>.</a:t>
            </a:r>
          </a:p>
          <a:p>
            <a:endParaRPr lang="en-US" altLang="ko-KR" sz="1000" dirty="0"/>
          </a:p>
          <a:p>
            <a:endParaRPr lang="en-US" altLang="ko-KR" sz="1000" dirty="0"/>
          </a:p>
          <a:p>
            <a:endParaRPr lang="en-US" altLang="ko-KR" sz="1200" dirty="0"/>
          </a:p>
          <a:p>
            <a:r>
              <a:rPr lang="en-US" altLang="ko-KR" sz="1200" b="1" dirty="0"/>
              <a:t>2) </a:t>
            </a:r>
            <a:r>
              <a:rPr lang="en-US" altLang="ko-KR" sz="1200" b="1" dirty="0" err="1"/>
              <a:t>acquaintance_phone_numbers</a:t>
            </a:r>
            <a:r>
              <a:rPr lang="en-US" altLang="ko-KR" sz="1200" b="1" dirty="0"/>
              <a:t> </a:t>
            </a:r>
            <a:r>
              <a:rPr lang="ko-KR" altLang="en-US" sz="1200" b="1" dirty="0"/>
              <a:t>테이블</a:t>
            </a:r>
            <a:endParaRPr lang="en-US" altLang="ko-KR" sz="1200" b="1" dirty="0"/>
          </a:p>
          <a:p>
            <a:endParaRPr lang="en-US" altLang="ko-KR" sz="1200" dirty="0"/>
          </a:p>
          <a:p>
            <a:r>
              <a:rPr lang="en-US" altLang="ko-KR" sz="1200" dirty="0"/>
              <a:t> - user</a:t>
            </a:r>
            <a:r>
              <a:rPr lang="ko-KR" altLang="en-US" sz="1200" dirty="0"/>
              <a:t> 핸드폰에 등록된 번호 목록을 저장하는 테이블입니다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user</a:t>
            </a:r>
            <a:r>
              <a:rPr lang="ko-KR" altLang="en-US" sz="1200" dirty="0"/>
              <a:t> 테이블과 </a:t>
            </a:r>
            <a:r>
              <a:rPr lang="en-US" altLang="ko-KR" sz="1200" dirty="0"/>
              <a:t>1:N </a:t>
            </a:r>
            <a:r>
              <a:rPr lang="ko-KR" altLang="en-US" sz="1200" dirty="0"/>
              <a:t>관계입니다</a:t>
            </a:r>
            <a:r>
              <a:rPr lang="en-US" altLang="ko-KR" sz="1200" dirty="0"/>
              <a:t>.</a:t>
            </a:r>
            <a:endParaRPr lang="en-US" altLang="ko-KR" sz="1000" dirty="0"/>
          </a:p>
          <a:p>
            <a:endParaRPr lang="en-US" altLang="ko-KR" sz="1000" dirty="0"/>
          </a:p>
          <a:p>
            <a:pPr marL="171450" indent="-171450">
              <a:buFontTx/>
              <a:buChar char="-"/>
            </a:pPr>
            <a:endParaRPr lang="en-US" altLang="ko-KR" sz="1200" b="1" dirty="0"/>
          </a:p>
          <a:p>
            <a:r>
              <a:rPr lang="en-US" altLang="ko-KR" sz="1200" b="1" dirty="0"/>
              <a:t>3) </a:t>
            </a:r>
            <a:r>
              <a:rPr lang="en-US" altLang="ko-KR" sz="1200" b="1" dirty="0" err="1"/>
              <a:t>acquaintance_relations</a:t>
            </a:r>
            <a:r>
              <a:rPr lang="en-US" altLang="ko-KR" sz="1200" b="1" dirty="0"/>
              <a:t> </a:t>
            </a:r>
            <a:r>
              <a:rPr lang="ko-KR" altLang="en-US" sz="1200" b="1" dirty="0"/>
              <a:t>테이블 </a:t>
            </a:r>
            <a:r>
              <a:rPr lang="en-US" altLang="ko-KR" sz="1200" b="1" dirty="0"/>
              <a:t>(</a:t>
            </a:r>
            <a:r>
              <a:rPr lang="ko-KR" altLang="en-US" sz="1200" b="1" dirty="0"/>
              <a:t>매핑 테이블</a:t>
            </a:r>
            <a:r>
              <a:rPr lang="en-US" altLang="ko-KR" sz="1200" b="1" dirty="0"/>
              <a:t>)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아는 사람 관계를 미리 저장하여 로직 수행 시간을 단축하기 위한 테이블입니다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두 </a:t>
            </a:r>
            <a:r>
              <a:rPr lang="en-US" altLang="ko-KR" sz="1200" dirty="0"/>
              <a:t>user</a:t>
            </a:r>
            <a:r>
              <a:rPr lang="ko-KR" altLang="en-US" sz="1200" dirty="0"/>
              <a:t>가 아는 사이임을 나타냅니다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user </a:t>
            </a:r>
            <a:r>
              <a:rPr lang="ko-KR" altLang="en-US" sz="1200" dirty="0"/>
              <a:t>대 </a:t>
            </a:r>
            <a:r>
              <a:rPr lang="en-US" altLang="ko-KR" sz="1200" dirty="0"/>
              <a:t>user </a:t>
            </a:r>
            <a:r>
              <a:rPr lang="ko-KR" altLang="en-US" sz="1200" dirty="0"/>
              <a:t>의 </a:t>
            </a:r>
            <a:r>
              <a:rPr lang="en-US" altLang="ko-KR" sz="1200" dirty="0"/>
              <a:t>N:N </a:t>
            </a:r>
            <a:r>
              <a:rPr lang="ko-KR" altLang="en-US" sz="1200" dirty="0"/>
              <a:t>관계를 풀어냈습니다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endParaRPr lang="en-US" altLang="ko-KR" sz="12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5F784CE-BE7D-42F3-8CCC-9BEEE70BAA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4383" y="4773321"/>
            <a:ext cx="5390185" cy="147706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BCD0B254-7476-4EA5-8E9A-9DA1626DAF47}"/>
              </a:ext>
            </a:extLst>
          </p:cNvPr>
          <p:cNvSpPr txBox="1"/>
          <p:nvPr/>
        </p:nvSpPr>
        <p:spPr>
          <a:xfrm>
            <a:off x="6701058" y="4300819"/>
            <a:ext cx="29017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⨀ 데이터 베이스 예시</a:t>
            </a:r>
            <a:endParaRPr lang="en-US" altLang="ko-KR" sz="14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CF35CA0-340C-4E09-A591-4F9454FE3B47}"/>
              </a:ext>
            </a:extLst>
          </p:cNvPr>
          <p:cNvSpPr txBox="1"/>
          <p:nvPr/>
        </p:nvSpPr>
        <p:spPr>
          <a:xfrm>
            <a:off x="349630" y="1381671"/>
            <a:ext cx="5195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⨀ 데이터 베이스 설계 </a:t>
            </a:r>
            <a:endParaRPr lang="en-US" altLang="ko-KR" sz="1400" b="1" dirty="0"/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591CDE29-B291-4EC9-B9BA-3F540A1FE283}"/>
              </a:ext>
            </a:extLst>
          </p:cNvPr>
          <p:cNvCxnSpPr>
            <a:cxnSpLocks/>
          </p:cNvCxnSpPr>
          <p:nvPr/>
        </p:nvCxnSpPr>
        <p:spPr>
          <a:xfrm flipH="1">
            <a:off x="6432590" y="0"/>
            <a:ext cx="17734" cy="685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644F4F0F-B2E9-4DC2-BA50-7AFBB844CB10}"/>
              </a:ext>
            </a:extLst>
          </p:cNvPr>
          <p:cNvSpPr txBox="1"/>
          <p:nvPr/>
        </p:nvSpPr>
        <p:spPr>
          <a:xfrm>
            <a:off x="6856542" y="788673"/>
            <a:ext cx="5178026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b="1" dirty="0"/>
              <a:t>⨀ 지인 목록을 가져오는 경우 필요한 검색 조건 최소화</a:t>
            </a:r>
            <a:endParaRPr lang="en-US" altLang="ko-KR" sz="1400" b="1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하나의 지인 관계를 하나의 </a:t>
            </a:r>
            <a:r>
              <a:rPr lang="en-US" altLang="ko-KR" sz="1200" dirty="0"/>
              <a:t>row</a:t>
            </a:r>
            <a:r>
              <a:rPr lang="ko-KR" altLang="en-US" sz="1200" dirty="0"/>
              <a:t>로 표현 하는 방법 대신 </a:t>
            </a:r>
            <a:r>
              <a:rPr lang="ko-KR" altLang="en-US" sz="1200" b="1" dirty="0"/>
              <a:t>두개의 </a:t>
            </a:r>
            <a:r>
              <a:rPr lang="en-US" altLang="ko-KR" sz="1200" b="1" dirty="0"/>
              <a:t>row</a:t>
            </a:r>
            <a:r>
              <a:rPr lang="ko-KR" altLang="en-US" sz="1200" b="1" dirty="0"/>
              <a:t>로 표현하여 검색 속도를 빠르게 하였습니다</a:t>
            </a:r>
            <a:r>
              <a:rPr lang="en-US" altLang="ko-KR" sz="1200" b="1" dirty="0"/>
              <a:t>.</a:t>
            </a:r>
          </a:p>
          <a:p>
            <a:r>
              <a:rPr lang="en-US" altLang="ko-KR" sz="1200" dirty="0"/>
              <a:t> </a:t>
            </a:r>
          </a:p>
          <a:p>
            <a:r>
              <a:rPr lang="en-US" altLang="ko-KR" sz="1200" dirty="0"/>
              <a:t> user A</a:t>
            </a:r>
            <a:r>
              <a:rPr lang="ko-KR" altLang="en-US" sz="1200" dirty="0"/>
              <a:t>와 </a:t>
            </a:r>
            <a:r>
              <a:rPr lang="en-US" altLang="ko-KR" sz="1200" dirty="0"/>
              <a:t>user B</a:t>
            </a:r>
            <a:r>
              <a:rPr lang="ko-KR" altLang="en-US" sz="1200" dirty="0"/>
              <a:t>가 지인이라면 </a:t>
            </a:r>
            <a:r>
              <a:rPr lang="en-US" altLang="ko-KR" sz="1200" dirty="0"/>
              <a:t>user A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</a:t>
            </a:r>
            <a:r>
              <a:rPr lang="en-US" altLang="ko-KR" sz="1200" dirty="0" err="1"/>
              <a:t>user_id</a:t>
            </a:r>
            <a:r>
              <a:rPr lang="ko-KR" altLang="en-US" sz="1200" dirty="0"/>
              <a:t>로 </a:t>
            </a:r>
            <a:r>
              <a:rPr lang="en-US" altLang="ko-KR" sz="1200" dirty="0"/>
              <a:t>user B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</a:t>
            </a:r>
            <a:r>
              <a:rPr lang="en-US" altLang="ko-KR" sz="1200" dirty="0" err="1"/>
              <a:t>target_user_id</a:t>
            </a:r>
            <a:r>
              <a:rPr lang="ko-KR" altLang="en-US" sz="1200" dirty="0"/>
              <a:t>로 하는 </a:t>
            </a:r>
            <a:r>
              <a:rPr lang="en-US" altLang="ko-KR" sz="1200" dirty="0"/>
              <a:t>row</a:t>
            </a:r>
            <a:r>
              <a:rPr lang="ko-KR" altLang="en-US" sz="1200" dirty="0"/>
              <a:t>를 만든 후 반대로 </a:t>
            </a:r>
            <a:r>
              <a:rPr lang="en-US" altLang="ko-KR" sz="1200" dirty="0"/>
              <a:t>user B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</a:t>
            </a:r>
            <a:r>
              <a:rPr lang="en-US" altLang="ko-KR" sz="1200" dirty="0" err="1"/>
              <a:t>user_id</a:t>
            </a:r>
            <a:r>
              <a:rPr lang="ko-KR" altLang="en-US" sz="1200" dirty="0"/>
              <a:t>로 </a:t>
            </a:r>
            <a:r>
              <a:rPr lang="en-US" altLang="ko-KR" sz="1200" dirty="0"/>
              <a:t>user A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</a:t>
            </a:r>
            <a:r>
              <a:rPr lang="en-US" altLang="ko-KR" sz="1200" dirty="0" err="1"/>
              <a:t>target_user_id</a:t>
            </a:r>
            <a:r>
              <a:rPr lang="ko-KR" altLang="en-US" sz="1200" dirty="0"/>
              <a:t>로 하는 </a:t>
            </a:r>
            <a:r>
              <a:rPr lang="en-US" altLang="ko-KR" sz="1200" dirty="0"/>
              <a:t>row</a:t>
            </a:r>
            <a:r>
              <a:rPr lang="ko-KR" altLang="en-US" sz="1200" dirty="0"/>
              <a:t>를 추가</a:t>
            </a:r>
            <a:r>
              <a:rPr lang="en-US" altLang="ko-KR" sz="1200" dirty="0"/>
              <a:t>. </a:t>
            </a:r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b="1" dirty="0"/>
              <a:t>검색 조건이 되는 </a:t>
            </a:r>
            <a:r>
              <a:rPr lang="en-US" altLang="ko-KR" sz="1200" b="1" dirty="0"/>
              <a:t>column</a:t>
            </a:r>
            <a:r>
              <a:rPr lang="ko-KR" altLang="en-US" sz="1200" b="1" dirty="0"/>
              <a:t>을 하나의 컬럼</a:t>
            </a:r>
            <a:r>
              <a:rPr lang="en-US" altLang="ko-KR" sz="1200" dirty="0"/>
              <a:t>(</a:t>
            </a:r>
            <a:r>
              <a:rPr lang="en-US" altLang="ko-KR" sz="1200" dirty="0" err="1"/>
              <a:t>user_id</a:t>
            </a:r>
            <a:r>
              <a:rPr lang="en-US" altLang="ko-KR" sz="1200" dirty="0"/>
              <a:t>)</a:t>
            </a:r>
            <a:r>
              <a:rPr lang="ko-KR" altLang="en-US" sz="1200" dirty="0"/>
              <a:t>으로 한 후 </a:t>
            </a:r>
            <a:r>
              <a:rPr lang="en-US" altLang="ko-KR" sz="1200" dirty="0"/>
              <a:t>indexing</a:t>
            </a:r>
            <a:r>
              <a:rPr lang="ko-KR" altLang="en-US" sz="1200" dirty="0"/>
              <a:t>을 하는 방법을 선택했습니다</a:t>
            </a:r>
            <a:r>
              <a:rPr lang="en-US" altLang="ko-KR" sz="1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162749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769346" y="605701"/>
            <a:ext cx="2901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 아는 사람 피하기 기능</a:t>
            </a:r>
            <a:endParaRPr lang="en-US" altLang="ko-KR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636149" y="730002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6FB71C-A1A5-43BC-B879-61CC92F547DD}"/>
              </a:ext>
            </a:extLst>
          </p:cNvPr>
          <p:cNvSpPr txBox="1"/>
          <p:nvPr/>
        </p:nvSpPr>
        <p:spPr>
          <a:xfrm>
            <a:off x="861999" y="1461839"/>
            <a:ext cx="9306428" cy="4431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400" b="1" dirty="0"/>
          </a:p>
          <a:p>
            <a:r>
              <a:rPr lang="ko-KR" altLang="en-US" sz="1400" b="1" dirty="0"/>
              <a:t>⨀ </a:t>
            </a:r>
            <a:r>
              <a:rPr lang="en-US" altLang="ko-KR" sz="1400" b="1" dirty="0"/>
              <a:t>DB </a:t>
            </a:r>
            <a:r>
              <a:rPr lang="ko-KR" altLang="en-US" sz="1400" b="1" dirty="0"/>
              <a:t>인덱싱을 통한 속도 향상</a:t>
            </a:r>
            <a:endParaRPr lang="en-US" altLang="ko-KR" sz="1400" b="1" dirty="0"/>
          </a:p>
          <a:p>
            <a:endParaRPr lang="en-US" altLang="ko-KR" sz="1200" b="1" dirty="0"/>
          </a:p>
          <a:p>
            <a:r>
              <a:rPr lang="en-US" altLang="ko-KR" sz="1200" dirty="0"/>
              <a:t>  - </a:t>
            </a:r>
            <a:r>
              <a:rPr lang="en-US" altLang="ko-KR" sz="1200" dirty="0" err="1"/>
              <a:t>acquaintance_relations</a:t>
            </a:r>
            <a:r>
              <a:rPr lang="en-US" altLang="ko-KR" sz="1200" dirty="0"/>
              <a:t> </a:t>
            </a:r>
            <a:r>
              <a:rPr lang="ko-KR" altLang="en-US" sz="1200" dirty="0"/>
              <a:t>테이블의 </a:t>
            </a:r>
            <a:r>
              <a:rPr lang="en-US" altLang="ko-KR" sz="1200" dirty="0" err="1"/>
              <a:t>user_id</a:t>
            </a:r>
            <a:r>
              <a:rPr lang="en-US" altLang="ko-KR" sz="1200" dirty="0"/>
              <a:t> </a:t>
            </a:r>
            <a:r>
              <a:rPr lang="ko-KR" altLang="en-US" sz="1200" dirty="0"/>
              <a:t>컬럼에 </a:t>
            </a:r>
            <a:r>
              <a:rPr lang="en-US" altLang="ko-KR" sz="1200" dirty="0"/>
              <a:t>index</a:t>
            </a:r>
            <a:r>
              <a:rPr lang="ko-KR" altLang="en-US" sz="1200" dirty="0"/>
              <a:t>를 사용하여 서비스의 전체적인 로직 시간을 단축하였습니다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r>
              <a:rPr lang="ko-KR" altLang="en-US" sz="1400" b="1" dirty="0"/>
              <a:t>⨀ 인덱싱을 선택한 이유</a:t>
            </a:r>
            <a:endParaRPr lang="en-US" altLang="ko-KR" sz="1400" b="1" dirty="0"/>
          </a:p>
          <a:p>
            <a:endParaRPr lang="en-US" altLang="ko-KR" sz="1200" dirty="0"/>
          </a:p>
          <a:p>
            <a:r>
              <a:rPr lang="en-US" altLang="ko-KR" sz="1200" dirty="0"/>
              <a:t> 1) </a:t>
            </a:r>
            <a:r>
              <a:rPr lang="ko-KR" altLang="en-US" sz="1200" dirty="0"/>
              <a:t>개발적 관점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  - </a:t>
            </a:r>
            <a:r>
              <a:rPr lang="ko-KR" altLang="en-US" sz="1200" dirty="0"/>
              <a:t>이성 추천</a:t>
            </a:r>
            <a:r>
              <a:rPr lang="en-US" altLang="ko-KR" sz="1200" dirty="0"/>
              <a:t>,</a:t>
            </a:r>
            <a:r>
              <a:rPr lang="ko-KR" altLang="en-US" sz="1200" dirty="0"/>
              <a:t> 게시물 리스트 조회 등 대부분의 비즈니스 로직에서 지인 여부를 확인해야 했고</a:t>
            </a:r>
            <a:r>
              <a:rPr lang="en-US" altLang="ko-KR" sz="1200" dirty="0"/>
              <a:t> </a:t>
            </a:r>
            <a:r>
              <a:rPr lang="ko-KR" altLang="en-US" sz="1200" dirty="0"/>
              <a:t>그에 따라 </a:t>
            </a:r>
            <a:r>
              <a:rPr lang="en-US" altLang="ko-KR" sz="1200" b="1" dirty="0"/>
              <a:t>select</a:t>
            </a:r>
            <a:r>
              <a:rPr lang="ko-KR" altLang="en-US" sz="1200" b="1" dirty="0"/>
              <a:t>문을 사용하는 경우가 </a:t>
            </a:r>
            <a:r>
              <a:rPr lang="en-US" altLang="ko-KR" sz="1200" b="1" dirty="0"/>
              <a:t>update, delete, insert</a:t>
            </a:r>
            <a:r>
              <a:rPr lang="ko-KR" altLang="en-US" sz="1200" b="1" dirty="0"/>
              <a:t>를 사용하는 경우보다 압도적으로 빈번</a:t>
            </a:r>
            <a:r>
              <a:rPr lang="ko-KR" altLang="en-US" sz="1200" dirty="0"/>
              <a:t>했기 때문입니다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2) UX</a:t>
            </a:r>
            <a:r>
              <a:rPr lang="ko-KR" altLang="en-US" sz="1200" dirty="0"/>
              <a:t>적 관점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 - </a:t>
            </a:r>
            <a:r>
              <a:rPr lang="ko-KR" altLang="en-US" sz="1200" dirty="0"/>
              <a:t>사용자가 지인 번호를 등록 또는 삭제하는 경우 시간이 더 소요되는 것에 대해 불편함을 느끼는 것보다</a:t>
            </a:r>
            <a:r>
              <a:rPr lang="en-US" altLang="ko-KR" sz="1200" dirty="0"/>
              <a:t>, </a:t>
            </a:r>
            <a:r>
              <a:rPr lang="ko-KR" altLang="en-US" sz="1200" dirty="0"/>
              <a:t>제공하는 서비스가 전반적으로 빠르게 동작하는 것에 대해 더 큰 만족감을 느낀다고 판단하였습니다</a:t>
            </a:r>
            <a:r>
              <a:rPr lang="en-US" altLang="ko-KR" sz="1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563895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925696" y="663005"/>
            <a:ext cx="1539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로그인 </a:t>
            </a:r>
            <a:endParaRPr lang="en-US" altLang="ko-KR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08083-D226-4FD5-8E5F-6CD98967450A}"/>
              </a:ext>
            </a:extLst>
          </p:cNvPr>
          <p:cNvSpPr txBox="1"/>
          <p:nvPr/>
        </p:nvSpPr>
        <p:spPr>
          <a:xfrm>
            <a:off x="771919" y="1427811"/>
            <a:ext cx="9265704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ko-KR" altLang="en-US" sz="1400" b="1" dirty="0"/>
              <a:t>⨀ </a:t>
            </a:r>
            <a:r>
              <a:rPr lang="en-US" altLang="ko-KR" sz="1400" b="1" dirty="0"/>
              <a:t>JWT,</a:t>
            </a:r>
            <a:r>
              <a:rPr lang="ko-KR" altLang="en-US" sz="1400" b="1" dirty="0"/>
              <a:t> </a:t>
            </a:r>
            <a:r>
              <a:rPr lang="en-US" altLang="ko-KR" sz="1400" b="1" dirty="0"/>
              <a:t>Argument Resolver </a:t>
            </a:r>
            <a:r>
              <a:rPr lang="ko-KR" altLang="en-US" sz="1400" b="1" dirty="0"/>
              <a:t>사용</a:t>
            </a:r>
            <a:r>
              <a:rPr lang="en-US" altLang="ko-KR" sz="1400" b="1" dirty="0"/>
              <a:t> </a:t>
            </a:r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300" dirty="0"/>
              <a:t> 1. </a:t>
            </a:r>
            <a:r>
              <a:rPr lang="ko-KR" altLang="en-US" sz="1300" dirty="0"/>
              <a:t>세션 로그인 방법 대신 </a:t>
            </a:r>
            <a:r>
              <a:rPr lang="en-US" altLang="ko-KR" sz="1300" dirty="0"/>
              <a:t>JWT</a:t>
            </a:r>
            <a:r>
              <a:rPr lang="ko-KR" altLang="en-US" sz="1300" dirty="0"/>
              <a:t>를 사용하여 서버 구조가 쉽게 확장 되도록 하였습니다</a:t>
            </a:r>
            <a:r>
              <a:rPr lang="en-US" altLang="ko-KR" sz="1300" dirty="0"/>
              <a:t>.</a:t>
            </a:r>
          </a:p>
          <a:p>
            <a:endParaRPr lang="en-US" altLang="ko-KR" sz="1300" dirty="0"/>
          </a:p>
          <a:p>
            <a:endParaRPr lang="en-US" altLang="ko-KR" sz="1300" dirty="0"/>
          </a:p>
          <a:p>
            <a:r>
              <a:rPr lang="en-US" altLang="ko-KR" sz="1300" dirty="0"/>
              <a:t> 2. Refresh Token</a:t>
            </a:r>
            <a:r>
              <a:rPr lang="ko-KR" altLang="en-US" sz="1300" dirty="0"/>
              <a:t>을 사용하여 자동 로그인 기능을 구현하였습니다</a:t>
            </a:r>
            <a:r>
              <a:rPr lang="en-US" altLang="ko-KR" sz="1300" dirty="0"/>
              <a:t>.</a:t>
            </a:r>
          </a:p>
          <a:p>
            <a:endParaRPr lang="en-US" altLang="ko-KR" sz="1300" dirty="0"/>
          </a:p>
          <a:p>
            <a:endParaRPr lang="en-US" altLang="ko-KR" sz="1300" dirty="0"/>
          </a:p>
          <a:p>
            <a:endParaRPr lang="en-US" altLang="ko-KR" sz="1300" dirty="0"/>
          </a:p>
          <a:p>
            <a:r>
              <a:rPr lang="en-US" altLang="ko-KR" sz="1300" dirty="0"/>
              <a:t> 3. </a:t>
            </a:r>
            <a:r>
              <a:rPr lang="ko-KR" altLang="en-US" sz="1300" dirty="0"/>
              <a:t>반복되는 코드를 줄이기 위해 </a:t>
            </a:r>
            <a:r>
              <a:rPr lang="en-US" altLang="ko-KR" sz="1300" dirty="0"/>
              <a:t>Spring</a:t>
            </a:r>
            <a:r>
              <a:rPr lang="ko-KR" altLang="en-US" sz="1300" dirty="0"/>
              <a:t>에서 제공하는 </a:t>
            </a:r>
            <a:r>
              <a:rPr lang="en-US" altLang="ko-KR" sz="1300" dirty="0"/>
              <a:t>Argument Resolver</a:t>
            </a:r>
            <a:r>
              <a:rPr lang="ko-KR" altLang="en-US" sz="1300" dirty="0"/>
              <a:t>를 사용하였습니다</a:t>
            </a:r>
            <a:r>
              <a:rPr lang="en-US" altLang="ko-KR" sz="13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   </a:t>
            </a:r>
            <a:r>
              <a:rPr lang="ko-KR" altLang="en-US" sz="1200" dirty="0"/>
              <a:t>기존 방법 </a:t>
            </a:r>
            <a:r>
              <a:rPr lang="en-US" altLang="ko-KR" sz="1200" dirty="0"/>
              <a:t>: interceptor</a:t>
            </a:r>
            <a:r>
              <a:rPr lang="ko-KR" altLang="en-US" sz="1200" dirty="0"/>
              <a:t>에서 </a:t>
            </a:r>
            <a:r>
              <a:rPr lang="en-US" altLang="ko-KR" sz="1200" dirty="0"/>
              <a:t>JWT</a:t>
            </a:r>
            <a:r>
              <a:rPr lang="ko-KR" altLang="en-US" sz="1200" dirty="0"/>
              <a:t>의 데이터를 추출하여 </a:t>
            </a:r>
            <a:r>
              <a:rPr lang="en-US" altLang="ko-KR" sz="1200" dirty="0" err="1"/>
              <a:t>HttpServletRequest</a:t>
            </a:r>
            <a:r>
              <a:rPr lang="ko-KR" altLang="en-US" sz="1200" dirty="0"/>
              <a:t>을 통해 컨트롤에 전달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   </a:t>
            </a:r>
            <a:r>
              <a:rPr lang="ko-KR" altLang="en-US" sz="1200" dirty="0" err="1"/>
              <a:t>리팩토링</a:t>
            </a:r>
            <a:r>
              <a:rPr lang="ko-KR" altLang="en-US" sz="1200" dirty="0"/>
              <a:t> </a:t>
            </a:r>
            <a:r>
              <a:rPr lang="en-US" altLang="ko-KR" sz="1200" dirty="0"/>
              <a:t>: Argument</a:t>
            </a:r>
            <a:r>
              <a:rPr lang="ko-KR" altLang="en-US" sz="1200" dirty="0"/>
              <a:t> </a:t>
            </a:r>
            <a:r>
              <a:rPr lang="en-US" altLang="ko-KR" sz="1200" dirty="0"/>
              <a:t>Resolver</a:t>
            </a:r>
            <a:r>
              <a:rPr lang="ko-KR" altLang="en-US" sz="1200" dirty="0"/>
              <a:t>를 사용하여 </a:t>
            </a:r>
            <a:r>
              <a:rPr lang="en-US" altLang="ko-KR" sz="1200" dirty="0"/>
              <a:t>Controller</a:t>
            </a:r>
            <a:r>
              <a:rPr lang="ko-KR" altLang="en-US" sz="1200" dirty="0"/>
              <a:t>에 반복되는 코드를 줄임 </a:t>
            </a:r>
            <a:endParaRPr lang="en-US" altLang="ko-KR" sz="1200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792499" y="787306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619246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3183A0-7D7F-4187-8267-CA1C64C3292F}"/>
              </a:ext>
            </a:extLst>
          </p:cNvPr>
          <p:cNvSpPr txBox="1"/>
          <p:nvPr/>
        </p:nvSpPr>
        <p:spPr>
          <a:xfrm>
            <a:off x="769346" y="605701"/>
            <a:ext cx="2901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 </a:t>
            </a:r>
            <a:r>
              <a:rPr lang="en-US" altLang="ko-KR" b="1" dirty="0"/>
              <a:t>CICD, </a:t>
            </a:r>
            <a:r>
              <a:rPr lang="ko-KR" altLang="en-US" b="1" dirty="0" err="1"/>
              <a:t>무중단</a:t>
            </a:r>
            <a:r>
              <a:rPr lang="ko-KR" altLang="en-US" b="1" dirty="0"/>
              <a:t> 배포</a:t>
            </a:r>
            <a:endParaRPr lang="en-US" altLang="ko-KR" b="1" dirty="0"/>
          </a:p>
        </p:txBody>
      </p:sp>
      <p:sp>
        <p:nvSpPr>
          <p:cNvPr id="5" name="object 6">
            <a:extLst>
              <a:ext uri="{FF2B5EF4-FFF2-40B4-BE49-F238E27FC236}">
                <a16:creationId xmlns:a16="http://schemas.microsoft.com/office/drawing/2014/main" id="{2598DB5E-12BF-464C-BABE-AAE203B9779F}"/>
              </a:ext>
            </a:extLst>
          </p:cNvPr>
          <p:cNvSpPr/>
          <p:nvPr/>
        </p:nvSpPr>
        <p:spPr>
          <a:xfrm>
            <a:off x="636149" y="730002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03D032-E693-4434-8197-B391CE437843}"/>
              </a:ext>
            </a:extLst>
          </p:cNvPr>
          <p:cNvSpPr txBox="1"/>
          <p:nvPr/>
        </p:nvSpPr>
        <p:spPr>
          <a:xfrm>
            <a:off x="939002" y="1589373"/>
            <a:ext cx="9306428" cy="4585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⨀ </a:t>
            </a:r>
            <a:r>
              <a:rPr lang="en-US" altLang="ko-KR" sz="1400" b="1" dirty="0"/>
              <a:t>CICD - </a:t>
            </a:r>
            <a:r>
              <a:rPr lang="en-US" altLang="ko-KR" sz="1400" b="1" dirty="0" err="1"/>
              <a:t>github</a:t>
            </a:r>
            <a:r>
              <a:rPr lang="en-US" altLang="ko-KR" sz="1400" b="1" dirty="0"/>
              <a:t> action, code deploy, s3</a:t>
            </a:r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r>
              <a:rPr lang="ko-KR" altLang="en-US" sz="1400" b="1" dirty="0"/>
              <a:t>⨀ </a:t>
            </a:r>
            <a:r>
              <a:rPr lang="en-US" altLang="ko-KR" sz="1400" b="1" dirty="0"/>
              <a:t>Nginx</a:t>
            </a:r>
            <a:r>
              <a:rPr lang="ko-KR" altLang="en-US" sz="1400" b="1" dirty="0"/>
              <a:t>를</a:t>
            </a:r>
            <a:r>
              <a:rPr lang="en-US" altLang="ko-KR" sz="1400" b="1" dirty="0"/>
              <a:t> </a:t>
            </a:r>
            <a:r>
              <a:rPr lang="ko-KR" altLang="en-US" sz="1400" b="1" dirty="0"/>
              <a:t>이용한 </a:t>
            </a:r>
            <a:r>
              <a:rPr lang="ko-KR" altLang="en-US" sz="1400" b="1" dirty="0" err="1"/>
              <a:t>무중단</a:t>
            </a:r>
            <a:r>
              <a:rPr lang="ko-KR" altLang="en-US" sz="1400" b="1" dirty="0"/>
              <a:t> 배포 </a:t>
            </a:r>
            <a:r>
              <a:rPr lang="en-US" altLang="ko-KR" sz="1400" b="1" dirty="0"/>
              <a:t>(</a:t>
            </a:r>
            <a:r>
              <a:rPr lang="ko-KR" altLang="en-US" sz="1400" b="1" dirty="0"/>
              <a:t>블루그린 방식</a:t>
            </a:r>
            <a:r>
              <a:rPr lang="en-US" altLang="ko-KR" sz="1400" b="1" dirty="0"/>
              <a:t>)</a:t>
            </a:r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r>
              <a:rPr lang="ko-KR" altLang="en-US" sz="1400" b="1" dirty="0"/>
              <a:t>⨀ 순서</a:t>
            </a:r>
            <a:endParaRPr lang="en-US" altLang="ko-KR" sz="1400" b="1" dirty="0"/>
          </a:p>
          <a:p>
            <a:endParaRPr lang="en-US" altLang="ko-KR" sz="1400" b="1" dirty="0"/>
          </a:p>
          <a:p>
            <a:r>
              <a:rPr lang="en-US" altLang="ko-KR" sz="1400" b="1" dirty="0"/>
              <a:t> - s3</a:t>
            </a:r>
            <a:r>
              <a:rPr lang="ko-KR" altLang="en-US" sz="1400" b="1" dirty="0"/>
              <a:t>에 </a:t>
            </a:r>
            <a:r>
              <a:rPr lang="en-US" altLang="ko-KR" sz="1400" b="1" dirty="0"/>
              <a:t>jar</a:t>
            </a:r>
            <a:r>
              <a:rPr lang="ko-KR" altLang="en-US" sz="1400" b="1" dirty="0"/>
              <a:t>파일 업로드</a:t>
            </a:r>
            <a:endParaRPr lang="en-US" altLang="ko-KR" sz="1400" b="1" dirty="0"/>
          </a:p>
          <a:p>
            <a:endParaRPr lang="en-US" altLang="ko-KR" sz="1400" b="1" dirty="0"/>
          </a:p>
          <a:p>
            <a:r>
              <a:rPr lang="en-US" altLang="ko-KR" sz="1400" b="1" dirty="0"/>
              <a:t> - code deploy</a:t>
            </a:r>
            <a:r>
              <a:rPr lang="ko-KR" altLang="en-US" sz="1400" b="1" dirty="0"/>
              <a:t>를 이용하여 덮어쓰기 후 </a:t>
            </a:r>
            <a:r>
              <a:rPr lang="en-US" altLang="ko-KR" sz="1400" b="1" dirty="0"/>
              <a:t>8081, 8082 </a:t>
            </a:r>
            <a:r>
              <a:rPr lang="ko-KR" altLang="en-US" sz="1400" b="1" dirty="0"/>
              <a:t>중 사용하지 않는 포트로 배포</a:t>
            </a:r>
            <a:endParaRPr lang="en-US" altLang="ko-KR" sz="1400" b="1" dirty="0"/>
          </a:p>
          <a:p>
            <a:endParaRPr lang="en-US" altLang="ko-KR" sz="1400" b="1" dirty="0"/>
          </a:p>
          <a:p>
            <a:r>
              <a:rPr lang="en-US" altLang="ko-KR" sz="1400" b="1" dirty="0"/>
              <a:t>- Nginx</a:t>
            </a:r>
            <a:r>
              <a:rPr lang="ko-KR" altLang="en-US" sz="1400" b="1" dirty="0"/>
              <a:t> 리버스 프록시 포트 변경</a:t>
            </a:r>
            <a:endParaRPr lang="en-US" altLang="ko-KR" sz="1400" b="1" dirty="0"/>
          </a:p>
          <a:p>
            <a:r>
              <a:rPr lang="ko-KR" altLang="en-US" sz="1400" b="1" dirty="0"/>
              <a:t> </a:t>
            </a:r>
            <a:endParaRPr lang="en-US" altLang="ko-KR" sz="1200" dirty="0"/>
          </a:p>
          <a:p>
            <a:r>
              <a:rPr lang="en-US" altLang="ko-KR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869003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87696" y="601440"/>
            <a:ext cx="47114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 err="1">
                <a:latin typeface="Arial" panose="020B0604020202020204" pitchFamily="34" charset="0"/>
                <a:cs typeface="Arial" panose="020B0604020202020204" pitchFamily="34" charset="0"/>
              </a:rPr>
              <a:t>ShopLive</a:t>
            </a:r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 Korea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1183229" y="2615139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인턴십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1204060" y="2984471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2022. 03 ~ 2022. 06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687695" y="3826073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1203903" y="3675980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서비스 설명</a:t>
            </a:r>
            <a:endParaRPr lang="en-US" altLang="ko-KR" b="1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6849506" y="3926289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7345735" y="3776196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7366564" y="4168822"/>
            <a:ext cx="3621533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100" dirty="0"/>
          </a:p>
          <a:p>
            <a:r>
              <a:rPr lang="ko-KR" altLang="en-US" sz="1100" dirty="0"/>
              <a:t>⨀ 서버 </a:t>
            </a:r>
            <a:r>
              <a:rPr lang="en-US" altLang="ko-KR" sz="1100" dirty="0"/>
              <a:t>API </a:t>
            </a:r>
            <a:r>
              <a:rPr lang="ko-KR" altLang="en-US" sz="1100" dirty="0"/>
              <a:t>로직 작성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en-US" altLang="ko-KR" sz="1100" dirty="0"/>
              <a:t>mem-cached</a:t>
            </a:r>
            <a:r>
              <a:rPr lang="ko-KR" altLang="en-US" sz="1100" dirty="0"/>
              <a:t>를 이용한 </a:t>
            </a:r>
            <a:r>
              <a:rPr lang="ko-KR" altLang="en-US" sz="1100" dirty="0" err="1"/>
              <a:t>캐싱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ko-KR" altLang="en-US" sz="1100" dirty="0" err="1"/>
              <a:t>리팩토링을</a:t>
            </a:r>
            <a:r>
              <a:rPr lang="ko-KR" altLang="en-US" sz="1100" dirty="0"/>
              <a:t> 통한 시간 단축 및 코드 간소화</a:t>
            </a:r>
            <a:endParaRPr lang="en-US" altLang="ko-KR" sz="1100" dirty="0"/>
          </a:p>
          <a:p>
            <a:endParaRPr lang="en-US" altLang="ko-KR" sz="11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3427E50-B330-4DAB-8331-9469154D2C22}"/>
              </a:ext>
            </a:extLst>
          </p:cNvPr>
          <p:cNvSpPr txBox="1"/>
          <p:nvPr/>
        </p:nvSpPr>
        <p:spPr>
          <a:xfrm>
            <a:off x="1050520" y="4000272"/>
            <a:ext cx="44892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라이브 영상을 시청하며 실시간으로 물건을 구매할 수 있는 서비스입니다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en-US" altLang="ko-KR" sz="1200" dirty="0"/>
              <a:t>B</a:t>
            </a:r>
            <a:r>
              <a:rPr lang="ko-KR" altLang="en-US" sz="1200" dirty="0"/>
              <a:t> </a:t>
            </a:r>
            <a:r>
              <a:rPr lang="en-US" altLang="ko-KR" sz="1200" dirty="0"/>
              <a:t>to</a:t>
            </a:r>
            <a:r>
              <a:rPr lang="ko-KR" altLang="en-US" sz="1200" dirty="0"/>
              <a:t> </a:t>
            </a:r>
            <a:r>
              <a:rPr lang="en-US" altLang="ko-KR" sz="1200" dirty="0"/>
              <a:t>B</a:t>
            </a:r>
            <a:r>
              <a:rPr lang="ko-KR" altLang="en-US" sz="1200" dirty="0"/>
              <a:t> 서비스로서 고객사의 </a:t>
            </a:r>
            <a:r>
              <a:rPr lang="en-US" altLang="ko-KR" sz="1200" dirty="0"/>
              <a:t>UI </a:t>
            </a:r>
            <a:r>
              <a:rPr lang="ko-KR" altLang="en-US" sz="1200" dirty="0"/>
              <a:t>화면에 플러그인 형식으로 서비스를 제공합니다</a:t>
            </a:r>
            <a:r>
              <a:rPr lang="en-US" altLang="ko-KR" sz="1200" dirty="0"/>
              <a:t>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A1CF93A-764F-4F9D-8609-81213E855908}"/>
              </a:ext>
            </a:extLst>
          </p:cNvPr>
          <p:cNvSpPr txBox="1"/>
          <p:nvPr/>
        </p:nvSpPr>
        <p:spPr>
          <a:xfrm>
            <a:off x="687695" y="1415992"/>
            <a:ext cx="456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서비스 명 </a:t>
            </a:r>
            <a:r>
              <a:rPr lang="en-US" altLang="ko-KR" b="1" dirty="0"/>
              <a:t>: </a:t>
            </a:r>
            <a:r>
              <a:rPr lang="ko-KR" altLang="en-US" b="1" dirty="0" err="1"/>
              <a:t>샵라이브</a:t>
            </a:r>
            <a:endParaRPr lang="ko-KR" altLang="en-US" b="1" dirty="0"/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59A1C677-34F2-458B-A034-4C3F4C3032EB}"/>
              </a:ext>
            </a:extLst>
          </p:cNvPr>
          <p:cNvSpPr/>
          <p:nvPr/>
        </p:nvSpPr>
        <p:spPr>
          <a:xfrm>
            <a:off x="6848098" y="2796623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46F0F0-0293-4599-A93F-A00BC965088A}"/>
              </a:ext>
            </a:extLst>
          </p:cNvPr>
          <p:cNvSpPr txBox="1"/>
          <p:nvPr/>
        </p:nvSpPr>
        <p:spPr>
          <a:xfrm>
            <a:off x="7153140" y="2646530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4678DA-0FEE-416F-A515-5D1F36F4A337}"/>
              </a:ext>
            </a:extLst>
          </p:cNvPr>
          <p:cNvSpPr txBox="1"/>
          <p:nvPr/>
        </p:nvSpPr>
        <p:spPr>
          <a:xfrm>
            <a:off x="7153140" y="3026440"/>
            <a:ext cx="2504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MySql</a:t>
            </a:r>
            <a:endParaRPr lang="en-US" altLang="ko-KR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8AFF7DF-C4DB-49BA-B65D-82B5E44E6A38}"/>
              </a:ext>
            </a:extLst>
          </p:cNvPr>
          <p:cNvSpPr/>
          <p:nvPr/>
        </p:nvSpPr>
        <p:spPr>
          <a:xfrm>
            <a:off x="686714" y="2780914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447286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01503" y="264000"/>
            <a:ext cx="3662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코드 중복 제거</a:t>
            </a:r>
            <a:endParaRPr lang="en-US" altLang="ko-KR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08083-D226-4FD5-8E5F-6CD98967450A}"/>
              </a:ext>
            </a:extLst>
          </p:cNvPr>
          <p:cNvSpPr txBox="1"/>
          <p:nvPr/>
        </p:nvSpPr>
        <p:spPr>
          <a:xfrm>
            <a:off x="805743" y="629792"/>
            <a:ext cx="10333312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ko-KR" altLang="en-US" sz="1400" b="1" dirty="0"/>
              <a:t>⨀ 상황</a:t>
            </a:r>
            <a:endParaRPr lang="en-US" altLang="ko-KR" sz="1400" b="1" dirty="0"/>
          </a:p>
          <a:p>
            <a:endParaRPr lang="en-US" altLang="ko-KR" sz="1200" dirty="0"/>
          </a:p>
          <a:p>
            <a:r>
              <a:rPr lang="ko-KR" altLang="en-US" sz="1200" dirty="0"/>
              <a:t> </a:t>
            </a:r>
            <a:r>
              <a:rPr lang="en-US" altLang="ko-KR" sz="1200" dirty="0"/>
              <a:t>- </a:t>
            </a:r>
            <a:r>
              <a:rPr lang="ko-KR" altLang="en-US" sz="1200" dirty="0"/>
              <a:t>비디오 클래스와 이미지 클래스는 미디어 클래스를 상속합니다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 </a:t>
            </a:r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비디오 클래스와 이미지 클래스는 다른 필드를 가지고 있으므로 요청에 대해 다른 </a:t>
            </a:r>
            <a:r>
              <a:rPr lang="en-US" altLang="ko-KR" sz="1200" dirty="0"/>
              <a:t>DTO</a:t>
            </a:r>
            <a:r>
              <a:rPr lang="ko-KR" altLang="en-US" sz="1200" dirty="0"/>
              <a:t>를 사용합니다</a:t>
            </a:r>
            <a:r>
              <a:rPr lang="en-US" altLang="ko-KR" sz="1200" dirty="0"/>
              <a:t>. </a:t>
            </a:r>
            <a:r>
              <a:rPr lang="ko-KR" altLang="en-US" sz="1200" dirty="0"/>
              <a:t>따라서 비슷한 코드가 여러 번 작성됩니다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미디어의 종류가 추가될 때마다 코드 중복이 다시 발생합니다</a:t>
            </a:r>
            <a:r>
              <a:rPr lang="en-US" altLang="ko-KR" sz="1200" dirty="0"/>
              <a:t>.</a:t>
            </a:r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468307" y="388301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80F2B8-E8AD-40CA-8337-F0B70EA45237}"/>
              </a:ext>
            </a:extLst>
          </p:cNvPr>
          <p:cNvSpPr txBox="1"/>
          <p:nvPr/>
        </p:nvSpPr>
        <p:spPr>
          <a:xfrm>
            <a:off x="805742" y="2465534"/>
            <a:ext cx="7536079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ko-KR" altLang="en-US" sz="1400" b="1" dirty="0"/>
              <a:t>⨀ 인터페이스와 추상클래스를 이용한 코드 중복 해결 </a:t>
            </a:r>
            <a:r>
              <a:rPr lang="ko-KR" altLang="en-US" sz="1400" b="1"/>
              <a:t>및 확장성 증가 </a:t>
            </a:r>
            <a:endParaRPr lang="en-US" altLang="ko-KR" sz="1400" b="1" dirty="0"/>
          </a:p>
          <a:p>
            <a:endParaRPr lang="en-US" altLang="ko-KR" sz="1200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08D3B2B-F01E-49D5-BAC4-3BD9E2C50806}"/>
              </a:ext>
            </a:extLst>
          </p:cNvPr>
          <p:cNvSpPr/>
          <p:nvPr/>
        </p:nvSpPr>
        <p:spPr>
          <a:xfrm>
            <a:off x="919235" y="3543362"/>
            <a:ext cx="1395859" cy="3936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@JsonInfoType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5EAEE2-4C7A-45E1-85C7-5078C535A8E5}"/>
              </a:ext>
            </a:extLst>
          </p:cNvPr>
          <p:cNvSpPr txBox="1"/>
          <p:nvPr/>
        </p:nvSpPr>
        <p:spPr>
          <a:xfrm>
            <a:off x="1112601" y="3326599"/>
            <a:ext cx="10736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미디어 인터페이스</a:t>
            </a: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A63A051F-E10A-41F7-8D52-390D109F77DF}"/>
              </a:ext>
            </a:extLst>
          </p:cNvPr>
          <p:cNvCxnSpPr>
            <a:cxnSpLocks/>
          </p:cNvCxnSpPr>
          <p:nvPr/>
        </p:nvCxnSpPr>
        <p:spPr>
          <a:xfrm>
            <a:off x="2384698" y="3992251"/>
            <a:ext cx="106356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F75B351-87DA-4206-BE19-B4ACB6C9D843}"/>
              </a:ext>
            </a:extLst>
          </p:cNvPr>
          <p:cNvSpPr txBox="1"/>
          <p:nvPr/>
        </p:nvSpPr>
        <p:spPr>
          <a:xfrm>
            <a:off x="2532560" y="3776807"/>
            <a:ext cx="10736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implements</a:t>
            </a:r>
            <a:endParaRPr lang="ko-KR" altLang="en-US" sz="8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4A1493D-49BC-4669-9006-6B5E4E27FA50}"/>
              </a:ext>
            </a:extLst>
          </p:cNvPr>
          <p:cNvSpPr/>
          <p:nvPr/>
        </p:nvSpPr>
        <p:spPr>
          <a:xfrm>
            <a:off x="919234" y="3936962"/>
            <a:ext cx="1395859" cy="7871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getMediaType</a:t>
            </a:r>
            <a:r>
              <a:rPr lang="en-US" altLang="ko-KR" sz="12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3879D04-AC8A-409E-9EBE-9F27740F7965}"/>
              </a:ext>
            </a:extLst>
          </p:cNvPr>
          <p:cNvSpPr/>
          <p:nvPr/>
        </p:nvSpPr>
        <p:spPr>
          <a:xfrm>
            <a:off x="3561293" y="3713657"/>
            <a:ext cx="1395859" cy="7871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미디어 클래스의 </a:t>
            </a: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자식 클래스 </a:t>
            </a: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공통 필드 선언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C8AF7A-F898-4584-B57D-9AF77709C63E}"/>
              </a:ext>
            </a:extLst>
          </p:cNvPr>
          <p:cNvSpPr txBox="1"/>
          <p:nvPr/>
        </p:nvSpPr>
        <p:spPr>
          <a:xfrm>
            <a:off x="3705544" y="3498213"/>
            <a:ext cx="13302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미디어 추상 클래스</a:t>
            </a:r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E7CDA494-2249-4547-9577-E956D4B82E51}"/>
              </a:ext>
            </a:extLst>
          </p:cNvPr>
          <p:cNvCxnSpPr>
            <a:cxnSpLocks/>
          </p:cNvCxnSpPr>
          <p:nvPr/>
        </p:nvCxnSpPr>
        <p:spPr>
          <a:xfrm flipV="1">
            <a:off x="5050552" y="3605935"/>
            <a:ext cx="935333" cy="3863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B6072E89-7E52-47E8-AC08-FC9CB073E9F2}"/>
              </a:ext>
            </a:extLst>
          </p:cNvPr>
          <p:cNvCxnSpPr>
            <a:cxnSpLocks/>
          </p:cNvCxnSpPr>
          <p:nvPr/>
        </p:nvCxnSpPr>
        <p:spPr>
          <a:xfrm>
            <a:off x="5050552" y="4270845"/>
            <a:ext cx="896738" cy="4533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A409384-AE9F-472C-956F-8A2C4E70B466}"/>
              </a:ext>
            </a:extLst>
          </p:cNvPr>
          <p:cNvSpPr/>
          <p:nvPr/>
        </p:nvSpPr>
        <p:spPr>
          <a:xfrm>
            <a:off x="6143181" y="3188427"/>
            <a:ext cx="1395859" cy="7871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비디오 클래스 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필드 및 메서드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1EB86AE-5000-4606-A770-2106C9FB0AB3}"/>
              </a:ext>
            </a:extLst>
          </p:cNvPr>
          <p:cNvSpPr/>
          <p:nvPr/>
        </p:nvSpPr>
        <p:spPr>
          <a:xfrm>
            <a:off x="6143180" y="4408763"/>
            <a:ext cx="1395859" cy="7871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이미지 클래스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필드 및 메서드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3E2A58D-C820-41E7-8F4F-929F69131482}"/>
              </a:ext>
            </a:extLst>
          </p:cNvPr>
          <p:cNvSpPr txBox="1"/>
          <p:nvPr/>
        </p:nvSpPr>
        <p:spPr>
          <a:xfrm>
            <a:off x="6333384" y="2977139"/>
            <a:ext cx="117717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비디오 클래스</a:t>
            </a:r>
            <a:r>
              <a:rPr lang="en-US" altLang="ko-KR" sz="800" dirty="0"/>
              <a:t>(DTO)</a:t>
            </a:r>
            <a:endParaRPr lang="ko-KR" altLang="en-US" sz="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66DF18F-EB76-4A87-A704-A24C5D72C2FE}"/>
              </a:ext>
            </a:extLst>
          </p:cNvPr>
          <p:cNvSpPr txBox="1"/>
          <p:nvPr/>
        </p:nvSpPr>
        <p:spPr>
          <a:xfrm>
            <a:off x="6333384" y="4202660"/>
            <a:ext cx="13383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이미지 클래스</a:t>
            </a:r>
            <a:r>
              <a:rPr lang="en-US" altLang="ko-KR" sz="800" dirty="0"/>
              <a:t>(DTO)</a:t>
            </a:r>
            <a:endParaRPr lang="ko-KR" altLang="en-US" sz="8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E0AFBF-824A-4104-9020-2B212D7FC232}"/>
              </a:ext>
            </a:extLst>
          </p:cNvPr>
          <p:cNvSpPr txBox="1"/>
          <p:nvPr/>
        </p:nvSpPr>
        <p:spPr>
          <a:xfrm>
            <a:off x="805743" y="5422996"/>
            <a:ext cx="985948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r>
              <a:rPr lang="en-US" altLang="ko-KR" sz="1200" dirty="0" err="1"/>
              <a:t>JsonInfoType</a:t>
            </a:r>
            <a:r>
              <a:rPr lang="en-US" altLang="ko-KR" sz="1200" dirty="0"/>
              <a:t> </a:t>
            </a:r>
            <a:r>
              <a:rPr lang="ko-KR" altLang="en-US" sz="1200" dirty="0" err="1"/>
              <a:t>어노테이션을</a:t>
            </a:r>
            <a:r>
              <a:rPr lang="ko-KR" altLang="en-US" sz="1200" dirty="0"/>
              <a:t> 이용하여 메시지 컨버터가 요청에 알맞은 구체 클래스로 데이터를 매핑합니다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 err="1"/>
              <a:t>getMediaType</a:t>
            </a:r>
            <a:r>
              <a:rPr lang="en-US" altLang="ko-KR" sz="1200" dirty="0"/>
              <a:t> </a:t>
            </a:r>
            <a:r>
              <a:rPr lang="ko-KR" altLang="en-US" sz="1200" dirty="0"/>
              <a:t>메서드를 이용하여 코드 레벨에서 인자로 들어온 클래스의 타입을 확인합니다</a:t>
            </a:r>
            <a:r>
              <a:rPr lang="en-US" altLang="ko-KR" sz="1200" dirty="0"/>
              <a:t>. </a:t>
            </a:r>
            <a:r>
              <a:rPr lang="ko-KR" altLang="en-US" sz="1200" dirty="0"/>
              <a:t>이를 통해 어떤 구체 클래스의 객체로 역직렬화가 되었는지 알 수 있습니다</a:t>
            </a:r>
            <a:r>
              <a:rPr lang="en-US" altLang="ko-KR" sz="1200" dirty="0"/>
              <a:t>. </a:t>
            </a:r>
            <a:r>
              <a:rPr lang="ko-KR" altLang="en-US" sz="1200" dirty="0"/>
              <a:t>이를 이용하여 다음 서비스 로직을 실행합니다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이를 통해 컨트롤러와 서비스에서 하나의 메서드로 모든 미디어 타입에 대한 요청에 응답할 수 있습니다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D583930-2F80-4B1B-9635-B4668D4D1387}"/>
              </a:ext>
            </a:extLst>
          </p:cNvPr>
          <p:cNvSpPr txBox="1"/>
          <p:nvPr/>
        </p:nvSpPr>
        <p:spPr>
          <a:xfrm rot="20211078">
            <a:off x="5178176" y="3512943"/>
            <a:ext cx="10736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extends</a:t>
            </a:r>
            <a:endParaRPr lang="ko-KR" altLang="en-US" sz="8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19BD33E-E9B8-41E3-B90D-06EA53E7A531}"/>
              </a:ext>
            </a:extLst>
          </p:cNvPr>
          <p:cNvSpPr txBox="1"/>
          <p:nvPr/>
        </p:nvSpPr>
        <p:spPr>
          <a:xfrm rot="1640210">
            <a:off x="5198664" y="4392377"/>
            <a:ext cx="10736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extends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4344630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722039" y="667976"/>
            <a:ext cx="3662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/>
              <a:t>캐싱</a:t>
            </a:r>
            <a:endParaRPr lang="en-US" altLang="ko-KR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08083-D226-4FD5-8E5F-6CD98967450A}"/>
              </a:ext>
            </a:extLst>
          </p:cNvPr>
          <p:cNvSpPr txBox="1"/>
          <p:nvPr/>
        </p:nvSpPr>
        <p:spPr>
          <a:xfrm>
            <a:off x="822370" y="1216642"/>
            <a:ext cx="11171017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⨀ </a:t>
            </a:r>
            <a:r>
              <a:rPr lang="en-US" altLang="ko-KR" sz="1400" b="1" dirty="0" err="1"/>
              <a:t>memcached</a:t>
            </a:r>
            <a:r>
              <a:rPr lang="ko-KR" altLang="en-US" sz="1400" b="1" dirty="0"/>
              <a:t>를 이용한 </a:t>
            </a:r>
            <a:r>
              <a:rPr lang="ko-KR" altLang="en-US" sz="1400" b="1" dirty="0" err="1"/>
              <a:t>캐싱</a:t>
            </a:r>
            <a:endParaRPr lang="en-US" altLang="ko-KR" sz="1400" b="1" dirty="0"/>
          </a:p>
          <a:p>
            <a:endParaRPr lang="en-US" altLang="ko-KR" sz="14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단시간에 많은 요청이 예상되는 로직에 </a:t>
            </a:r>
            <a:r>
              <a:rPr lang="ko-KR" altLang="en-US" sz="1200" dirty="0" err="1"/>
              <a:t>캐싱을</a:t>
            </a:r>
            <a:r>
              <a:rPr lang="ko-KR" altLang="en-US" sz="1200" dirty="0"/>
              <a:t> 적용했습니다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DB</a:t>
            </a:r>
            <a:r>
              <a:rPr lang="ko-KR" altLang="en-US" sz="1200" dirty="0"/>
              <a:t>의 데이터가 변경되지 않는 로직이었기에</a:t>
            </a:r>
            <a:r>
              <a:rPr lang="en-US" altLang="ko-KR" sz="1200" dirty="0"/>
              <a:t> </a:t>
            </a:r>
            <a:r>
              <a:rPr lang="ko-KR" altLang="en-US" sz="1200" dirty="0"/>
              <a:t>데이터 정합성이 이슈가 되지 않았습니다</a:t>
            </a:r>
            <a:r>
              <a:rPr lang="en-US" altLang="ko-KR" sz="1200" dirty="0"/>
              <a:t>. </a:t>
            </a:r>
            <a:r>
              <a:rPr lang="ko-KR" altLang="en-US" sz="1200" dirty="0"/>
              <a:t>따라서 다른 인메모리 데이터 베이스보다 </a:t>
            </a:r>
            <a:r>
              <a:rPr lang="en-US" altLang="ko-KR" sz="1200" dirty="0" err="1"/>
              <a:t>memcached</a:t>
            </a:r>
            <a:r>
              <a:rPr lang="ko-KR" altLang="en-US" sz="1200" dirty="0"/>
              <a:t>가 적절하다고 판단하였습니다</a:t>
            </a:r>
            <a:r>
              <a:rPr lang="en-US" altLang="ko-KR" sz="1200" dirty="0"/>
              <a:t>.</a:t>
            </a:r>
          </a:p>
          <a:p>
            <a:endParaRPr lang="en-US" altLang="ko-KR" sz="1400" b="1" dirty="0"/>
          </a:p>
          <a:p>
            <a:endParaRPr lang="en-US" altLang="ko-KR" sz="1400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588843" y="792277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9C77245-E42C-435C-A054-4651C4671B97}"/>
              </a:ext>
            </a:extLst>
          </p:cNvPr>
          <p:cNvSpPr txBox="1"/>
          <p:nvPr/>
        </p:nvSpPr>
        <p:spPr>
          <a:xfrm>
            <a:off x="722037" y="3866713"/>
            <a:ext cx="3662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코드 </a:t>
            </a:r>
            <a:r>
              <a:rPr lang="ko-KR" altLang="en-US" b="1" dirty="0" err="1"/>
              <a:t>리팩토링</a:t>
            </a:r>
            <a:endParaRPr lang="en-US" altLang="ko-KR" b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A1523E8-A352-4F9D-8E46-BC76EED9BB39}"/>
              </a:ext>
            </a:extLst>
          </p:cNvPr>
          <p:cNvSpPr txBox="1"/>
          <p:nvPr/>
        </p:nvSpPr>
        <p:spPr>
          <a:xfrm>
            <a:off x="822371" y="4234782"/>
            <a:ext cx="1109392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400" b="1" dirty="0"/>
          </a:p>
          <a:p>
            <a:endParaRPr lang="en-US" altLang="ko-KR" sz="1400" b="1" dirty="0"/>
          </a:p>
          <a:p>
            <a:r>
              <a:rPr lang="ko-KR" altLang="en-US" sz="1400" b="1" dirty="0"/>
              <a:t>⨀ </a:t>
            </a:r>
            <a:r>
              <a:rPr lang="en-US" altLang="ko-KR" sz="1400" b="1" dirty="0"/>
              <a:t>DB </a:t>
            </a:r>
            <a:r>
              <a:rPr lang="ko-KR" altLang="en-US" sz="1400" b="1" dirty="0"/>
              <a:t>부하 감소를 위해 하나의 요청이 실행 될 때마다 생기는 쿼리의 개수를 줄임</a:t>
            </a:r>
            <a:endParaRPr lang="en-US" altLang="ko-KR" sz="1400" b="1" dirty="0"/>
          </a:p>
          <a:p>
            <a:endParaRPr lang="en-US" altLang="ko-KR" sz="1400" b="1" dirty="0"/>
          </a:p>
          <a:p>
            <a:r>
              <a:rPr lang="en-US" altLang="ko-KR" sz="1200" dirty="0"/>
              <a:t>   </a:t>
            </a:r>
            <a:r>
              <a:rPr lang="ko-KR" altLang="en-US" sz="1200" dirty="0"/>
              <a:t>기존 방법 </a:t>
            </a:r>
            <a:r>
              <a:rPr lang="en-US" altLang="ko-KR" sz="1200" dirty="0"/>
              <a:t>: For</a:t>
            </a:r>
            <a:r>
              <a:rPr lang="ko-KR" altLang="en-US" sz="1200" dirty="0"/>
              <a:t>문을 돌며 데이터를 </a:t>
            </a:r>
            <a:r>
              <a:rPr lang="en-US" altLang="ko-KR" sz="1200" dirty="0"/>
              <a:t>row</a:t>
            </a:r>
            <a:r>
              <a:rPr lang="ko-KR" altLang="en-US" sz="1200" dirty="0"/>
              <a:t>별로 받아오는 방식을 사용했고</a:t>
            </a:r>
            <a:r>
              <a:rPr lang="en-US" altLang="ko-KR" sz="1200" dirty="0"/>
              <a:t>, </a:t>
            </a:r>
            <a:r>
              <a:rPr lang="ko-KR" altLang="en-US" sz="1200" dirty="0"/>
              <a:t>이에 따라 </a:t>
            </a:r>
            <a:r>
              <a:rPr lang="en-US" altLang="ko-KR" sz="1200" dirty="0"/>
              <a:t>DB </a:t>
            </a:r>
            <a:r>
              <a:rPr lang="ko-KR" altLang="en-US" sz="1200" dirty="0"/>
              <a:t>커넥션이 많이 발생하여 서버의 부하가 큼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  </a:t>
            </a:r>
            <a:r>
              <a:rPr lang="ko-KR" altLang="en-US" sz="1200" dirty="0" err="1"/>
              <a:t>리팩토링</a:t>
            </a:r>
            <a:r>
              <a:rPr lang="ko-KR" altLang="en-US" sz="1200" dirty="0"/>
              <a:t> </a:t>
            </a:r>
            <a:r>
              <a:rPr lang="en-US" altLang="ko-KR" sz="1200" dirty="0"/>
              <a:t>: Stream</a:t>
            </a:r>
            <a:r>
              <a:rPr lang="ko-KR" altLang="en-US" sz="1200" dirty="0"/>
              <a:t>을 활용하여 필요로 하는 </a:t>
            </a:r>
            <a:r>
              <a:rPr lang="en-US" altLang="ko-KR" sz="1200" dirty="0"/>
              <a:t>Row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리스트로 한 번에 모아 쿼리를 </a:t>
            </a:r>
            <a:r>
              <a:rPr lang="ko-KR" altLang="en-US" sz="1200" dirty="0" err="1"/>
              <a:t>전송함으로서</a:t>
            </a:r>
            <a:r>
              <a:rPr lang="ko-KR" altLang="en-US" sz="1200" dirty="0"/>
              <a:t> </a:t>
            </a:r>
            <a:r>
              <a:rPr lang="en-US" altLang="ko-KR" sz="1200" dirty="0"/>
              <a:t>DB </a:t>
            </a:r>
            <a:r>
              <a:rPr lang="ko-KR" altLang="en-US" sz="1200" dirty="0"/>
              <a:t>커넥션을 감소시킴</a:t>
            </a:r>
            <a:endParaRPr lang="en-US" altLang="ko-KR" sz="1200" dirty="0"/>
          </a:p>
          <a:p>
            <a:endParaRPr lang="en-US" altLang="ko-KR" sz="1400" dirty="0"/>
          </a:p>
          <a:p>
            <a:endParaRPr lang="en-US" altLang="ko-KR" sz="1400" b="1" dirty="0"/>
          </a:p>
        </p:txBody>
      </p:sp>
      <p:sp>
        <p:nvSpPr>
          <p:cNvPr id="35" name="object 6">
            <a:extLst>
              <a:ext uri="{FF2B5EF4-FFF2-40B4-BE49-F238E27FC236}">
                <a16:creationId xmlns:a16="http://schemas.microsoft.com/office/drawing/2014/main" id="{ECF97475-7B77-4BFB-9D63-4AC76764C508}"/>
              </a:ext>
            </a:extLst>
          </p:cNvPr>
          <p:cNvSpPr/>
          <p:nvPr/>
        </p:nvSpPr>
        <p:spPr>
          <a:xfrm>
            <a:off x="588841" y="3991014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447142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22221" y="572366"/>
            <a:ext cx="60778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Arial" panose="020B0604020202020204" pitchFamily="34" charset="0"/>
                <a:cs typeface="Arial" panose="020B0604020202020204" pitchFamily="34" charset="0"/>
              </a:rPr>
              <a:t>Side</a:t>
            </a:r>
            <a:r>
              <a:rPr lang="ko-KR" alt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3200" b="1" dirty="0">
                <a:latin typeface="Arial" panose="020B0604020202020204" pitchFamily="34" charset="0"/>
                <a:cs typeface="Arial" panose="020B0604020202020204" pitchFamily="34" charset="0"/>
              </a:rPr>
              <a:t>Project (</a:t>
            </a:r>
            <a:r>
              <a:rPr lang="ko-KR" alt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소규모 프로젝트</a:t>
            </a:r>
            <a:r>
              <a:rPr lang="en-US" altLang="ko-KR" sz="3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ko-KR" alt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22221" y="1282966"/>
            <a:ext cx="502434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dirty="0"/>
              <a:t>프로젝트 명 </a:t>
            </a:r>
            <a:r>
              <a:rPr lang="en-US" altLang="ko-KR" sz="2200" dirty="0"/>
              <a:t>: </a:t>
            </a:r>
            <a:r>
              <a:rPr lang="ko-KR" altLang="en-US" sz="2200" dirty="0"/>
              <a:t>숭실대학교 학식 알림이</a:t>
            </a:r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681699" y="2838977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1077260" y="2688884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1098090" y="3058216"/>
            <a:ext cx="24653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11 ~ 2021. 12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681698" y="3774001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1077260" y="3573718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1077259" y="4013017"/>
            <a:ext cx="483304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Jpa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Jsoup</a:t>
            </a:r>
            <a:r>
              <a:rPr lang="ko-KR" altLang="en-US" sz="1400" dirty="0"/>
              <a:t>라이브러리</a:t>
            </a:r>
            <a:endParaRPr lang="en-US" altLang="ko-KR" sz="1400" dirty="0"/>
          </a:p>
          <a:p>
            <a:r>
              <a:rPr lang="en-US" altLang="ko-KR" sz="1400" dirty="0"/>
              <a:t>- CICD</a:t>
            </a:r>
          </a:p>
          <a:p>
            <a:r>
              <a:rPr lang="en-US" altLang="ko-KR" sz="1400" dirty="0"/>
              <a:t>- </a:t>
            </a:r>
            <a:r>
              <a:rPr lang="ko-KR" altLang="en-US" sz="1400" dirty="0" err="1"/>
              <a:t>무중단</a:t>
            </a:r>
            <a:r>
              <a:rPr lang="ko-KR" altLang="en-US" sz="1400" dirty="0"/>
              <a:t> 배포</a:t>
            </a:r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681697" y="5268725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1098091" y="5105995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1077260" y="5538869"/>
            <a:ext cx="48330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1. </a:t>
            </a:r>
            <a:r>
              <a:rPr lang="ko-KR" altLang="en-US" sz="1200" dirty="0"/>
              <a:t>웹 </a:t>
            </a:r>
            <a:r>
              <a:rPr lang="ko-KR" altLang="en-US" sz="1200" dirty="0" err="1"/>
              <a:t>크롤링을</a:t>
            </a:r>
            <a:r>
              <a:rPr lang="ko-KR" altLang="en-US" sz="1200" dirty="0"/>
              <a:t> 통해 학식메뉴를 보여주는 카카오톡 </a:t>
            </a:r>
            <a:r>
              <a:rPr lang="ko-KR" altLang="en-US" sz="1200" dirty="0" err="1"/>
              <a:t>챗봇입니다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카카오 오픈 </a:t>
            </a:r>
            <a:r>
              <a:rPr lang="ko-KR" altLang="en-US" sz="1200" dirty="0" err="1"/>
              <a:t>빌더</a:t>
            </a:r>
            <a:r>
              <a:rPr lang="ko-KR" altLang="en-US" sz="1200" dirty="0"/>
              <a:t> </a:t>
            </a:r>
            <a:r>
              <a:rPr lang="en-US" altLang="ko-KR" sz="1200" dirty="0"/>
              <a:t>API </a:t>
            </a:r>
            <a:r>
              <a:rPr lang="ko-KR" altLang="en-US" sz="1200" dirty="0"/>
              <a:t>활용</a:t>
            </a:r>
            <a:endParaRPr lang="en-US" altLang="ko-KR" sz="12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6417521" y="2843564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812307" y="2719428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833138" y="3218923"/>
            <a:ext cx="47375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</a:t>
            </a:r>
            <a:r>
              <a:rPr lang="en-US" altLang="ko-KR" sz="1200" dirty="0" err="1"/>
              <a:t>Jsoup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이용한 웹 </a:t>
            </a:r>
            <a:r>
              <a:rPr lang="ko-KR" altLang="en-US" sz="1200" dirty="0" err="1"/>
              <a:t>크롤링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자동화를 통한 </a:t>
            </a:r>
            <a:r>
              <a:rPr lang="ko-KR" altLang="en-US" sz="1200" b="1" dirty="0"/>
              <a:t>성능 개선</a:t>
            </a:r>
            <a:endParaRPr lang="en-US" altLang="ko-KR" sz="1200" b="1" dirty="0"/>
          </a:p>
          <a:p>
            <a:endParaRPr lang="en-US" altLang="ko-KR" sz="1200" dirty="0"/>
          </a:p>
          <a:p>
            <a:r>
              <a:rPr lang="ko-KR" altLang="en-US" sz="1200" dirty="0"/>
              <a:t>⨀ 서비스 기획 </a:t>
            </a:r>
            <a:r>
              <a:rPr lang="en-US" altLang="ko-KR" sz="1200" dirty="0"/>
              <a:t>~ </a:t>
            </a:r>
            <a:r>
              <a:rPr lang="ko-KR" altLang="en-US" sz="1200" dirty="0"/>
              <a:t>배포 모든 과정 참여</a:t>
            </a:r>
            <a:endParaRPr lang="en-US" altLang="ko-KR" sz="1200" dirty="0"/>
          </a:p>
          <a:p>
            <a:endParaRPr lang="en-US" altLang="ko-KR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396974-5F29-4DDB-986A-79F0CD091C64}"/>
              </a:ext>
            </a:extLst>
          </p:cNvPr>
          <p:cNvSpPr txBox="1"/>
          <p:nvPr/>
        </p:nvSpPr>
        <p:spPr>
          <a:xfrm>
            <a:off x="681697" y="1798387"/>
            <a:ext cx="42724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약 </a:t>
            </a:r>
            <a:r>
              <a:rPr lang="en-US" altLang="ko-KR" sz="1100" dirty="0"/>
              <a:t>2000</a:t>
            </a:r>
            <a:r>
              <a:rPr lang="ko-KR" altLang="en-US" sz="1100" dirty="0"/>
              <a:t>명의 사용자를 보유하고 있는 학식 알림이 서비스입니다</a:t>
            </a:r>
            <a:r>
              <a:rPr lang="en-US" altLang="ko-KR" sz="1050" dirty="0"/>
              <a:t>.</a:t>
            </a:r>
            <a:endParaRPr lang="ko-KR" altLang="en-US" sz="1050" dirty="0"/>
          </a:p>
        </p:txBody>
      </p:sp>
      <p:sp>
        <p:nvSpPr>
          <p:cNvPr id="27" name="object 6">
            <a:extLst>
              <a:ext uri="{FF2B5EF4-FFF2-40B4-BE49-F238E27FC236}">
                <a16:creationId xmlns:a16="http://schemas.microsoft.com/office/drawing/2014/main" id="{E496C3E9-755C-4066-9165-4E8051C47E2D}"/>
              </a:ext>
            </a:extLst>
          </p:cNvPr>
          <p:cNvSpPr/>
          <p:nvPr/>
        </p:nvSpPr>
        <p:spPr>
          <a:xfrm>
            <a:off x="6417521" y="4637192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D3B1500-AEC2-4D57-9B5A-677112BE2866}"/>
              </a:ext>
            </a:extLst>
          </p:cNvPr>
          <p:cNvSpPr txBox="1"/>
          <p:nvPr/>
        </p:nvSpPr>
        <p:spPr>
          <a:xfrm>
            <a:off x="6816215" y="4549415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/>
              <a:t>깃허브</a:t>
            </a:r>
            <a:endParaRPr lang="en-US" altLang="ko-KR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21A9CA9-3DD8-4EA1-85AA-C825A52810D8}"/>
              </a:ext>
            </a:extLst>
          </p:cNvPr>
          <p:cNvSpPr txBox="1"/>
          <p:nvPr/>
        </p:nvSpPr>
        <p:spPr>
          <a:xfrm>
            <a:off x="6813082" y="4937992"/>
            <a:ext cx="47584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URL</a:t>
            </a:r>
            <a:r>
              <a:rPr lang="ko-KR" altLang="en-US" sz="1400" dirty="0"/>
              <a:t> </a:t>
            </a:r>
            <a:r>
              <a:rPr lang="en-US" altLang="ko-KR" sz="1400" dirty="0"/>
              <a:t>: </a:t>
            </a:r>
            <a:r>
              <a:rPr lang="ko-KR" altLang="en-US" sz="1400" dirty="0"/>
              <a:t>https://github.com/ohjinhokor/SoongsilHaksik</a:t>
            </a:r>
          </a:p>
        </p:txBody>
      </p:sp>
    </p:spTree>
    <p:extLst>
      <p:ext uri="{BB962C8B-B14F-4D97-AF65-F5344CB8AC3E}">
        <p14:creationId xmlns:p14="http://schemas.microsoft.com/office/powerpoint/2010/main" val="1111871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244784" y="409673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459937" y="285536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800" b="1" dirty="0" err="1"/>
              <a:t>Jsoup</a:t>
            </a:r>
            <a:r>
              <a:rPr lang="en-US" altLang="ko-KR" sz="1800" b="1" dirty="0"/>
              <a:t> Library</a:t>
            </a:r>
            <a:r>
              <a:rPr lang="ko-KR" altLang="en-US" sz="1800" b="1" dirty="0"/>
              <a:t>를 통한 웹 </a:t>
            </a:r>
            <a:r>
              <a:rPr lang="ko-KR" altLang="en-US" sz="1800" b="1" dirty="0" err="1"/>
              <a:t>크롤링</a:t>
            </a:r>
            <a:endParaRPr lang="en-US" altLang="ko-KR" sz="1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371938" y="738917"/>
            <a:ext cx="576680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학식 데이터를 추출한 후</a:t>
            </a:r>
            <a:r>
              <a:rPr lang="en-US" altLang="ko-KR" sz="1200" b="1" dirty="0"/>
              <a:t>, Json</a:t>
            </a:r>
            <a:r>
              <a:rPr lang="ko-KR" altLang="en-US" sz="1200" b="1" dirty="0"/>
              <a:t>형식의 </a:t>
            </a:r>
            <a:r>
              <a:rPr lang="en-US" altLang="ko-KR" sz="1200" b="1" dirty="0"/>
              <a:t>response</a:t>
            </a:r>
            <a:r>
              <a:rPr lang="ko-KR" altLang="en-US" sz="1200" b="1" dirty="0"/>
              <a:t>를 제공하는 </a:t>
            </a:r>
            <a:r>
              <a:rPr lang="en-US" altLang="ko-KR" sz="1200" b="1" dirty="0"/>
              <a:t>API</a:t>
            </a:r>
            <a:r>
              <a:rPr lang="ko-KR" altLang="en-US" sz="1200" b="1" dirty="0"/>
              <a:t>입니다</a:t>
            </a:r>
            <a:r>
              <a:rPr lang="en-US" altLang="ko-KR" sz="1200" b="1" dirty="0"/>
              <a:t>.</a:t>
            </a:r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URL</a:t>
            </a:r>
            <a:r>
              <a:rPr lang="ko-KR" altLang="en-US" sz="1200" dirty="0"/>
              <a:t>을 통해 해당 사이트에 접근합니다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추출하고자 하는 데이터를 </a:t>
            </a:r>
            <a:r>
              <a:rPr lang="en-US" altLang="ko-KR" sz="1200" dirty="0"/>
              <a:t>html</a:t>
            </a:r>
            <a:r>
              <a:rPr lang="ko-KR" altLang="en-US" sz="1200" dirty="0"/>
              <a:t>코드에 맞게 설정합니다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데이터를 추출한 후 카카오 </a:t>
            </a:r>
            <a:r>
              <a:rPr lang="ko-KR" altLang="en-US" sz="1200" dirty="0" err="1"/>
              <a:t>챗봇</a:t>
            </a:r>
            <a:r>
              <a:rPr lang="ko-KR" altLang="en-US" sz="1200" dirty="0"/>
              <a:t> </a:t>
            </a:r>
            <a:r>
              <a:rPr lang="en-US" altLang="ko-KR" sz="1200" dirty="0"/>
              <a:t>API</a:t>
            </a:r>
            <a:r>
              <a:rPr lang="ko-KR" altLang="en-US" sz="1200" dirty="0"/>
              <a:t> 형식에 맞는 </a:t>
            </a:r>
            <a:r>
              <a:rPr lang="en-US" altLang="ko-KR" sz="1200" dirty="0"/>
              <a:t>‘JSON Response’</a:t>
            </a:r>
            <a:r>
              <a:rPr lang="ko-KR" altLang="en-US" sz="1200" dirty="0"/>
              <a:t>를 반환합니다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F6A7E07D-A067-401C-8FC8-D31E45FBD0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317" y="335670"/>
            <a:ext cx="2196022" cy="2605156"/>
          </a:xfrm>
          <a:prstGeom prst="rect">
            <a:avLst/>
          </a:prstGeom>
        </p:spPr>
      </p:pic>
      <p:pic>
        <p:nvPicPr>
          <p:cNvPr id="56" name="그림 55" descr="텍스트이(가) 표시된 사진&#10;&#10;자동 생성된 설명">
            <a:extLst>
              <a:ext uri="{FF2B5EF4-FFF2-40B4-BE49-F238E27FC236}">
                <a16:creationId xmlns:a16="http://schemas.microsoft.com/office/drawing/2014/main" id="{54995D68-913B-4BA6-A106-C9BC22B6DD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7487" y="332327"/>
            <a:ext cx="2038830" cy="260515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A25905-51E5-40DF-9276-A01D5AE50313}"/>
              </a:ext>
            </a:extLst>
          </p:cNvPr>
          <p:cNvSpPr txBox="1"/>
          <p:nvPr/>
        </p:nvSpPr>
        <p:spPr>
          <a:xfrm>
            <a:off x="6404767" y="3406896"/>
            <a:ext cx="5766807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문제가 되었던 부분</a:t>
            </a:r>
            <a:r>
              <a:rPr lang="en-US" altLang="ko-KR" sz="1200" b="1" dirty="0"/>
              <a:t>: </a:t>
            </a:r>
            <a:r>
              <a:rPr lang="ko-KR" altLang="en-US" sz="1200" b="1" dirty="0"/>
              <a:t>요청이 들어올 때마다 </a:t>
            </a:r>
            <a:r>
              <a:rPr lang="ko-KR" altLang="en-US" sz="1200" b="1" dirty="0" err="1"/>
              <a:t>크롤링을</a:t>
            </a:r>
            <a:r>
              <a:rPr lang="ko-KR" altLang="en-US" sz="1200" b="1" dirty="0"/>
              <a:t> 하기 때문에 속도가 느림</a:t>
            </a:r>
            <a:endParaRPr lang="en-US" altLang="ko-KR" sz="1200" b="1" dirty="0"/>
          </a:p>
          <a:p>
            <a:endParaRPr lang="en-US" altLang="ko-KR" sz="1200" dirty="0"/>
          </a:p>
          <a:p>
            <a:r>
              <a:rPr lang="en-US" altLang="ko-KR" sz="1400" b="1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ko-KR" altLang="en-US" sz="1400" b="1" dirty="0">
                <a:solidFill>
                  <a:schemeClr val="accent1">
                    <a:lumMod val="75000"/>
                  </a:schemeClr>
                </a:solidFill>
              </a:rPr>
              <a:t>해결 방안</a:t>
            </a:r>
            <a:r>
              <a:rPr lang="en-US" altLang="ko-KR" sz="1400" b="1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  <a:p>
            <a:endParaRPr lang="en-US" altLang="ko-KR" sz="1400" b="1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altLang="ko-KR" sz="1200" dirty="0"/>
              <a:t>1. </a:t>
            </a:r>
            <a:r>
              <a:rPr lang="ko-KR" altLang="en-US" sz="1200" dirty="0"/>
              <a:t>위의 문제를 해결하기 위해 </a:t>
            </a:r>
            <a:r>
              <a:rPr lang="en-US" altLang="ko-KR" sz="1200" dirty="0"/>
              <a:t>@Scheduled </a:t>
            </a:r>
            <a:r>
              <a:rPr lang="ko-KR" altLang="en-US" sz="1200" dirty="0" err="1"/>
              <a:t>어노테이션을</a:t>
            </a:r>
            <a:r>
              <a:rPr lang="ko-KR" altLang="en-US" sz="1200" dirty="0"/>
              <a:t> 사용하여 자동화</a:t>
            </a: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자정이 지나면 자동으로 그 날의 학식 데이터를 데이터 베이스에 저장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dirty="0"/>
              <a:t>3. </a:t>
            </a:r>
            <a:r>
              <a:rPr lang="ko-KR" altLang="en-US" sz="1200" dirty="0"/>
              <a:t>이후 학식 정보를 요청하는 </a:t>
            </a:r>
            <a:r>
              <a:rPr lang="en-US" altLang="ko-KR" sz="1200" dirty="0"/>
              <a:t>Request</a:t>
            </a:r>
            <a:r>
              <a:rPr lang="ko-KR" altLang="en-US" sz="1200" dirty="0"/>
              <a:t>가 들어오면 데이터 베이스에 저장해 놓은 데이터를 반환 함</a:t>
            </a:r>
            <a:endParaRPr lang="en-US" altLang="ko-KR" sz="16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69C5AB92-84CF-418F-B96E-89C511E3C84D}"/>
              </a:ext>
            </a:extLst>
          </p:cNvPr>
          <p:cNvSpPr/>
          <p:nvPr/>
        </p:nvSpPr>
        <p:spPr>
          <a:xfrm>
            <a:off x="7853341" y="2374191"/>
            <a:ext cx="607633" cy="800482"/>
          </a:xfrm>
          <a:prstGeom prst="down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ABCC52-15B2-4F21-BEB8-01D24DBC0BA9}"/>
              </a:ext>
            </a:extLst>
          </p:cNvPr>
          <p:cNvSpPr txBox="1"/>
          <p:nvPr/>
        </p:nvSpPr>
        <p:spPr>
          <a:xfrm>
            <a:off x="8718635" y="2579303"/>
            <a:ext cx="24619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rgbClr val="002060"/>
                </a:solidFill>
              </a:rPr>
              <a:t>성능 개선</a:t>
            </a:r>
            <a:r>
              <a:rPr lang="ko-KR" altLang="en-US" sz="1200" b="1" dirty="0"/>
              <a:t>을 위한 </a:t>
            </a:r>
            <a:r>
              <a:rPr lang="en-US" altLang="ko-KR" sz="1200" b="1" dirty="0"/>
              <a:t>Refactoring</a:t>
            </a:r>
            <a:endParaRPr lang="ko-KR" altLang="en-US" sz="1200" b="1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2518BB9-A217-4D86-A3E5-CD1F3D284B15}"/>
              </a:ext>
            </a:extLst>
          </p:cNvPr>
          <p:cNvSpPr/>
          <p:nvPr/>
        </p:nvSpPr>
        <p:spPr>
          <a:xfrm>
            <a:off x="3675065" y="3444171"/>
            <a:ext cx="1238465" cy="6374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숭실대학교 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학식 사이트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5B3380AB-AD99-4B35-9BC7-645D9AF76C17}"/>
              </a:ext>
            </a:extLst>
          </p:cNvPr>
          <p:cNvCxnSpPr>
            <a:cxnSpLocks/>
          </p:cNvCxnSpPr>
          <p:nvPr/>
        </p:nvCxnSpPr>
        <p:spPr>
          <a:xfrm flipV="1">
            <a:off x="2468199" y="3796904"/>
            <a:ext cx="1092629" cy="7094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54E4DD-40D0-4E38-9EE5-1B217B06C71A}"/>
              </a:ext>
            </a:extLst>
          </p:cNvPr>
          <p:cNvSpPr txBox="1"/>
          <p:nvPr/>
        </p:nvSpPr>
        <p:spPr>
          <a:xfrm>
            <a:off x="1993751" y="3707416"/>
            <a:ext cx="14163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1. </a:t>
            </a:r>
            <a:r>
              <a:rPr lang="ko-KR" altLang="en-US" sz="800" dirty="0"/>
              <a:t>자정이 되면 해당 날짜의 학식 데이터를 </a:t>
            </a:r>
            <a:r>
              <a:rPr lang="ko-KR" altLang="en-US" sz="800" dirty="0" err="1"/>
              <a:t>크롤링</a:t>
            </a:r>
            <a:endParaRPr lang="ko-KR" altLang="en-US" sz="8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1BC16BF-EF36-48C6-BE8B-870889F153B4}"/>
              </a:ext>
            </a:extLst>
          </p:cNvPr>
          <p:cNvSpPr txBox="1"/>
          <p:nvPr/>
        </p:nvSpPr>
        <p:spPr>
          <a:xfrm>
            <a:off x="880885" y="3643920"/>
            <a:ext cx="8851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순서도</a:t>
            </a:r>
            <a:endParaRPr lang="en-US" altLang="ko-KR" sz="1400" b="1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28E8F128-C198-430C-9FA6-475B7590B0BA}"/>
              </a:ext>
            </a:extLst>
          </p:cNvPr>
          <p:cNvSpPr/>
          <p:nvPr/>
        </p:nvSpPr>
        <p:spPr>
          <a:xfrm>
            <a:off x="747688" y="3768221"/>
            <a:ext cx="113786" cy="9302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DF48C2B-C763-4DB9-AE3F-19CDC12CC9BC}"/>
              </a:ext>
            </a:extLst>
          </p:cNvPr>
          <p:cNvSpPr/>
          <p:nvPr/>
        </p:nvSpPr>
        <p:spPr>
          <a:xfrm>
            <a:off x="1467876" y="4595798"/>
            <a:ext cx="1440074" cy="8986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Server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F3225B4-0F2F-4242-B24F-FE0B81C3447F}"/>
              </a:ext>
            </a:extLst>
          </p:cNvPr>
          <p:cNvSpPr/>
          <p:nvPr/>
        </p:nvSpPr>
        <p:spPr>
          <a:xfrm>
            <a:off x="4635995" y="4431885"/>
            <a:ext cx="1157171" cy="95485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DB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68FC1645-17D7-4B6D-9452-D0AFB2F40BCA}"/>
              </a:ext>
            </a:extLst>
          </p:cNvPr>
          <p:cNvCxnSpPr>
            <a:cxnSpLocks/>
          </p:cNvCxnSpPr>
          <p:nvPr/>
        </p:nvCxnSpPr>
        <p:spPr>
          <a:xfrm>
            <a:off x="3014513" y="4705909"/>
            <a:ext cx="14652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CCEFD77-BE7B-4E16-ABFA-CFD7830DFE66}"/>
              </a:ext>
            </a:extLst>
          </p:cNvPr>
          <p:cNvSpPr txBox="1"/>
          <p:nvPr/>
        </p:nvSpPr>
        <p:spPr>
          <a:xfrm>
            <a:off x="3219614" y="4466821"/>
            <a:ext cx="14163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2. </a:t>
            </a:r>
            <a:r>
              <a:rPr lang="ko-KR" altLang="en-US" sz="800" dirty="0"/>
              <a:t>학식 데이터 저장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82A50BC5-F672-4FC4-9AED-743411B00FA6}"/>
              </a:ext>
            </a:extLst>
          </p:cNvPr>
          <p:cNvSpPr/>
          <p:nvPr/>
        </p:nvSpPr>
        <p:spPr>
          <a:xfrm>
            <a:off x="242241" y="5981798"/>
            <a:ext cx="1238465" cy="6374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Client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CA753177-2E9B-4414-8830-6BE2199BC645}"/>
              </a:ext>
            </a:extLst>
          </p:cNvPr>
          <p:cNvCxnSpPr>
            <a:cxnSpLocks/>
          </p:cNvCxnSpPr>
          <p:nvPr/>
        </p:nvCxnSpPr>
        <p:spPr>
          <a:xfrm flipV="1">
            <a:off x="580340" y="5226828"/>
            <a:ext cx="743131" cy="6409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6D423B7-E165-43FC-BF05-A73AFAFD85D4}"/>
              </a:ext>
            </a:extLst>
          </p:cNvPr>
          <p:cNvSpPr txBox="1"/>
          <p:nvPr/>
        </p:nvSpPr>
        <p:spPr>
          <a:xfrm>
            <a:off x="63199" y="5279021"/>
            <a:ext cx="11271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3. </a:t>
            </a:r>
            <a:r>
              <a:rPr lang="ko-KR" altLang="en-US" sz="800" dirty="0"/>
              <a:t>학식 데이터 요청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6D1F1630-41FA-4DD1-AF92-C101D0206764}"/>
              </a:ext>
            </a:extLst>
          </p:cNvPr>
          <p:cNvCxnSpPr>
            <a:cxnSpLocks/>
          </p:cNvCxnSpPr>
          <p:nvPr/>
        </p:nvCxnSpPr>
        <p:spPr>
          <a:xfrm>
            <a:off x="3024664" y="5071982"/>
            <a:ext cx="14652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5E71DBE-2187-4F3A-8E1A-A1D385369704}"/>
              </a:ext>
            </a:extLst>
          </p:cNvPr>
          <p:cNvSpPr txBox="1"/>
          <p:nvPr/>
        </p:nvSpPr>
        <p:spPr>
          <a:xfrm>
            <a:off x="3233178" y="4856538"/>
            <a:ext cx="14163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4. </a:t>
            </a:r>
            <a:r>
              <a:rPr lang="ko-KR" altLang="en-US" sz="800" dirty="0"/>
              <a:t>학식 데이터 </a:t>
            </a:r>
            <a:r>
              <a:rPr lang="en-US" altLang="ko-KR" sz="800" dirty="0"/>
              <a:t>select</a:t>
            </a:r>
            <a:endParaRPr lang="ko-KR" altLang="en-US" sz="800" dirty="0"/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828667E0-BB6B-4E44-A105-69D772D08B13}"/>
              </a:ext>
            </a:extLst>
          </p:cNvPr>
          <p:cNvCxnSpPr/>
          <p:nvPr/>
        </p:nvCxnSpPr>
        <p:spPr>
          <a:xfrm flipH="1">
            <a:off x="3024664" y="5386743"/>
            <a:ext cx="14652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874C93D-B7A8-4FD5-91AD-8DC9A0C330D9}"/>
              </a:ext>
            </a:extLst>
          </p:cNvPr>
          <p:cNvSpPr txBox="1"/>
          <p:nvPr/>
        </p:nvSpPr>
        <p:spPr>
          <a:xfrm>
            <a:off x="3287318" y="5179704"/>
            <a:ext cx="14163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5. </a:t>
            </a:r>
            <a:r>
              <a:rPr lang="ko-KR" altLang="en-US" sz="800" dirty="0"/>
              <a:t>학식 데이터 전송 </a:t>
            </a: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BFE034CB-AFE0-4529-A5D1-1492A8161455}"/>
              </a:ext>
            </a:extLst>
          </p:cNvPr>
          <p:cNvCxnSpPr>
            <a:cxnSpLocks/>
          </p:cNvCxnSpPr>
          <p:nvPr/>
        </p:nvCxnSpPr>
        <p:spPr>
          <a:xfrm flipH="1">
            <a:off x="1601006" y="5609576"/>
            <a:ext cx="544912" cy="5289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9D3116E5-6CB4-4A12-907A-3BC4AD5BF490}"/>
              </a:ext>
            </a:extLst>
          </p:cNvPr>
          <p:cNvSpPr txBox="1"/>
          <p:nvPr/>
        </p:nvSpPr>
        <p:spPr>
          <a:xfrm>
            <a:off x="1840613" y="5858411"/>
            <a:ext cx="11739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6. </a:t>
            </a:r>
            <a:r>
              <a:rPr lang="ko-KR" altLang="en-US" sz="800" dirty="0"/>
              <a:t>학식 데이터 전송</a:t>
            </a: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0D578B79-6DDB-4C7A-812D-A903A43203B9}"/>
              </a:ext>
            </a:extLst>
          </p:cNvPr>
          <p:cNvCxnSpPr>
            <a:cxnSpLocks/>
          </p:cNvCxnSpPr>
          <p:nvPr/>
        </p:nvCxnSpPr>
        <p:spPr>
          <a:xfrm flipH="1">
            <a:off x="2558837" y="3884062"/>
            <a:ext cx="1016572" cy="6632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1F20BE13-55BC-49E5-94D9-15A72C52B0D7}"/>
              </a:ext>
            </a:extLst>
          </p:cNvPr>
          <p:cNvSpPr txBox="1"/>
          <p:nvPr/>
        </p:nvSpPr>
        <p:spPr>
          <a:xfrm>
            <a:off x="6147540" y="5770089"/>
            <a:ext cx="592493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/>
              <a:t>&lt;</a:t>
            </a:r>
            <a:r>
              <a:rPr lang="ko-KR" altLang="en-US" sz="1600" b="1" dirty="0" err="1"/>
              <a:t>리팩토링</a:t>
            </a:r>
            <a:r>
              <a:rPr lang="ko-KR" altLang="en-US" sz="1600" b="1" dirty="0"/>
              <a:t> 결과</a:t>
            </a:r>
            <a:r>
              <a:rPr lang="en-US" altLang="ko-KR" sz="1600" b="1" dirty="0"/>
              <a:t>&gt; </a:t>
            </a:r>
            <a:r>
              <a:rPr lang="ko-KR" altLang="en-US" sz="1600" b="1" dirty="0"/>
              <a:t>수행 시간이 </a:t>
            </a:r>
            <a:r>
              <a:rPr lang="en-US" altLang="ko-KR" sz="1600" b="1" dirty="0"/>
              <a:t>1561ms</a:t>
            </a:r>
            <a:r>
              <a:rPr lang="ko-KR" altLang="en-US" sz="1600" b="1" dirty="0"/>
              <a:t> </a:t>
            </a:r>
            <a:r>
              <a:rPr lang="en-US" altLang="ko-KR" sz="1600" b="1" dirty="0"/>
              <a:t>-&gt; 213ms</a:t>
            </a:r>
            <a:r>
              <a:rPr lang="ko-KR" altLang="en-US" sz="1600" b="1" dirty="0"/>
              <a:t>로 줄어드는</a:t>
            </a:r>
            <a:endParaRPr lang="en-US" altLang="ko-KR" sz="1600" b="1" dirty="0"/>
          </a:p>
          <a:p>
            <a:r>
              <a:rPr lang="ko-KR" altLang="en-US" sz="1600" b="1" dirty="0"/>
              <a:t> 성능 향상을 보였습니다</a:t>
            </a:r>
            <a:endParaRPr lang="en-US" altLang="ko-KR" sz="1600" b="1" dirty="0"/>
          </a:p>
        </p:txBody>
      </p:sp>
    </p:spTree>
    <p:extLst>
      <p:ext uri="{BB962C8B-B14F-4D97-AF65-F5344CB8AC3E}">
        <p14:creationId xmlns:p14="http://schemas.microsoft.com/office/powerpoint/2010/main" val="3029532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5343</TotalTime>
  <Words>1561</Words>
  <Application>Microsoft Office PowerPoint</Application>
  <PresentationFormat>와이드스크린</PresentationFormat>
  <Paragraphs>315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7" baseType="lpstr">
      <vt:lpstr>맑은 고딕</vt:lpstr>
      <vt:lpstr>Arial</vt:lpstr>
      <vt:lpstr>Arial Rounded MT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진호</dc:creator>
  <cp:lastModifiedBy>오진호</cp:lastModifiedBy>
  <cp:revision>344</cp:revision>
  <dcterms:created xsi:type="dcterms:W3CDTF">2021-09-02T08:00:50Z</dcterms:created>
  <dcterms:modified xsi:type="dcterms:W3CDTF">2022-04-30T14:42:12Z</dcterms:modified>
</cp:coreProperties>
</file>