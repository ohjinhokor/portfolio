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60" r:id="rId5"/>
    <p:sldId id="261" r:id="rId6"/>
    <p:sldId id="265" r:id="rId7"/>
    <p:sldId id="266" r:id="rId8"/>
    <p:sldId id="26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25" d="100"/>
          <a:sy n="125" d="100"/>
        </p:scale>
        <p:origin x="-138" y="-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06EAE-9ED8-4493-8307-E0CBB87D5314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C8723-B0A8-44DF-B11C-1529A2C957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066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EEDD1A-FA7A-434E-9B66-FC62095226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128C861-011E-4490-8EB3-D6B78A380A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2949AD-E147-4013-99FF-2D4FA55AC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2199DBB-B2C3-4721-AAB9-D30B21FD8C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6910567-EA62-4EDC-9619-23EF370496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3960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983461-3589-47C9-BC84-1F6774FC5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54A376-77FE-4F01-8822-8CBBBBADE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7D2D8F8-AD77-49DC-BA99-52ECACFFD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20A9B4-60CD-4A93-84AA-4AA1D2090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393833-3554-460E-A120-8DDB080CB2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70774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45B1B-F050-4A2E-B57E-319B1C151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77761F-5150-4DF9-90F4-FF93ECB039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244BEF7-2AFC-49B8-997E-D079E85BD4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2AC3AFE-7BEC-4BD7-8F3D-86E2498A00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22FAAA-4AC4-4900-B217-DDC5EF04A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2243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06BFD-C93D-465A-A1BB-06A08E91D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0B60447-EBBC-4A0D-85FE-8138E59D23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22DDACD-F475-4279-A52A-FC383F7C7C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E719B81-9EF5-48B5-9F19-81D0EC8B6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E6D725C-7393-4A0F-A51C-8C027A295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5426847-7F7E-4006-BB97-B2BC9E684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7655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C919D5-CD33-4C17-8E2A-F118161B5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1F24C9D-D6D6-46A1-95F2-108C46885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80F65BC-44EC-41FC-A9DE-AAC9AB6B91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9786B56-9E80-44D6-A8C6-86E45EAFA3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A721A22-D187-400F-ABCB-7050B71CAD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804F337-125F-45E4-8955-5378A8373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BC0B01-4F3B-4208-8467-E19A95B00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81BDFEF-3759-495D-93CB-A30309D0B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7509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B6692B-4DB1-477F-8B2E-E14A7B04B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754098E-EAF2-43FE-B149-05BFB8AD5B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559DEC-B562-4D7A-98D6-03916C74F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A102E4-8946-4025-B68A-DA96B5A99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8698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797A45C2-3C32-4A6B-B928-5F793752F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A053D21-9CC7-4967-ACA6-83B5DB911C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57EC49-987B-4C80-B3D1-362EC260C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0499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9BE49-7F10-4C93-A11F-FAE538C9DE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AEC39CF-03FF-4F26-8B3A-9FEA98024D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7642CD6-3AEF-4525-94E7-237EE094FB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2A85488-BC5C-4363-A379-A8E4EFDAE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02C6A69-6D5A-42C1-8E2F-D9C68044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BF19BC-229C-4365-AD57-0682792CD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8324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7BBB45-7470-45A7-8EDB-1DDFB4E69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FC7D90B-075C-4168-ABCD-C1736F09F9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7F0EB17-CC0E-4C44-9611-02A3EA736A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E52177-2A67-47BC-8871-A32F29A00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6B5F624-CEF9-4E83-9A21-A05DEE08E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4A94CA1-DBCD-45E2-B760-4E65B2068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701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049C12-874F-4399-86CB-E5EEB7A96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A78AB1-E5E4-4A97-A836-4FD4651CD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5C709-F1DC-4C8C-B086-1E83CF964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BC370C-0849-47CE-B076-DA641B06FF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0A398DF-CA33-4612-81A2-CF2006DB4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523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4D70B29-E381-4250-AF87-56596084E79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F73C664-F4C6-4766-864B-D8BAA1385B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58103BF-587F-40C1-B45E-0E35C7C93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11C9230-EE9A-4001-BD76-F6E1055B98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0A6A60-EC7C-49AA-A82E-3D553D88DC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7891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4F0BA2D-27E8-4ED2-89A1-2FA10A13F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D9D619A-8D01-4053-9EB1-7BC4E9DA09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2646E7-6A4E-4A9D-B6CE-B600874297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1FD04A-7A57-4ABB-A4D2-40192FED31D2}" type="datetimeFigureOut">
              <a:rPr lang="ko-KR" altLang="en-US" smtClean="0"/>
              <a:t>2021-12-06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7F178-130D-4E3E-86C3-65F2AFFC8D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2DB19FC-C1E5-43E9-88F3-0DEB5E755C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F57EAD-A5CB-47A6-8230-E4A6D0A2B9A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504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ohjinho7@gmail.com" TargetMode="Externa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벽, 실내, 사람이(가) 표시된 사진&#10;&#10;자동 생성된 설명">
            <a:extLst>
              <a:ext uri="{FF2B5EF4-FFF2-40B4-BE49-F238E27FC236}">
                <a16:creationId xmlns:a16="http://schemas.microsoft.com/office/drawing/2014/main" id="{F400C45B-EF0D-436F-8A0E-2754E15A2D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" y="453390"/>
            <a:ext cx="5288280" cy="534162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7BCA0CD-2103-4879-BA3D-3B0748FB66AF}"/>
              </a:ext>
            </a:extLst>
          </p:cNvPr>
          <p:cNvSpPr txBox="1"/>
          <p:nvPr/>
        </p:nvSpPr>
        <p:spPr>
          <a:xfrm>
            <a:off x="5783580" y="3019124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IT</a:t>
            </a:r>
            <a:r>
              <a:rPr lang="ko-KR" altLang="en-US" sz="1100" dirty="0"/>
              <a:t>대학 글로벌미디어학부</a:t>
            </a:r>
            <a:r>
              <a:rPr lang="en-US" altLang="ko-KR" sz="1100" dirty="0"/>
              <a:t>(2016.03 ~)</a:t>
            </a:r>
            <a:endParaRPr lang="ko-KR" altLang="en-US" sz="11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DEF8A-92A1-4EF9-859A-584344041B80}"/>
              </a:ext>
            </a:extLst>
          </p:cNvPr>
          <p:cNvSpPr txBox="1"/>
          <p:nvPr/>
        </p:nvSpPr>
        <p:spPr>
          <a:xfrm>
            <a:off x="5783580" y="3612190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창업지원단 소속 </a:t>
            </a:r>
            <a:r>
              <a:rPr lang="ko-KR" altLang="en-US" sz="1100" dirty="0" err="1"/>
              <a:t>온더브릿지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 04 ~ 2021.08)</a:t>
            </a:r>
            <a:endParaRPr lang="ko-KR" altLang="en-US" sz="11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6F5C8A2-14A3-4EB8-890A-39A82BF61709}"/>
              </a:ext>
            </a:extLst>
          </p:cNvPr>
          <p:cNvSpPr txBox="1"/>
          <p:nvPr/>
        </p:nvSpPr>
        <p:spPr>
          <a:xfrm>
            <a:off x="5783580" y="864324"/>
            <a:ext cx="27355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Be</a:t>
            </a:r>
            <a:r>
              <a:rPr lang="en-US" altLang="ko-KR" sz="2800" dirty="0">
                <a:latin typeface="Arial Rounded MT Bold" panose="020F0704030504030204" pitchFamily="34" charset="0"/>
              </a:rPr>
              <a:t>st 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P</a:t>
            </a:r>
            <a:r>
              <a:rPr lang="en-US" altLang="ko-KR" sz="2800" dirty="0">
                <a:latin typeface="Arial Rounded MT Bold" panose="020F0704030504030204" pitchFamily="34" charset="0"/>
              </a:rPr>
              <a:t>ract</a:t>
            </a:r>
            <a:r>
              <a:rPr lang="en-US" altLang="ko-KR" sz="2800" dirty="0">
                <a:solidFill>
                  <a:srgbClr val="00B050"/>
                </a:solidFill>
                <a:latin typeface="Arial Rounded MT Bold" panose="020F0704030504030204" pitchFamily="34" charset="0"/>
              </a:rPr>
              <a:t>i</a:t>
            </a:r>
            <a:r>
              <a:rPr lang="en-US" altLang="ko-KR" sz="2800" dirty="0">
                <a:latin typeface="Arial Rounded MT Bold" panose="020F0704030504030204" pitchFamily="34" charset="0"/>
              </a:rPr>
              <a:t>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2AD1C1-A19B-4AC8-A413-FE5F5F43CBCB}"/>
              </a:ext>
            </a:extLst>
          </p:cNvPr>
          <p:cNvSpPr txBox="1"/>
          <p:nvPr/>
        </p:nvSpPr>
        <p:spPr>
          <a:xfrm>
            <a:off x="1695450" y="6069568"/>
            <a:ext cx="2415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백엔드</a:t>
            </a:r>
            <a:r>
              <a:rPr lang="ko-KR" altLang="en-US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개발자 오진호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8D3ACA-DCCA-4D45-A3EB-63540921026B}"/>
              </a:ext>
            </a:extLst>
          </p:cNvPr>
          <p:cNvSpPr txBox="1"/>
          <p:nvPr/>
        </p:nvSpPr>
        <p:spPr>
          <a:xfrm>
            <a:off x="9537025" y="6069568"/>
            <a:ext cx="265497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Email: </a:t>
            </a:r>
            <a:r>
              <a:rPr lang="en-US" altLang="ko-KR" sz="1100" dirty="0">
                <a:hlinkClick r:id="rId3"/>
              </a:rPr>
              <a:t>ohjinho7@gmail.com</a:t>
            </a:r>
            <a:endParaRPr lang="en-US" altLang="ko-KR" sz="1100" dirty="0"/>
          </a:p>
          <a:p>
            <a:r>
              <a:rPr lang="en-US" altLang="ko-KR" sz="1100" dirty="0" err="1"/>
              <a:t>Github</a:t>
            </a:r>
            <a:r>
              <a:rPr lang="en-US" altLang="ko-KR" sz="1100" dirty="0"/>
              <a:t>: https://github.com/ohjinhokor</a:t>
            </a:r>
            <a:endParaRPr lang="ko-KR" altLang="en-US" sz="1100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204CD73-0EED-42FC-8D21-86A2373FAD75}"/>
              </a:ext>
            </a:extLst>
          </p:cNvPr>
          <p:cNvCxnSpPr>
            <a:cxnSpLocks/>
          </p:cNvCxnSpPr>
          <p:nvPr/>
        </p:nvCxnSpPr>
        <p:spPr>
          <a:xfrm>
            <a:off x="5650302" y="2587924"/>
            <a:ext cx="6429410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DFEB9F6-477D-471E-9FF8-F2E06E67C0B4}"/>
              </a:ext>
            </a:extLst>
          </p:cNvPr>
          <p:cNvSpPr txBox="1"/>
          <p:nvPr/>
        </p:nvSpPr>
        <p:spPr>
          <a:xfrm>
            <a:off x="5783580" y="1452700"/>
            <a:ext cx="43179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세상을 바꿀 수 있는 아이디어를 </a:t>
            </a:r>
            <a:endParaRPr lang="en-US" altLang="ko-KR" dirty="0"/>
          </a:p>
          <a:p>
            <a:r>
              <a:rPr lang="ko-KR" altLang="en-US" dirty="0"/>
              <a:t>실체화 하는 것을 꿈꾸는 개발자입니다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A3C594-E819-4733-BEA5-254BD6422031}"/>
              </a:ext>
            </a:extLst>
          </p:cNvPr>
          <p:cNvSpPr txBox="1"/>
          <p:nvPr/>
        </p:nvSpPr>
        <p:spPr>
          <a:xfrm>
            <a:off x="5783580" y="3315657"/>
            <a:ext cx="51739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 </a:t>
            </a:r>
            <a:r>
              <a:rPr lang="en-US" altLang="ko-KR" sz="1100" dirty="0"/>
              <a:t>HCI</a:t>
            </a:r>
            <a:r>
              <a:rPr lang="ko-KR" altLang="en-US" sz="1100" dirty="0"/>
              <a:t>연구실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개발자</a:t>
            </a:r>
            <a:r>
              <a:rPr lang="en-US" altLang="ko-KR" sz="1100" dirty="0"/>
              <a:t>(2021.03 ~)</a:t>
            </a:r>
            <a:endParaRPr lang="ko-KR" altLang="en-US" sz="11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A6887C-B1DA-4C65-92C8-63DC460BC854}"/>
              </a:ext>
            </a:extLst>
          </p:cNvPr>
          <p:cNvSpPr txBox="1"/>
          <p:nvPr/>
        </p:nvSpPr>
        <p:spPr>
          <a:xfrm>
            <a:off x="5783580" y="420353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Google Developers Student Club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Server/Cloud Member(2021.09~)</a:t>
            </a:r>
            <a:endParaRPr lang="ko-KR" altLang="en-US" sz="11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9BA9AE-E79D-4B05-BFF5-BCCBB1FB312E}"/>
              </a:ext>
            </a:extLst>
          </p:cNvPr>
          <p:cNvSpPr txBox="1"/>
          <p:nvPr/>
        </p:nvSpPr>
        <p:spPr>
          <a:xfrm>
            <a:off x="5783580" y="449834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숭실대학교</a:t>
            </a:r>
            <a:r>
              <a:rPr lang="en-US" altLang="ko-KR" sz="1100" dirty="0"/>
              <a:t> </a:t>
            </a:r>
            <a:r>
              <a:rPr lang="ko-KR" altLang="en-US" sz="1100" dirty="0"/>
              <a:t>개발동아리 </a:t>
            </a:r>
            <a:r>
              <a:rPr lang="ko-KR" altLang="en-US" sz="1100" dirty="0" err="1"/>
              <a:t>유어슈</a:t>
            </a:r>
            <a:r>
              <a:rPr lang="ko-KR" altLang="en-US" sz="1100" dirty="0"/>
              <a:t> </a:t>
            </a:r>
            <a:r>
              <a:rPr lang="ko-KR" altLang="en-US" sz="1100" dirty="0" err="1"/>
              <a:t>백엔드</a:t>
            </a:r>
            <a:r>
              <a:rPr lang="ko-KR" altLang="en-US" sz="1100" dirty="0"/>
              <a:t> 팀원</a:t>
            </a:r>
            <a:r>
              <a:rPr lang="en-US" altLang="ko-KR" sz="1100" dirty="0"/>
              <a:t>(2021.10~)</a:t>
            </a:r>
            <a:endParaRPr lang="ko-KR" altLang="en-US" sz="11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0CFAB-9590-4219-B702-399DF8CA6F33}"/>
              </a:ext>
            </a:extLst>
          </p:cNvPr>
          <p:cNvSpPr txBox="1"/>
          <p:nvPr/>
        </p:nvSpPr>
        <p:spPr>
          <a:xfrm>
            <a:off x="5783580" y="3908723"/>
            <a:ext cx="62788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대학 연합 개발동아리 </a:t>
            </a:r>
            <a:r>
              <a:rPr lang="en-US" altLang="ko-KR" sz="1100" dirty="0"/>
              <a:t>UMC </a:t>
            </a:r>
            <a:r>
              <a:rPr lang="ko-KR" altLang="en-US" sz="1100" dirty="0"/>
              <a:t>숭실대 지부 </a:t>
            </a:r>
            <a:r>
              <a:rPr lang="en-US" altLang="ko-KR" sz="1100" dirty="0"/>
              <a:t>Server Member(2021.08 ~ 2021.11)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729090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  <a:alpha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전자기기이(가) 표시된 사진&#10;&#10;자동 생성된 설명">
            <a:extLst>
              <a:ext uri="{FF2B5EF4-FFF2-40B4-BE49-F238E27FC236}">
                <a16:creationId xmlns:a16="http://schemas.microsoft.com/office/drawing/2014/main" id="{43EDF2CB-CF81-42EF-B014-8F9575E6F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5799" y="2790824"/>
            <a:ext cx="3892161" cy="36702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85799" y="295260"/>
            <a:ext cx="5614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숭실대학교 창업지원단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On the Bridge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85799" y="1809763"/>
            <a:ext cx="45624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프로젝트 명 </a:t>
            </a:r>
            <a:r>
              <a:rPr lang="en-US" altLang="ko-KR" sz="2400" b="1" dirty="0"/>
              <a:t>: </a:t>
            </a:r>
            <a:r>
              <a:rPr lang="ko-KR" altLang="en-US" sz="2400" b="1" dirty="0" err="1"/>
              <a:t>잇츠로드</a:t>
            </a:r>
            <a:endParaRPr lang="ko-KR" altLang="en-US" sz="24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599771" y="177291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096000" y="162282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116831" y="1992155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04 ~ 2021. 08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599771" y="2705061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096000" y="2554968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096000" y="3059156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TypeScript, </a:t>
            </a:r>
            <a:r>
              <a:rPr lang="en-US" altLang="ko-KR" sz="1400" dirty="0" err="1"/>
              <a:t>NestJs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Typeorm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MariaDb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600623" y="371446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116831" y="356436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117681" y="4008025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음식점 모바일 오더 서비스 기능입니다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손님이 음식점에 입장하여 </a:t>
            </a:r>
            <a:r>
              <a:rPr lang="en-US" altLang="ko-KR" sz="1200" dirty="0"/>
              <a:t>QR</a:t>
            </a:r>
            <a:r>
              <a:rPr lang="ko-KR" altLang="en-US" sz="1200" dirty="0"/>
              <a:t>코드를 통해 음식을 주문하면 가게 사장님이 카운터에서 주문한 음식을 바로 확인할 수 있는 아이템입니다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상세 설명 </a:t>
            </a:r>
            <a:r>
              <a:rPr lang="en-US" altLang="ko-KR" sz="1200" dirty="0"/>
              <a:t>: </a:t>
            </a:r>
            <a:r>
              <a:rPr lang="en-US" altLang="ko-KR" sz="1100" dirty="0"/>
              <a:t>https://maze-warlock-8d1.notion.site/965c208d24004a28a3e50bc30fe22d7c</a:t>
            </a:r>
            <a:endParaRPr lang="ko-KR" altLang="en-US" sz="11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599772" y="5385270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096001" y="5235177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116831" y="5604509"/>
            <a:ext cx="57668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음식점 등록 및 </a:t>
            </a:r>
            <a:r>
              <a:rPr lang="ko-KR" altLang="en-US" sz="1200" dirty="0" err="1"/>
              <a:t>메뉴판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작성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로그인 기능 구현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Git Fork, Git-Flow </a:t>
            </a:r>
            <a:r>
              <a:rPr lang="ko-KR" altLang="en-US" sz="1200" dirty="0"/>
              <a:t>적용</a:t>
            </a:r>
            <a:endParaRPr lang="en-US" altLang="ko-KR" sz="1200" dirty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284256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571231B8-EF14-414A-AC59-EA7768C23B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130" y="773922"/>
            <a:ext cx="5004506" cy="1445557"/>
          </a:xfrm>
          <a:prstGeom prst="rect">
            <a:avLst/>
          </a:prstGeom>
        </p:spPr>
      </p:pic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120113" y="379232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335266" y="255095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Validation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247267" y="712689"/>
            <a:ext cx="5766807" cy="21698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/>
              <a:t>Http Header</a:t>
            </a:r>
            <a:r>
              <a:rPr lang="ko-KR" altLang="en-US" sz="1200" b="1" dirty="0"/>
              <a:t>와 미들웨어를 사용하여 유효성 검사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100" dirty="0"/>
              <a:t>HTTP header</a:t>
            </a:r>
            <a:r>
              <a:rPr lang="ko-KR" altLang="en-US" sz="1100" dirty="0"/>
              <a:t>를 사용하여 클라이언트로부터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와 </a:t>
            </a: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을 받아옵니다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en-US" altLang="ko-KR" sz="1100" dirty="0"/>
              <a:t>JWT(</a:t>
            </a:r>
            <a:r>
              <a:rPr lang="ko-KR" altLang="en-US" sz="1100" dirty="0"/>
              <a:t>토큰</a:t>
            </a:r>
            <a:r>
              <a:rPr lang="en-US" altLang="ko-KR" sz="1100" dirty="0"/>
              <a:t>)</a:t>
            </a:r>
            <a:r>
              <a:rPr lang="ko-KR" altLang="en-US" sz="1100" dirty="0"/>
              <a:t>에서 </a:t>
            </a:r>
            <a:r>
              <a:rPr lang="en-US" altLang="ko-KR" sz="1100" dirty="0" err="1"/>
              <a:t>user_id</a:t>
            </a:r>
            <a:r>
              <a:rPr lang="ko-KR" altLang="en-US" sz="1100" dirty="0"/>
              <a:t>를 추출하여 해당 </a:t>
            </a:r>
            <a:r>
              <a:rPr lang="en-US" altLang="ko-KR" sz="1100" dirty="0"/>
              <a:t>user</a:t>
            </a:r>
            <a:r>
              <a:rPr lang="ko-KR" altLang="en-US" sz="1100" dirty="0"/>
              <a:t>가 </a:t>
            </a:r>
            <a:r>
              <a:rPr lang="en-US" altLang="ko-KR" sz="1100" dirty="0"/>
              <a:t>header</a:t>
            </a:r>
            <a:r>
              <a:rPr lang="ko-KR" altLang="en-US" sz="1100" dirty="0"/>
              <a:t>에 들어있는 </a:t>
            </a:r>
            <a:r>
              <a:rPr lang="en-US" altLang="ko-KR" sz="1100" dirty="0" err="1"/>
              <a:t>store_id</a:t>
            </a:r>
            <a:r>
              <a:rPr lang="ko-KR" altLang="en-US" sz="1100" dirty="0"/>
              <a:t>를 </a:t>
            </a:r>
            <a:r>
              <a:rPr lang="en-US" altLang="ko-KR" sz="1100" dirty="0"/>
              <a:t>pk</a:t>
            </a:r>
            <a:r>
              <a:rPr lang="ko-KR" altLang="en-US" sz="1100" dirty="0"/>
              <a:t>값으로 갖는 </a:t>
            </a:r>
            <a:r>
              <a:rPr lang="en-US" altLang="ko-KR" sz="1100" dirty="0"/>
              <a:t>store</a:t>
            </a:r>
            <a:r>
              <a:rPr lang="ko-KR" altLang="en-US" sz="1100" dirty="0"/>
              <a:t>에 접근 권한이 있는지 확인합니다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있다면 </a:t>
            </a:r>
            <a:r>
              <a:rPr lang="en-US" altLang="ko-KR" sz="1100" dirty="0"/>
              <a:t>user</a:t>
            </a:r>
            <a:r>
              <a:rPr lang="ko-KR" altLang="en-US" sz="1100" dirty="0"/>
              <a:t>는 해당 음식점의 메뉴 삭제</a:t>
            </a:r>
            <a:r>
              <a:rPr lang="en-US" altLang="ko-KR" sz="1100" dirty="0"/>
              <a:t>, </a:t>
            </a:r>
            <a:r>
              <a:rPr lang="ko-KR" altLang="en-US" sz="1100" dirty="0"/>
              <a:t>옵션 변경 등 음식점의 세부사항을 변경할 수 있습니다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100" dirty="0"/>
          </a:p>
          <a:p>
            <a:pPr marL="228600" indent="-228600">
              <a:buAutoNum type="arabicPeriod"/>
            </a:pPr>
            <a:r>
              <a:rPr lang="ko-KR" altLang="en-US" sz="1100" dirty="0"/>
              <a:t>권한이 없다면 해당 로직을 이용할 수 없습니다</a:t>
            </a:r>
            <a:r>
              <a:rPr lang="en-US" altLang="ko-KR" sz="11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94AA78-5634-4ABD-9C2B-FA205AAF2888}"/>
              </a:ext>
            </a:extLst>
          </p:cNvPr>
          <p:cNvSpPr txBox="1"/>
          <p:nvPr/>
        </p:nvSpPr>
        <p:spPr>
          <a:xfrm>
            <a:off x="6339071" y="352123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JWT</a:t>
            </a:r>
            <a:r>
              <a:rPr lang="ko-KR" altLang="en-US" b="1" dirty="0"/>
              <a:t> 인증 사용</a:t>
            </a:r>
            <a:endParaRPr lang="en-US" altLang="ko-KR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C08083-D226-4FD5-8E5F-6CD98967450A}"/>
              </a:ext>
            </a:extLst>
          </p:cNvPr>
          <p:cNvSpPr txBox="1"/>
          <p:nvPr/>
        </p:nvSpPr>
        <p:spPr>
          <a:xfrm>
            <a:off x="6339071" y="4016733"/>
            <a:ext cx="5766807" cy="21929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저장위치는 </a:t>
            </a:r>
            <a:r>
              <a:rPr lang="en-US" altLang="ko-KR" sz="1200" dirty="0"/>
              <a:t>DB</a:t>
            </a:r>
            <a:r>
              <a:rPr lang="ko-KR" altLang="en-US" sz="1200" dirty="0"/>
              <a:t>로 하였습니다</a:t>
            </a:r>
            <a:endParaRPr lang="en-US" altLang="ko-KR" sz="1200" dirty="0"/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Response </a:t>
            </a:r>
            <a:r>
              <a:rPr lang="ko-KR" altLang="en-US" sz="1200" dirty="0"/>
              <a:t>값으로 </a:t>
            </a:r>
            <a:r>
              <a:rPr lang="en-US" altLang="ko-KR" sz="1200" dirty="0"/>
              <a:t>Access token</a:t>
            </a:r>
            <a:r>
              <a:rPr lang="ko-KR" altLang="en-US" sz="1200" dirty="0"/>
              <a:t>과 </a:t>
            </a:r>
            <a:r>
              <a:rPr lang="en-US" altLang="ko-KR" sz="1200" dirty="0"/>
              <a:t>‘Refresh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index’ </a:t>
            </a:r>
            <a:r>
              <a:rPr lang="ko-KR" altLang="en-US" sz="1200" dirty="0"/>
              <a:t>값을 반환합니다</a:t>
            </a:r>
            <a:r>
              <a:rPr lang="en-US" altLang="ko-KR" sz="1200" dirty="0"/>
              <a:t>. Index</a:t>
            </a:r>
            <a:r>
              <a:rPr lang="ko-KR" altLang="en-US" sz="1200" dirty="0"/>
              <a:t>값은 각 </a:t>
            </a:r>
            <a:r>
              <a:rPr lang="en-US" altLang="ko-KR" sz="1200" dirty="0"/>
              <a:t>Refresh token</a:t>
            </a:r>
            <a:r>
              <a:rPr lang="ko-KR" altLang="en-US" sz="1200" dirty="0"/>
              <a:t>의 </a:t>
            </a:r>
            <a:r>
              <a:rPr lang="en-US" altLang="ko-KR" sz="1200" dirty="0"/>
              <a:t>pk</a:t>
            </a:r>
            <a:r>
              <a:rPr lang="ko-KR" altLang="en-US" sz="1200" dirty="0"/>
              <a:t>입니다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Refresh token</a:t>
            </a:r>
            <a:r>
              <a:rPr lang="ko-KR" altLang="en-US" sz="1200" dirty="0"/>
              <a:t>의 유효성 검사는 크게 </a:t>
            </a:r>
            <a:r>
              <a:rPr lang="en-US" altLang="ko-KR" sz="1200" dirty="0"/>
              <a:t>2</a:t>
            </a:r>
            <a:r>
              <a:rPr lang="ko-KR" altLang="en-US" sz="1200" dirty="0"/>
              <a:t>가지입니다</a:t>
            </a:r>
            <a:r>
              <a:rPr lang="en-US" altLang="ko-KR" sz="1200" dirty="0"/>
              <a:t>.</a:t>
            </a:r>
          </a:p>
          <a:p>
            <a:r>
              <a:rPr lang="en-US" altLang="ko-KR" sz="900" dirty="0"/>
              <a:t> </a:t>
            </a:r>
          </a:p>
          <a:p>
            <a:r>
              <a:rPr lang="en-US" altLang="ko-KR" sz="1050" dirty="0"/>
              <a:t>  1) 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의 유효시간 확인</a:t>
            </a:r>
            <a:endParaRPr lang="en-US" altLang="ko-KR" sz="1050" dirty="0"/>
          </a:p>
          <a:p>
            <a:r>
              <a:rPr lang="en-US" altLang="ko-KR" sz="1050" dirty="0"/>
              <a:t>  2) access 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en-US" altLang="ko-KR" sz="1050" dirty="0"/>
              <a:t> </a:t>
            </a:r>
            <a:r>
              <a:rPr lang="ko-KR" altLang="en-US" sz="1050" dirty="0"/>
              <a:t>와 </a:t>
            </a:r>
            <a:r>
              <a:rPr lang="en-US" altLang="ko-KR" sz="1050" dirty="0"/>
              <a:t>refresh</a:t>
            </a:r>
            <a:r>
              <a:rPr lang="ko-KR" altLang="en-US" sz="1050" dirty="0"/>
              <a:t> </a:t>
            </a:r>
            <a:r>
              <a:rPr lang="en-US" altLang="ko-KR" sz="1050" dirty="0"/>
              <a:t>token</a:t>
            </a:r>
            <a:r>
              <a:rPr lang="ko-KR" altLang="en-US" sz="1050" dirty="0"/>
              <a:t>에 저장되어 있는 </a:t>
            </a:r>
            <a:r>
              <a:rPr lang="en-US" altLang="ko-KR" sz="1050" dirty="0" err="1"/>
              <a:t>user_id</a:t>
            </a:r>
            <a:r>
              <a:rPr lang="ko-KR" altLang="en-US" sz="1050" dirty="0"/>
              <a:t>의 일치 여부</a:t>
            </a:r>
            <a:r>
              <a:rPr lang="en-US" altLang="ko-KR" sz="1050" dirty="0"/>
              <a:t>   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DF2FF74-54BD-4DF7-AFC3-8559026B5F9A}"/>
              </a:ext>
            </a:extLst>
          </p:cNvPr>
          <p:cNvSpPr/>
          <p:nvPr/>
        </p:nvSpPr>
        <p:spPr>
          <a:xfrm>
            <a:off x="312826" y="2773266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A9A8AB30-3F88-42CD-81D9-215589A6D62C}"/>
              </a:ext>
            </a:extLst>
          </p:cNvPr>
          <p:cNvCxnSpPr>
            <a:cxnSpLocks/>
          </p:cNvCxnSpPr>
          <p:nvPr/>
        </p:nvCxnSpPr>
        <p:spPr>
          <a:xfrm>
            <a:off x="916537" y="3225388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18F613F-EB1F-4BFE-847A-4334F108C6AE}"/>
              </a:ext>
            </a:extLst>
          </p:cNvPr>
          <p:cNvSpPr txBox="1"/>
          <p:nvPr/>
        </p:nvSpPr>
        <p:spPr>
          <a:xfrm>
            <a:off x="397128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CLIENT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72B1F-6B80-4291-8A15-E9FC1249F175}"/>
              </a:ext>
            </a:extLst>
          </p:cNvPr>
          <p:cNvSpPr txBox="1"/>
          <p:nvPr/>
        </p:nvSpPr>
        <p:spPr>
          <a:xfrm>
            <a:off x="1928393" y="2990235"/>
            <a:ext cx="21441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로그인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A14F0017-020E-4976-99B9-40C5D4D84687}"/>
              </a:ext>
            </a:extLst>
          </p:cNvPr>
          <p:cNvCxnSpPr>
            <a:cxnSpLocks/>
          </p:cNvCxnSpPr>
          <p:nvPr/>
        </p:nvCxnSpPr>
        <p:spPr>
          <a:xfrm>
            <a:off x="1517626" y="4660824"/>
            <a:ext cx="1852305" cy="10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5B988BB6-B96E-4754-ACF4-AA2C8A1A4676}"/>
              </a:ext>
            </a:extLst>
          </p:cNvPr>
          <p:cNvCxnSpPr>
            <a:cxnSpLocks/>
          </p:cNvCxnSpPr>
          <p:nvPr/>
        </p:nvCxnSpPr>
        <p:spPr>
          <a:xfrm>
            <a:off x="1499678" y="5462244"/>
            <a:ext cx="184359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A75056B8-1E8C-451F-9B51-47277FD83441}"/>
              </a:ext>
            </a:extLst>
          </p:cNvPr>
          <p:cNvCxnSpPr>
            <a:cxnSpLocks/>
          </p:cNvCxnSpPr>
          <p:nvPr/>
        </p:nvCxnSpPr>
        <p:spPr>
          <a:xfrm>
            <a:off x="3572364" y="3834046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C1E173-1F7D-4A17-8A10-69276C5A2BE2}"/>
              </a:ext>
            </a:extLst>
          </p:cNvPr>
          <p:cNvCxnSpPr>
            <a:cxnSpLocks/>
          </p:cNvCxnSpPr>
          <p:nvPr/>
        </p:nvCxnSpPr>
        <p:spPr>
          <a:xfrm flipH="1">
            <a:off x="874780" y="3838136"/>
            <a:ext cx="2495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482ADBD5-6E00-4B1D-A4CC-EC1DA74A1DBB}"/>
              </a:ext>
            </a:extLst>
          </p:cNvPr>
          <p:cNvCxnSpPr>
            <a:cxnSpLocks/>
          </p:cNvCxnSpPr>
          <p:nvPr/>
        </p:nvCxnSpPr>
        <p:spPr>
          <a:xfrm flipH="1">
            <a:off x="1466868" y="4952726"/>
            <a:ext cx="190306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388393E-0002-4714-BCE2-31AD8B4B24B9}"/>
              </a:ext>
            </a:extLst>
          </p:cNvPr>
          <p:cNvSpPr txBox="1"/>
          <p:nvPr/>
        </p:nvSpPr>
        <p:spPr>
          <a:xfrm>
            <a:off x="1049571" y="3615005"/>
            <a:ext cx="27654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‘Refresh token index’ </a:t>
            </a:r>
            <a:r>
              <a:rPr lang="ko-KR" altLang="en-US" sz="800" dirty="0"/>
              <a:t>반환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47B4CCE-B9CD-4445-A8E0-CA92748937D2}"/>
              </a:ext>
            </a:extLst>
          </p:cNvPr>
          <p:cNvSpPr txBox="1"/>
          <p:nvPr/>
        </p:nvSpPr>
        <p:spPr>
          <a:xfrm>
            <a:off x="1359595" y="4446441"/>
            <a:ext cx="219521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함께 원하는 로직 요청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C64D2EB-5269-4F11-A3C8-74584E4D35A2}"/>
              </a:ext>
            </a:extLst>
          </p:cNvPr>
          <p:cNvSpPr txBox="1"/>
          <p:nvPr/>
        </p:nvSpPr>
        <p:spPr>
          <a:xfrm>
            <a:off x="1553659" y="4737282"/>
            <a:ext cx="222163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로직 수행 후 </a:t>
            </a:r>
            <a:r>
              <a:rPr lang="en-US" altLang="ko-KR" sz="800" dirty="0"/>
              <a:t>response </a:t>
            </a:r>
            <a:r>
              <a:rPr lang="ko-KR" altLang="en-US" sz="800" dirty="0"/>
              <a:t>반환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5FE7C44-683F-41D6-85F7-3422BE4D35BA}"/>
              </a:ext>
            </a:extLst>
          </p:cNvPr>
          <p:cNvSpPr txBox="1"/>
          <p:nvPr/>
        </p:nvSpPr>
        <p:spPr>
          <a:xfrm>
            <a:off x="1354844" y="5246800"/>
            <a:ext cx="257473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보냄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5022745-CA87-4756-A736-1A42FB412CB8}"/>
              </a:ext>
            </a:extLst>
          </p:cNvPr>
          <p:cNvSpPr txBox="1"/>
          <p:nvPr/>
        </p:nvSpPr>
        <p:spPr>
          <a:xfrm>
            <a:off x="1408125" y="6492246"/>
            <a:ext cx="232383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 token</a:t>
            </a:r>
            <a:r>
              <a:rPr lang="ko-KR" altLang="en-US" sz="800" dirty="0"/>
              <a:t>과 </a:t>
            </a:r>
            <a:r>
              <a:rPr lang="en-US" altLang="ko-KR" sz="800" dirty="0"/>
              <a:t>Refresh token index</a:t>
            </a:r>
            <a:r>
              <a:rPr lang="ko-KR" altLang="en-US" sz="800" dirty="0"/>
              <a:t> 반환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645C855-2A98-4F4F-A168-1D38762833CA}"/>
              </a:ext>
            </a:extLst>
          </p:cNvPr>
          <p:cNvSpPr txBox="1"/>
          <p:nvPr/>
        </p:nvSpPr>
        <p:spPr>
          <a:xfrm>
            <a:off x="3712303" y="3610280"/>
            <a:ext cx="164773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7EC3059-A0FE-4EEE-A84D-1469DA4E2B97}"/>
              </a:ext>
            </a:extLst>
          </p:cNvPr>
          <p:cNvCxnSpPr>
            <a:cxnSpLocks/>
          </p:cNvCxnSpPr>
          <p:nvPr/>
        </p:nvCxnSpPr>
        <p:spPr>
          <a:xfrm>
            <a:off x="3487857" y="5619087"/>
            <a:ext cx="19043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2D552E2D-DB8B-428D-8439-7D870E86F0B8}"/>
              </a:ext>
            </a:extLst>
          </p:cNvPr>
          <p:cNvSpPr txBox="1"/>
          <p:nvPr/>
        </p:nvSpPr>
        <p:spPr>
          <a:xfrm>
            <a:off x="3242693" y="5416300"/>
            <a:ext cx="23046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Index</a:t>
            </a:r>
            <a:r>
              <a:rPr lang="ko-KR" altLang="en-US" sz="800" dirty="0">
                <a:solidFill>
                  <a:schemeClr val="tx1"/>
                </a:solidFill>
              </a:rPr>
              <a:t>를 이용하여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/>
              <a:t>요청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CE99E567-6F4A-4034-A57B-F27A563B57E4}"/>
              </a:ext>
            </a:extLst>
          </p:cNvPr>
          <p:cNvSpPr/>
          <p:nvPr/>
        </p:nvSpPr>
        <p:spPr>
          <a:xfrm>
            <a:off x="3128511" y="277415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1804700-0ACD-44EE-9688-CD628F231871}"/>
              </a:ext>
            </a:extLst>
          </p:cNvPr>
          <p:cNvSpPr txBox="1"/>
          <p:nvPr/>
        </p:nvSpPr>
        <p:spPr>
          <a:xfrm>
            <a:off x="3242693" y="2850701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Server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BEB2CB53-59DE-4F38-9319-310C97C61075}"/>
              </a:ext>
            </a:extLst>
          </p:cNvPr>
          <p:cNvSpPr/>
          <p:nvPr/>
        </p:nvSpPr>
        <p:spPr>
          <a:xfrm>
            <a:off x="5140005" y="2780043"/>
            <a:ext cx="746760" cy="36933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BC83AB-A5A1-4CCE-9CBE-E4E0DFB95EDF}"/>
              </a:ext>
            </a:extLst>
          </p:cNvPr>
          <p:cNvSpPr txBox="1"/>
          <p:nvPr/>
        </p:nvSpPr>
        <p:spPr>
          <a:xfrm>
            <a:off x="5360937" y="2844604"/>
            <a:ext cx="579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DB</a:t>
            </a:r>
          </a:p>
          <a:p>
            <a:endParaRPr lang="en-US" altLang="ko-KR" sz="900" dirty="0"/>
          </a:p>
          <a:p>
            <a:endParaRPr lang="ko-KR" altLang="en-US" dirty="0"/>
          </a:p>
        </p:txBody>
      </p:sp>
      <p:cxnSp>
        <p:nvCxnSpPr>
          <p:cNvPr id="21" name="직선 연결선 20">
            <a:extLst>
              <a:ext uri="{FF2B5EF4-FFF2-40B4-BE49-F238E27FC236}">
                <a16:creationId xmlns:a16="http://schemas.microsoft.com/office/drawing/2014/main" id="{7FACC415-DD06-4024-8D8F-26CA7B151557}"/>
              </a:ext>
            </a:extLst>
          </p:cNvPr>
          <p:cNvCxnSpPr>
            <a:cxnSpLocks/>
          </p:cNvCxnSpPr>
          <p:nvPr/>
        </p:nvCxnSpPr>
        <p:spPr>
          <a:xfrm flipH="1">
            <a:off x="622875" y="3142596"/>
            <a:ext cx="33729" cy="364166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12927674-36F1-4A75-A7EF-BFAC6F2D8E0F}"/>
              </a:ext>
            </a:extLst>
          </p:cNvPr>
          <p:cNvCxnSpPr>
            <a:cxnSpLocks/>
          </p:cNvCxnSpPr>
          <p:nvPr/>
        </p:nvCxnSpPr>
        <p:spPr>
          <a:xfrm flipH="1">
            <a:off x="3449119" y="3149373"/>
            <a:ext cx="37303" cy="363488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F3373778-024F-436D-B2D3-EB925500FEFB}"/>
              </a:ext>
            </a:extLst>
          </p:cNvPr>
          <p:cNvCxnSpPr>
            <a:cxnSpLocks/>
          </p:cNvCxnSpPr>
          <p:nvPr/>
        </p:nvCxnSpPr>
        <p:spPr>
          <a:xfrm flipH="1">
            <a:off x="5472030" y="3142595"/>
            <a:ext cx="37303" cy="364166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B26972A-E740-414B-B294-C15C0F06D364}"/>
              </a:ext>
            </a:extLst>
          </p:cNvPr>
          <p:cNvSpPr/>
          <p:nvPr/>
        </p:nvSpPr>
        <p:spPr>
          <a:xfrm>
            <a:off x="340809" y="4016733"/>
            <a:ext cx="5545956" cy="2937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01F07C-58A0-4387-BD9D-D735B2794A92}"/>
              </a:ext>
            </a:extLst>
          </p:cNvPr>
          <p:cNvSpPr txBox="1"/>
          <p:nvPr/>
        </p:nvSpPr>
        <p:spPr>
          <a:xfrm>
            <a:off x="1073179" y="4039197"/>
            <a:ext cx="719721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 이후 </a:t>
            </a:r>
            <a:r>
              <a:rPr lang="en-US" altLang="ko-KR" sz="1000" dirty="0"/>
              <a:t>Access token</a:t>
            </a:r>
            <a:r>
              <a:rPr lang="ko-KR" altLang="en-US" sz="1000" dirty="0"/>
              <a:t>의 유효성에 따라 </a:t>
            </a:r>
            <a:r>
              <a:rPr lang="en-US" altLang="ko-KR" sz="1000" dirty="0"/>
              <a:t>2</a:t>
            </a:r>
            <a:r>
              <a:rPr lang="ko-KR" altLang="en-US" sz="1000" dirty="0"/>
              <a:t>가지의 상황이 발생한다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656EE5DF-ABE4-480E-A791-7A4D5156F472}"/>
              </a:ext>
            </a:extLst>
          </p:cNvPr>
          <p:cNvSpPr/>
          <p:nvPr/>
        </p:nvSpPr>
        <p:spPr>
          <a:xfrm>
            <a:off x="2519024" y="5953715"/>
            <a:ext cx="2011585" cy="4830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B500238-20FC-4F6B-A9E2-ED6390FAD625}"/>
              </a:ext>
            </a:extLst>
          </p:cNvPr>
          <p:cNvSpPr txBox="1"/>
          <p:nvPr/>
        </p:nvSpPr>
        <p:spPr>
          <a:xfrm>
            <a:off x="2661833" y="6011154"/>
            <a:ext cx="299680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</a:t>
            </a:r>
            <a:r>
              <a:rPr lang="ko-KR" altLang="en-US" sz="800" dirty="0"/>
              <a:t>의 유효성 검사 및</a:t>
            </a:r>
            <a:endParaRPr lang="en-US" altLang="ko-KR" sz="800" dirty="0"/>
          </a:p>
          <a:p>
            <a:r>
              <a:rPr lang="en-US" altLang="ko-KR" sz="800" dirty="0" err="1"/>
              <a:t>Aceess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재발급</a:t>
            </a:r>
          </a:p>
        </p:txBody>
      </p: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ABC0AC0C-58E4-4CD5-8871-63D2BF153C07}"/>
              </a:ext>
            </a:extLst>
          </p:cNvPr>
          <p:cNvCxnSpPr>
            <a:cxnSpLocks/>
          </p:cNvCxnSpPr>
          <p:nvPr/>
        </p:nvCxnSpPr>
        <p:spPr>
          <a:xfrm flipH="1">
            <a:off x="1397239" y="6678550"/>
            <a:ext cx="20115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585B0B5F-2A26-4AE2-AEB8-6D6923DD7932}"/>
              </a:ext>
            </a:extLst>
          </p:cNvPr>
          <p:cNvSpPr/>
          <p:nvPr/>
        </p:nvSpPr>
        <p:spPr>
          <a:xfrm>
            <a:off x="733474" y="5282109"/>
            <a:ext cx="612442" cy="146085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F7DFFE8-A026-4FF1-87F9-1451AAA264C2}"/>
              </a:ext>
            </a:extLst>
          </p:cNvPr>
          <p:cNvSpPr txBox="1"/>
          <p:nvPr/>
        </p:nvSpPr>
        <p:spPr>
          <a:xfrm>
            <a:off x="740294" y="5682880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B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</a:t>
            </a:r>
            <a:r>
              <a:rPr lang="en-US" altLang="ko-KR" sz="1000" dirty="0"/>
              <a:t>x</a:t>
            </a:r>
            <a:endParaRPr lang="ko-KR" altLang="en-US" sz="1000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E46C643-941D-4BE7-8C47-0F82854FD958}"/>
              </a:ext>
            </a:extLst>
          </p:cNvPr>
          <p:cNvCxnSpPr>
            <a:cxnSpLocks/>
          </p:cNvCxnSpPr>
          <p:nvPr/>
        </p:nvCxnSpPr>
        <p:spPr>
          <a:xfrm flipH="1">
            <a:off x="3506468" y="5840946"/>
            <a:ext cx="18309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9D9CEC72-13DE-417C-BD41-E66BC3EA41D4}"/>
              </a:ext>
            </a:extLst>
          </p:cNvPr>
          <p:cNvSpPr txBox="1"/>
          <p:nvPr/>
        </p:nvSpPr>
        <p:spPr>
          <a:xfrm>
            <a:off x="3948183" y="5661119"/>
            <a:ext cx="209486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Refresh token </a:t>
            </a:r>
            <a:r>
              <a:rPr lang="ko-KR" altLang="en-US" sz="800" dirty="0"/>
              <a:t>반환</a:t>
            </a:r>
          </a:p>
        </p:txBody>
      </p:sp>
      <p:sp>
        <p:nvSpPr>
          <p:cNvPr id="79" name="object 6">
            <a:extLst>
              <a:ext uri="{FF2B5EF4-FFF2-40B4-BE49-F238E27FC236}">
                <a16:creationId xmlns:a16="http://schemas.microsoft.com/office/drawing/2014/main" id="{4F544C21-56AA-4A5C-80E1-69AA06A445D6}"/>
              </a:ext>
            </a:extLst>
          </p:cNvPr>
          <p:cNvSpPr/>
          <p:nvPr/>
        </p:nvSpPr>
        <p:spPr>
          <a:xfrm>
            <a:off x="6120358" y="3620446"/>
            <a:ext cx="127155" cy="121059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0" name="직사각형 79">
            <a:extLst>
              <a:ext uri="{FF2B5EF4-FFF2-40B4-BE49-F238E27FC236}">
                <a16:creationId xmlns:a16="http://schemas.microsoft.com/office/drawing/2014/main" id="{7933DD7C-74D0-492B-900B-898CEFBE2103}"/>
              </a:ext>
            </a:extLst>
          </p:cNvPr>
          <p:cNvSpPr/>
          <p:nvPr/>
        </p:nvSpPr>
        <p:spPr>
          <a:xfrm>
            <a:off x="731638" y="4414091"/>
            <a:ext cx="612442" cy="81124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4C1E80B-0FA8-4E09-8EA9-A1C7C5406C28}"/>
              </a:ext>
            </a:extLst>
          </p:cNvPr>
          <p:cNvSpPr txBox="1"/>
          <p:nvPr/>
        </p:nvSpPr>
        <p:spPr>
          <a:xfrm>
            <a:off x="772056" y="4461223"/>
            <a:ext cx="8083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상황 </a:t>
            </a:r>
            <a:r>
              <a:rPr lang="en-US" altLang="ko-KR" sz="1000" dirty="0"/>
              <a:t>A</a:t>
            </a:r>
          </a:p>
          <a:p>
            <a:r>
              <a:rPr lang="en-US" altLang="ko-KR" sz="1000" dirty="0"/>
              <a:t>Access token </a:t>
            </a:r>
          </a:p>
          <a:p>
            <a:r>
              <a:rPr lang="ko-KR" altLang="en-US" sz="1000" dirty="0"/>
              <a:t>유효 </a:t>
            </a:r>
            <a:r>
              <a:rPr lang="en-US" altLang="ko-KR" sz="1000" dirty="0"/>
              <a:t>o</a:t>
            </a:r>
            <a:endParaRPr lang="ko-KR" altLang="en-US" sz="1000" dirty="0"/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3921F717-3BC9-492F-A8B1-2F6FC2339111}"/>
              </a:ext>
            </a:extLst>
          </p:cNvPr>
          <p:cNvCxnSpPr>
            <a:cxnSpLocks/>
          </p:cNvCxnSpPr>
          <p:nvPr/>
        </p:nvCxnSpPr>
        <p:spPr>
          <a:xfrm>
            <a:off x="3493391" y="6669030"/>
            <a:ext cx="1864643" cy="314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265BCF5C-F163-481F-86F3-E5C378DC93FF}"/>
              </a:ext>
            </a:extLst>
          </p:cNvPr>
          <p:cNvSpPr txBox="1"/>
          <p:nvPr/>
        </p:nvSpPr>
        <p:spPr>
          <a:xfrm>
            <a:off x="3597055" y="6472973"/>
            <a:ext cx="166376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DB</a:t>
            </a:r>
            <a:r>
              <a:rPr lang="ko-KR" altLang="en-US" sz="800" dirty="0">
                <a:solidFill>
                  <a:schemeClr val="tx1"/>
                </a:solidFill>
              </a:rPr>
              <a:t>에 </a:t>
            </a:r>
            <a:r>
              <a:rPr lang="en-US" altLang="ko-KR" sz="800" dirty="0">
                <a:solidFill>
                  <a:schemeClr val="tx1"/>
                </a:solidFill>
              </a:rPr>
              <a:t>refresh token </a:t>
            </a:r>
            <a:r>
              <a:rPr lang="ko-KR" altLang="en-US" sz="800" dirty="0">
                <a:solidFill>
                  <a:schemeClr val="tx1"/>
                </a:solidFill>
              </a:rPr>
              <a:t>저장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9531155D-331E-4371-BCD7-11EB65153757}"/>
              </a:ext>
            </a:extLst>
          </p:cNvPr>
          <p:cNvSpPr/>
          <p:nvPr/>
        </p:nvSpPr>
        <p:spPr>
          <a:xfrm>
            <a:off x="2660808" y="3335968"/>
            <a:ext cx="1663419" cy="25041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B42709-213A-4885-98EE-70E05156280C}"/>
              </a:ext>
            </a:extLst>
          </p:cNvPr>
          <p:cNvSpPr txBox="1"/>
          <p:nvPr/>
        </p:nvSpPr>
        <p:spPr>
          <a:xfrm>
            <a:off x="2660808" y="3360865"/>
            <a:ext cx="299680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Access</a:t>
            </a:r>
            <a:r>
              <a:rPr lang="ko-KR" altLang="en-US" sz="800" dirty="0"/>
              <a:t> </a:t>
            </a:r>
            <a:r>
              <a:rPr lang="en-US" altLang="ko-KR" sz="800" dirty="0"/>
              <a:t>token,</a:t>
            </a:r>
            <a:r>
              <a:rPr lang="ko-KR" altLang="en-US" sz="800" dirty="0"/>
              <a:t> </a:t>
            </a:r>
            <a:r>
              <a:rPr lang="en-US" altLang="ko-KR" sz="800" dirty="0"/>
              <a:t>refresh token </a:t>
            </a:r>
            <a:r>
              <a:rPr lang="ko-KR" altLang="en-US" sz="800" dirty="0"/>
              <a:t>발급</a:t>
            </a:r>
          </a:p>
        </p:txBody>
      </p:sp>
    </p:spTree>
    <p:extLst>
      <p:ext uri="{BB962C8B-B14F-4D97-AF65-F5344CB8AC3E}">
        <p14:creationId xmlns:p14="http://schemas.microsoft.com/office/powerpoint/2010/main" val="25919343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Personal</a:t>
            </a:r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4000" b="1" dirty="0"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  <a:endParaRPr lang="ko-KR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502434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숭실대학교 학식 알림이</a:t>
            </a:r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1596747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446654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1815986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11 ~ </a:t>
            </a:r>
            <a:r>
              <a:rPr lang="ko-KR" altLang="en-US" sz="1400" dirty="0"/>
              <a:t>진행 중</a:t>
            </a:r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57908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378799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72837" y="2882987"/>
            <a:ext cx="38921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</a:t>
            </a:r>
            <a:r>
              <a:rPr lang="ko-KR" altLang="en-US" sz="1400" dirty="0"/>
              <a:t>카카오 </a:t>
            </a:r>
            <a:r>
              <a:rPr lang="en-US" altLang="ko-KR" sz="1400" dirty="0" err="1"/>
              <a:t>api</a:t>
            </a:r>
            <a:endParaRPr lang="ko-KR" altLang="en-US" sz="1400" dirty="0"/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57980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417075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7" y="3939982"/>
            <a:ext cx="5766807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웹 </a:t>
            </a:r>
            <a:r>
              <a:rPr lang="ko-KR" altLang="en-US" sz="1200" dirty="0" err="1"/>
              <a:t>크롤링을</a:t>
            </a:r>
            <a:r>
              <a:rPr lang="ko-KR" altLang="en-US" sz="1200" dirty="0"/>
              <a:t> 통해 학식메뉴를 보여주는 카카오톡 </a:t>
            </a:r>
            <a:r>
              <a:rPr lang="ko-KR" altLang="en-US" sz="1200" dirty="0" err="1"/>
              <a:t>챗봇입니다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/>
              <a:t>커피를 미리 결재하고 받아 갈 수 있는 원거리 결재 시스템을 개발 중에 있습니다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20389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07976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8" y="5449092"/>
            <a:ext cx="576680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오픈 </a:t>
            </a:r>
            <a:r>
              <a:rPr lang="ko-KR" altLang="en-US" sz="1200" dirty="0" err="1"/>
              <a:t>빌더</a:t>
            </a:r>
            <a:r>
              <a:rPr lang="ko-KR" altLang="en-US" sz="1200" dirty="0"/>
              <a:t> </a:t>
            </a:r>
            <a:r>
              <a:rPr lang="en-US" altLang="ko-KR" sz="1200" dirty="0"/>
              <a:t>API </a:t>
            </a:r>
            <a:r>
              <a:rPr lang="ko-KR" altLang="en-US" sz="1200" dirty="0"/>
              <a:t>활용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카카오 페이 </a:t>
            </a:r>
            <a:r>
              <a:rPr lang="en-US" altLang="ko-KR" sz="1200" dirty="0"/>
              <a:t>API </a:t>
            </a:r>
            <a:r>
              <a:rPr lang="ko-KR" altLang="en-US" sz="1200" dirty="0"/>
              <a:t>사용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396974-5F29-4DDB-986A-79F0CD091C64}"/>
              </a:ext>
            </a:extLst>
          </p:cNvPr>
          <p:cNvSpPr txBox="1"/>
          <p:nvPr/>
        </p:nvSpPr>
        <p:spPr>
          <a:xfrm>
            <a:off x="681697" y="1798387"/>
            <a:ext cx="427240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약 </a:t>
            </a:r>
            <a:r>
              <a:rPr lang="en-US" altLang="ko-KR" sz="1100" dirty="0"/>
              <a:t>1700</a:t>
            </a:r>
            <a:r>
              <a:rPr lang="ko-KR" altLang="en-US" sz="1100" dirty="0"/>
              <a:t>명의 사용자를 보유하고 있는 학식 알림이 서비스입니다</a:t>
            </a:r>
            <a:r>
              <a:rPr lang="en-US" altLang="ko-KR" sz="1050" dirty="0"/>
              <a:t>.</a:t>
            </a:r>
            <a:endParaRPr lang="ko-KR" altLang="en-US" sz="10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3671E2BC-29BF-438F-8399-C6F6C127AB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19" y="2218431"/>
            <a:ext cx="2319315" cy="3943579"/>
          </a:xfrm>
          <a:prstGeom prst="rect">
            <a:avLst/>
          </a:prstGeom>
        </p:spPr>
      </p:pic>
      <p:pic>
        <p:nvPicPr>
          <p:cNvPr id="27" name="그림 26" descr="텍스트이(가) 표시된 사진&#10;&#10;자동 생성된 설명">
            <a:extLst>
              <a:ext uri="{FF2B5EF4-FFF2-40B4-BE49-F238E27FC236}">
                <a16:creationId xmlns:a16="http://schemas.microsoft.com/office/drawing/2014/main" id="{1FD99E8D-FBF7-42FC-BA92-66C3E821A6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1208" y="2343835"/>
            <a:ext cx="2048013" cy="3818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871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55540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43126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 err="1"/>
              <a:t>Jsoup</a:t>
            </a:r>
            <a:r>
              <a:rPr lang="en-US" altLang="ko-KR" sz="1800" b="1" dirty="0"/>
              <a:t> Library</a:t>
            </a:r>
            <a:r>
              <a:rPr lang="ko-KR" altLang="en-US" sz="1800" b="1" dirty="0"/>
              <a:t>를 통한 웹 </a:t>
            </a:r>
            <a:r>
              <a:rPr lang="ko-KR" altLang="en-US" sz="1800" b="1" dirty="0" err="1"/>
              <a:t>크롤링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888858"/>
            <a:ext cx="576680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학식 데이터를 추출한 후</a:t>
            </a:r>
            <a:r>
              <a:rPr lang="en-US" altLang="ko-KR" sz="1200" b="1" dirty="0"/>
              <a:t>, Json</a:t>
            </a:r>
            <a:r>
              <a:rPr lang="ko-KR" altLang="en-US" sz="1200" b="1" dirty="0"/>
              <a:t>형식의 </a:t>
            </a:r>
            <a:r>
              <a:rPr lang="en-US" altLang="ko-KR" sz="1200" b="1" dirty="0"/>
              <a:t>response</a:t>
            </a:r>
            <a:r>
              <a:rPr lang="ko-KR" altLang="en-US" sz="1200" b="1" dirty="0"/>
              <a:t>를 제공하는 </a:t>
            </a:r>
            <a:r>
              <a:rPr lang="en-US" altLang="ko-KR" sz="1200" b="1" dirty="0"/>
              <a:t>API</a:t>
            </a:r>
            <a:r>
              <a:rPr lang="ko-KR" altLang="en-US" sz="1200" b="1" dirty="0"/>
              <a:t>입니다</a:t>
            </a:r>
            <a:r>
              <a:rPr lang="en-US" altLang="ko-KR" sz="1200" b="1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URL</a:t>
            </a:r>
            <a:r>
              <a:rPr lang="ko-KR" altLang="en-US" sz="1200" dirty="0"/>
              <a:t>을 통해 해당 사이트에 접근합니다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추출하고자 하는 데이터를 </a:t>
            </a:r>
            <a:r>
              <a:rPr lang="en-US" altLang="ko-KR" sz="1200" dirty="0"/>
              <a:t>html</a:t>
            </a:r>
            <a:r>
              <a:rPr lang="ko-KR" altLang="en-US" sz="1200" dirty="0"/>
              <a:t>코드에 맞게 설정합니다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ko-KR" altLang="en-US" sz="1200" dirty="0"/>
              <a:t>데이터를 추출한 후 카카오 </a:t>
            </a:r>
            <a:r>
              <a:rPr lang="ko-KR" altLang="en-US" sz="1200" dirty="0" err="1"/>
              <a:t>챗봇의</a:t>
            </a:r>
            <a:r>
              <a:rPr lang="ko-KR" altLang="en-US" sz="1200" dirty="0"/>
              <a:t> 형식에 맞는 </a:t>
            </a:r>
            <a:r>
              <a:rPr lang="en-US" altLang="ko-KR" sz="1200" dirty="0"/>
              <a:t>response</a:t>
            </a:r>
            <a:r>
              <a:rPr lang="ko-KR" altLang="en-US" sz="1200" dirty="0"/>
              <a:t>를 반환하는 </a:t>
            </a:r>
            <a:r>
              <a:rPr lang="en-US" altLang="ko-KR" sz="1200" dirty="0"/>
              <a:t>API</a:t>
            </a:r>
            <a:r>
              <a:rPr lang="ko-KR" altLang="en-US" sz="1200" dirty="0"/>
              <a:t>를 만들었습니다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F6A7E07D-A067-401C-8FC8-D31E45FBD0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27" y="374018"/>
            <a:ext cx="2676088" cy="3174662"/>
          </a:xfrm>
          <a:prstGeom prst="rect">
            <a:avLst/>
          </a:prstGeom>
        </p:spPr>
      </p:pic>
      <p:pic>
        <p:nvPicPr>
          <p:cNvPr id="56" name="그림 55" descr="텍스트이(가) 표시된 사진&#10;&#10;자동 생성된 설명">
            <a:extLst>
              <a:ext uri="{FF2B5EF4-FFF2-40B4-BE49-F238E27FC236}">
                <a16:creationId xmlns:a16="http://schemas.microsoft.com/office/drawing/2014/main" id="{54995D68-913B-4BA6-A106-C9BC22B6DD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6814" y="374018"/>
            <a:ext cx="2484533" cy="3174662"/>
          </a:xfrm>
          <a:prstGeom prst="rect">
            <a:avLst/>
          </a:prstGeom>
        </p:spPr>
      </p:pic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4170721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4046584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800" b="1" dirty="0"/>
              <a:t>@Scheduled </a:t>
            </a:r>
            <a:r>
              <a:rPr lang="ko-KR" altLang="en-US" sz="1800" b="1" dirty="0" err="1"/>
              <a:t>어노테이션을</a:t>
            </a:r>
            <a:r>
              <a:rPr lang="ko-KR" altLang="en-US" sz="1800" b="1" dirty="0"/>
              <a:t> 통한 자동화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4504178"/>
            <a:ext cx="5766807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sz="1200" dirty="0"/>
          </a:p>
          <a:p>
            <a:r>
              <a:rPr lang="en-US" altLang="ko-KR" sz="1200" b="1" dirty="0"/>
              <a:t>&lt;</a:t>
            </a:r>
            <a:r>
              <a:rPr lang="ko-KR" altLang="en-US" sz="1200" b="1" dirty="0"/>
              <a:t>문제 발생</a:t>
            </a:r>
            <a:r>
              <a:rPr lang="en-US" altLang="ko-KR" sz="1200" b="1" dirty="0"/>
              <a:t>&gt; </a:t>
            </a:r>
            <a:r>
              <a:rPr lang="ko-KR" altLang="en-US" sz="1200" b="1" dirty="0"/>
              <a:t>요청이 들어올 때마다 </a:t>
            </a:r>
            <a:r>
              <a:rPr lang="ko-KR" altLang="en-US" sz="1200" b="1" dirty="0" err="1"/>
              <a:t>크롤링을</a:t>
            </a:r>
            <a:r>
              <a:rPr lang="ko-KR" altLang="en-US" sz="1200" b="1" dirty="0"/>
              <a:t> 하기 때문에 속도가 느림</a:t>
            </a:r>
            <a:endParaRPr lang="en-US" altLang="ko-KR" sz="1200" b="1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1. </a:t>
            </a:r>
            <a:r>
              <a:rPr lang="ko-KR" altLang="en-US" sz="1200" dirty="0"/>
              <a:t>위의 문제를 해결하기 위해 </a:t>
            </a: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사용하여 자동화 기능 추가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2. </a:t>
            </a:r>
            <a:r>
              <a:rPr lang="ko-KR" altLang="en-US" sz="1200" dirty="0"/>
              <a:t>자정이 지나면 자동으로 그 날의 학식 데이터를 데이터 베이스에 저장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r>
              <a:rPr lang="en-US" altLang="ko-KR" sz="1200" dirty="0"/>
              <a:t>3. </a:t>
            </a:r>
            <a:r>
              <a:rPr lang="ko-KR" altLang="en-US" sz="1200" dirty="0"/>
              <a:t>이후 학식 정보를 요청하는 </a:t>
            </a:r>
            <a:r>
              <a:rPr lang="en-US" altLang="ko-KR" sz="1200" dirty="0"/>
              <a:t>Request</a:t>
            </a:r>
            <a:r>
              <a:rPr lang="ko-KR" altLang="en-US" sz="1200" dirty="0"/>
              <a:t>가 들어오면 데이터 베이스에 저장된 정보를 반환 함</a:t>
            </a: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7" name="화살표: 아래쪽 6">
            <a:extLst>
              <a:ext uri="{FF2B5EF4-FFF2-40B4-BE49-F238E27FC236}">
                <a16:creationId xmlns:a16="http://schemas.microsoft.com/office/drawing/2014/main" id="{69C5AB92-84CF-418F-B96E-89C511E3C84D}"/>
              </a:ext>
            </a:extLst>
          </p:cNvPr>
          <p:cNvSpPr/>
          <p:nvPr/>
        </p:nvSpPr>
        <p:spPr>
          <a:xfrm>
            <a:off x="7704557" y="2916111"/>
            <a:ext cx="607633" cy="800482"/>
          </a:xfrm>
          <a:prstGeom prst="downArrow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ABCC52-15B2-4F21-BEB8-01D24DBC0BA9}"/>
              </a:ext>
            </a:extLst>
          </p:cNvPr>
          <p:cNvSpPr txBox="1"/>
          <p:nvPr/>
        </p:nvSpPr>
        <p:spPr>
          <a:xfrm>
            <a:off x="8445965" y="3177852"/>
            <a:ext cx="2957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rgbClr val="002060"/>
                </a:solidFill>
              </a:rPr>
              <a:t>성능 개선</a:t>
            </a:r>
            <a:r>
              <a:rPr lang="ko-KR" altLang="en-US" sz="1200" b="1" dirty="0"/>
              <a:t>을 위한 </a:t>
            </a:r>
            <a:r>
              <a:rPr lang="en-US" altLang="ko-KR" sz="1200" b="1" dirty="0"/>
              <a:t>Refactoring </a:t>
            </a:r>
            <a:r>
              <a:rPr lang="ko-KR" altLang="en-US" sz="1200" b="1" dirty="0"/>
              <a:t>진행 중</a:t>
            </a:r>
          </a:p>
        </p:txBody>
      </p:sp>
    </p:spTree>
    <p:extLst>
      <p:ext uri="{BB962C8B-B14F-4D97-AF65-F5344CB8AC3E}">
        <p14:creationId xmlns:p14="http://schemas.microsoft.com/office/powerpoint/2010/main" val="3029532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9FE91A0-2471-4BD7-9D1C-6ABE3C9F2579}"/>
              </a:ext>
            </a:extLst>
          </p:cNvPr>
          <p:cNvSpPr txBox="1"/>
          <p:nvPr/>
        </p:nvSpPr>
        <p:spPr>
          <a:xfrm>
            <a:off x="622221" y="485773"/>
            <a:ext cx="561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latin typeface="Arial" panose="020B0604020202020204" pitchFamily="34" charset="0"/>
                <a:cs typeface="Arial" panose="020B0604020202020204" pitchFamily="34" charset="0"/>
              </a:rPr>
              <a:t>수업 프로젝트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493EB-D5F6-4DB4-BB22-2ADD6AEAEA33}"/>
              </a:ext>
            </a:extLst>
          </p:cNvPr>
          <p:cNvSpPr txBox="1"/>
          <p:nvPr/>
        </p:nvSpPr>
        <p:spPr>
          <a:xfrm>
            <a:off x="622221" y="1282966"/>
            <a:ext cx="10199577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프로젝트 명 </a:t>
            </a:r>
            <a:r>
              <a:rPr lang="en-US" altLang="ko-KR" sz="2200" b="1" dirty="0"/>
              <a:t>: </a:t>
            </a:r>
            <a:r>
              <a:rPr lang="ko-KR" altLang="en-US" sz="2200" b="1" dirty="0"/>
              <a:t>세상 소리</a:t>
            </a:r>
            <a:r>
              <a:rPr lang="en-US" altLang="ko-KR" sz="2200" b="1" dirty="0"/>
              <a:t>(</a:t>
            </a:r>
            <a:r>
              <a:rPr lang="ko-KR" altLang="en-US" sz="2200" b="1" dirty="0" err="1"/>
              <a:t>저시력자와</a:t>
            </a:r>
            <a:r>
              <a:rPr lang="ko-KR" altLang="en-US" sz="2200" b="1" dirty="0"/>
              <a:t> 시각 장애인을 위한 뉴스 제공 서비스</a:t>
            </a:r>
            <a:r>
              <a:rPr lang="en-US" altLang="ko-KR" sz="2200" b="1" dirty="0"/>
              <a:t>)</a:t>
            </a:r>
            <a:endParaRPr lang="ko-KR" altLang="en-US" sz="2200" b="1" dirty="0"/>
          </a:p>
        </p:txBody>
      </p:sp>
      <p:sp>
        <p:nvSpPr>
          <p:cNvPr id="7" name="object 6">
            <a:extLst>
              <a:ext uri="{FF2B5EF4-FFF2-40B4-BE49-F238E27FC236}">
                <a16:creationId xmlns:a16="http://schemas.microsoft.com/office/drawing/2014/main" id="{05453229-C69C-46B4-B575-5C14E564D955}"/>
              </a:ext>
            </a:extLst>
          </p:cNvPr>
          <p:cNvSpPr/>
          <p:nvPr/>
        </p:nvSpPr>
        <p:spPr>
          <a:xfrm>
            <a:off x="5977276" y="2040273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B76A10-35E7-4DC2-AF2A-FCBF83B159FB}"/>
              </a:ext>
            </a:extLst>
          </p:cNvPr>
          <p:cNvSpPr txBox="1"/>
          <p:nvPr/>
        </p:nvSpPr>
        <p:spPr>
          <a:xfrm>
            <a:off x="6372837" y="189018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기간</a:t>
            </a:r>
            <a:endParaRPr lang="en-US" altLang="ko-KR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00076C-0F5F-4092-A177-2D82071AB988}"/>
              </a:ext>
            </a:extLst>
          </p:cNvPr>
          <p:cNvSpPr txBox="1"/>
          <p:nvPr/>
        </p:nvSpPr>
        <p:spPr>
          <a:xfrm>
            <a:off x="6393668" y="2259512"/>
            <a:ext cx="23491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2021. 09 ~ 2021.12</a:t>
            </a:r>
            <a:endParaRPr lang="ko-KR" altLang="en-US" sz="1400" dirty="0"/>
          </a:p>
        </p:txBody>
      </p:sp>
      <p:sp>
        <p:nvSpPr>
          <p:cNvPr id="17" name="object 6">
            <a:extLst>
              <a:ext uri="{FF2B5EF4-FFF2-40B4-BE49-F238E27FC236}">
                <a16:creationId xmlns:a16="http://schemas.microsoft.com/office/drawing/2014/main" id="{3FFE767E-0F5C-46D1-9455-679FDE04FD44}"/>
              </a:ext>
            </a:extLst>
          </p:cNvPr>
          <p:cNvSpPr/>
          <p:nvPr/>
        </p:nvSpPr>
        <p:spPr>
          <a:xfrm>
            <a:off x="5977275" y="2889475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3A47425-E295-4884-955F-16710AF06B62}"/>
              </a:ext>
            </a:extLst>
          </p:cNvPr>
          <p:cNvSpPr txBox="1"/>
          <p:nvPr/>
        </p:nvSpPr>
        <p:spPr>
          <a:xfrm>
            <a:off x="6372837" y="2764693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기술 스택</a:t>
            </a:r>
            <a:endParaRPr lang="en-US" altLang="ko-KR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4D25C7-6AA2-459D-89DC-FE2876FCC063}"/>
              </a:ext>
            </a:extLst>
          </p:cNvPr>
          <p:cNvSpPr txBox="1"/>
          <p:nvPr/>
        </p:nvSpPr>
        <p:spPr>
          <a:xfrm>
            <a:off x="6393667" y="3168601"/>
            <a:ext cx="5468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Java,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SpringBoot</a:t>
            </a:r>
            <a:r>
              <a:rPr lang="en-US" altLang="ko-KR" sz="1400" dirty="0"/>
              <a:t>,</a:t>
            </a:r>
            <a:r>
              <a:rPr lang="ko-KR" altLang="en-US" sz="1400" dirty="0"/>
              <a:t> </a:t>
            </a:r>
            <a:r>
              <a:rPr lang="en-US" altLang="ko-KR" sz="1400" dirty="0" err="1"/>
              <a:t>Jsoup</a:t>
            </a:r>
            <a:r>
              <a:rPr lang="en-US" altLang="ko-KR" sz="1400" dirty="0"/>
              <a:t>, TTS </a:t>
            </a:r>
            <a:r>
              <a:rPr lang="ko-KR" altLang="en-US" sz="1400" dirty="0"/>
              <a:t>라이브러리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JsonObject</a:t>
            </a:r>
            <a:r>
              <a:rPr lang="en-US" altLang="ko-KR" sz="1400" dirty="0"/>
              <a:t> </a:t>
            </a:r>
            <a:r>
              <a:rPr lang="ko-KR" altLang="en-US" sz="1400" dirty="0"/>
              <a:t>라이브러리</a:t>
            </a:r>
          </a:p>
        </p:txBody>
      </p:sp>
      <p:sp>
        <p:nvSpPr>
          <p:cNvPr id="20" name="object 6">
            <a:extLst>
              <a:ext uri="{FF2B5EF4-FFF2-40B4-BE49-F238E27FC236}">
                <a16:creationId xmlns:a16="http://schemas.microsoft.com/office/drawing/2014/main" id="{439DEE50-AA2F-41D9-AE3A-503F35537DCF}"/>
              </a:ext>
            </a:extLst>
          </p:cNvPr>
          <p:cNvSpPr/>
          <p:nvPr/>
        </p:nvSpPr>
        <p:spPr>
          <a:xfrm>
            <a:off x="5977274" y="3772752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C109568-ED4B-474C-B8FC-D8DF923E81CF}"/>
              </a:ext>
            </a:extLst>
          </p:cNvPr>
          <p:cNvSpPr txBox="1"/>
          <p:nvPr/>
        </p:nvSpPr>
        <p:spPr>
          <a:xfrm>
            <a:off x="6393668" y="3618411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프로젝트 개요</a:t>
            </a:r>
            <a:endParaRPr lang="en-US" altLang="ko-KR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EF88A96-EB2F-45F6-B26D-067646A3588B}"/>
              </a:ext>
            </a:extLst>
          </p:cNvPr>
          <p:cNvSpPr txBox="1"/>
          <p:nvPr/>
        </p:nvSpPr>
        <p:spPr>
          <a:xfrm>
            <a:off x="6372836" y="4002801"/>
            <a:ext cx="531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/>
              <a:t>저시력자와</a:t>
            </a:r>
            <a:r>
              <a:rPr lang="ko-KR" altLang="en-US" sz="1200" dirty="0"/>
              <a:t> 시각 장애인을 위해 뉴스 서비스를 제공하는 서비스입니다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뉴스를 음성으로 출력해주는 기능을 구현하였습니다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뉴스 내용을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형태의 파일로 제공합니다</a:t>
            </a:r>
            <a:r>
              <a:rPr lang="en-US" altLang="ko-KR" sz="1200" dirty="0"/>
              <a:t>.</a:t>
            </a:r>
            <a:r>
              <a:rPr lang="ko-KR" altLang="en-US" sz="1200" dirty="0"/>
              <a:t> </a:t>
            </a:r>
            <a:endParaRPr lang="en-US" altLang="ko-KR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altLang="ko-KR" sz="1200" dirty="0"/>
          </a:p>
        </p:txBody>
      </p:sp>
      <p:sp>
        <p:nvSpPr>
          <p:cNvPr id="23" name="object 6">
            <a:extLst>
              <a:ext uri="{FF2B5EF4-FFF2-40B4-BE49-F238E27FC236}">
                <a16:creationId xmlns:a16="http://schemas.microsoft.com/office/drawing/2014/main" id="{B1AADEE6-DBEB-42E0-87F8-D260129E2BA8}"/>
              </a:ext>
            </a:extLst>
          </p:cNvPr>
          <p:cNvSpPr/>
          <p:nvPr/>
        </p:nvSpPr>
        <p:spPr>
          <a:xfrm>
            <a:off x="5978052" y="5341056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6002A62-FFDD-4FC0-8B75-67D4CDA6615E}"/>
              </a:ext>
            </a:extLst>
          </p:cNvPr>
          <p:cNvSpPr txBox="1"/>
          <p:nvPr/>
        </p:nvSpPr>
        <p:spPr>
          <a:xfrm>
            <a:off x="6372838" y="5216920"/>
            <a:ext cx="23907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/>
              <a:t>나의 구현 내용</a:t>
            </a:r>
            <a:endParaRPr lang="en-US" altLang="ko-KR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0A8802D-994C-46BB-8F06-E3B54DD130A8}"/>
              </a:ext>
            </a:extLst>
          </p:cNvPr>
          <p:cNvSpPr txBox="1"/>
          <p:nvPr/>
        </p:nvSpPr>
        <p:spPr>
          <a:xfrm>
            <a:off x="6393667" y="5654832"/>
            <a:ext cx="467057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⨀ </a:t>
            </a: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이용한 웹 </a:t>
            </a:r>
            <a:r>
              <a:rPr lang="ko-KR" altLang="en-US" sz="1200" dirty="0" err="1"/>
              <a:t>크롤링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</a:t>
            </a:r>
            <a:r>
              <a:rPr lang="en-US" altLang="ko-KR" sz="1200" dirty="0"/>
              <a:t>TTS </a:t>
            </a:r>
            <a:r>
              <a:rPr lang="ko-KR" altLang="en-US" sz="1200" dirty="0"/>
              <a:t>라이브러리를 통해 뉴스 내용을 음성 파일로 변경 및 저장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⨀ 뉴스 본문을 점자로 변환한 후 </a:t>
            </a:r>
            <a:r>
              <a:rPr lang="en-US" altLang="ko-KR" sz="1200" dirty="0"/>
              <a:t>Json</a:t>
            </a:r>
            <a:r>
              <a:rPr lang="ko-KR" altLang="en-US" sz="1200" dirty="0"/>
              <a:t>형태로 저장 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B26878E0-79CA-488B-9669-81429086C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2102233"/>
            <a:ext cx="4454554" cy="2666673"/>
          </a:xfrm>
          <a:prstGeom prst="rect">
            <a:avLst/>
          </a:prstGeom>
        </p:spPr>
      </p:pic>
      <p:pic>
        <p:nvPicPr>
          <p:cNvPr id="10" name="그림 9" descr="텍스트, 클립아트, 스크린샷이(가) 표시된 사진&#10;&#10;자동 생성된 설명">
            <a:extLst>
              <a:ext uri="{FF2B5EF4-FFF2-40B4-BE49-F238E27FC236}">
                <a16:creationId xmlns:a16="http://schemas.microsoft.com/office/drawing/2014/main" id="{0371FB54-97D3-491F-972A-447EA7E9D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856" y="4711473"/>
            <a:ext cx="4454554" cy="1739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76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6">
            <a:extLst>
              <a:ext uri="{FF2B5EF4-FFF2-40B4-BE49-F238E27FC236}">
                <a16:creationId xmlns:a16="http://schemas.microsoft.com/office/drawing/2014/main" id="{A545290D-3CA4-4FA2-95E8-9278EA4D17BD}"/>
              </a:ext>
            </a:extLst>
          </p:cNvPr>
          <p:cNvSpPr/>
          <p:nvPr/>
        </p:nvSpPr>
        <p:spPr>
          <a:xfrm>
            <a:off x="6019445" y="701789"/>
            <a:ext cx="127155" cy="1210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C82E3D-6DE0-4E9E-84B2-A115D86CD670}"/>
              </a:ext>
            </a:extLst>
          </p:cNvPr>
          <p:cNvSpPr txBox="1"/>
          <p:nvPr/>
        </p:nvSpPr>
        <p:spPr>
          <a:xfrm>
            <a:off x="6234598" y="577652"/>
            <a:ext cx="57668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웹 </a:t>
            </a:r>
            <a:r>
              <a:rPr lang="ko-KR" altLang="en-US" sz="1800" b="1" dirty="0" err="1"/>
              <a:t>크롤링</a:t>
            </a:r>
            <a:r>
              <a:rPr lang="ko-KR" altLang="en-US" sz="1800" b="1" dirty="0"/>
              <a:t> 및 음성 파일로 변환</a:t>
            </a:r>
            <a:endParaRPr lang="en-US" altLang="ko-KR" sz="18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F20D144-5A52-4928-B643-7010AFB681FA}"/>
              </a:ext>
            </a:extLst>
          </p:cNvPr>
          <p:cNvSpPr txBox="1"/>
          <p:nvPr/>
        </p:nvSpPr>
        <p:spPr>
          <a:xfrm>
            <a:off x="6146599" y="1035246"/>
            <a:ext cx="576680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뉴스 내용을 음성 파일로 읽어주는 기능을 구현합니다</a:t>
            </a:r>
            <a:endParaRPr lang="en-US" altLang="ko-KR" sz="1200" b="1" dirty="0"/>
          </a:p>
          <a:p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@Scheduled </a:t>
            </a:r>
            <a:r>
              <a:rPr lang="ko-KR" altLang="en-US" sz="1200" dirty="0" err="1"/>
              <a:t>어노테이션을</a:t>
            </a:r>
            <a:r>
              <a:rPr lang="ko-KR" altLang="en-US" sz="1200" dirty="0"/>
              <a:t> 통해 </a:t>
            </a:r>
            <a:r>
              <a:rPr lang="en-US" altLang="ko-KR" sz="1200" dirty="0"/>
              <a:t>1</a:t>
            </a:r>
            <a:r>
              <a:rPr lang="ko-KR" altLang="en-US" sz="1200" dirty="0"/>
              <a:t>시간마다 뉴스 내용을 갱신합니다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 err="1"/>
              <a:t>Jsoup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  <a:p>
            <a:pPr marL="228600" indent="-228600">
              <a:buAutoNum type="arabicPeriod" startAt="2"/>
            </a:pPr>
            <a:r>
              <a:rPr lang="en-US" altLang="ko-KR" sz="1200" dirty="0"/>
              <a:t>TTS </a:t>
            </a:r>
            <a:r>
              <a:rPr lang="ko-KR" altLang="en-US" sz="1200" dirty="0"/>
              <a:t>라이브러리를 통해 해당 데이터를 음성 파일로 변경 한 후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 startAt="2"/>
            </a:pPr>
            <a:endParaRPr lang="en-US" altLang="ko-KR" sz="1200" dirty="0"/>
          </a:p>
        </p:txBody>
      </p:sp>
      <p:sp>
        <p:nvSpPr>
          <p:cNvPr id="9" name="object 6">
            <a:extLst>
              <a:ext uri="{FF2B5EF4-FFF2-40B4-BE49-F238E27FC236}">
                <a16:creationId xmlns:a16="http://schemas.microsoft.com/office/drawing/2014/main" id="{20C5B563-C6B2-4C9C-97DF-67A89993BD55}"/>
              </a:ext>
            </a:extLst>
          </p:cNvPr>
          <p:cNvSpPr/>
          <p:nvPr/>
        </p:nvSpPr>
        <p:spPr>
          <a:xfrm>
            <a:off x="6019445" y="2885597"/>
            <a:ext cx="127155" cy="11233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D1D900-F4B9-408C-BBCA-7430E6C3E24C}"/>
              </a:ext>
            </a:extLst>
          </p:cNvPr>
          <p:cNvSpPr txBox="1"/>
          <p:nvPr/>
        </p:nvSpPr>
        <p:spPr>
          <a:xfrm>
            <a:off x="6234598" y="2761460"/>
            <a:ext cx="52413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/>
              <a:t>점자 변환 및 </a:t>
            </a:r>
            <a:r>
              <a:rPr lang="en-US" altLang="ko-KR" sz="1800" b="1" dirty="0"/>
              <a:t>Json </a:t>
            </a:r>
            <a:r>
              <a:rPr lang="ko-KR" altLang="en-US" b="1" dirty="0"/>
              <a:t>형식의</a:t>
            </a:r>
            <a:r>
              <a:rPr lang="ko-KR" altLang="en-US" sz="1800" b="1" dirty="0"/>
              <a:t> 파일로 변환</a:t>
            </a:r>
            <a:endParaRPr lang="en-US" altLang="ko-KR" sz="18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A25905-51E5-40DF-9276-A01D5AE50313}"/>
              </a:ext>
            </a:extLst>
          </p:cNvPr>
          <p:cNvSpPr txBox="1"/>
          <p:nvPr/>
        </p:nvSpPr>
        <p:spPr>
          <a:xfrm>
            <a:off x="6146599" y="3219054"/>
            <a:ext cx="5766807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/>
              <a:t>점자 프린팅을 위해 뉴스 내용을 점자로 변환한 후 그 내용을 </a:t>
            </a:r>
            <a:r>
              <a:rPr lang="en-US" altLang="ko-KR" sz="1200" b="1" dirty="0"/>
              <a:t>Json</a:t>
            </a:r>
            <a:r>
              <a:rPr lang="ko-KR" altLang="en-US" sz="1200" b="1" dirty="0"/>
              <a:t>형태의 파일로 제공합니다</a:t>
            </a:r>
            <a:r>
              <a:rPr lang="en-US" altLang="ko-KR" sz="1200" b="1" dirty="0"/>
              <a:t>.</a:t>
            </a:r>
          </a:p>
          <a:p>
            <a:endParaRPr lang="en-US" altLang="ko-KR" sz="1200" b="1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Jsoup</a:t>
            </a:r>
            <a:r>
              <a:rPr lang="ko-KR" altLang="en-US" sz="1200" dirty="0"/>
              <a:t> 라이브러리를 통해 뉴스 데이터를 가져옵니다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모든 글자를 자</a:t>
            </a:r>
            <a:r>
              <a:rPr lang="en-US" altLang="ko-KR" sz="1200" dirty="0"/>
              <a:t>,</a:t>
            </a:r>
            <a:r>
              <a:rPr lang="ko-KR" altLang="en-US" sz="1200" dirty="0"/>
              <a:t>모음으로 분리합니다</a:t>
            </a:r>
            <a:r>
              <a:rPr lang="en-US" altLang="ko-KR" sz="1200" dirty="0"/>
              <a:t>.   ex) </a:t>
            </a:r>
            <a:r>
              <a:rPr lang="ko-KR" altLang="en-US" sz="1200" dirty="0"/>
              <a:t>가</a:t>
            </a:r>
            <a:r>
              <a:rPr lang="en-US" altLang="ko-KR" sz="1200" dirty="0"/>
              <a:t>-&gt; ‘</a:t>
            </a:r>
            <a:r>
              <a:rPr lang="ko-KR" altLang="en-US" sz="1200" dirty="0" err="1"/>
              <a:t>ㄱ</a:t>
            </a:r>
            <a:r>
              <a:rPr lang="en-US" altLang="ko-KR" sz="1200" dirty="0"/>
              <a:t>’+’</a:t>
            </a:r>
            <a:r>
              <a:rPr lang="ko-KR" altLang="en-US" sz="1200" dirty="0" err="1"/>
              <a:t>ㅏ</a:t>
            </a:r>
            <a:r>
              <a:rPr lang="en-US" altLang="ko-KR" sz="1200" dirty="0"/>
              <a:t>’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분리 된 글자들을 연결리스트에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ko-KR" altLang="en-US" sz="1200" dirty="0"/>
              <a:t>연결리스트 안의 모든 글자들을 점자로 변환합니다</a:t>
            </a:r>
            <a:r>
              <a:rPr lang="en-US" altLang="ko-KR" sz="1200" dirty="0"/>
              <a:t>(</a:t>
            </a:r>
            <a:r>
              <a:rPr lang="ko-KR" altLang="en-US" sz="1200" dirty="0"/>
              <a:t>이 부분은 하드코딩으로 구현하였습니다</a:t>
            </a:r>
            <a:r>
              <a:rPr lang="en-US" altLang="ko-KR" sz="1200" dirty="0"/>
              <a:t>.)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 err="1"/>
              <a:t>JsonObject</a:t>
            </a:r>
            <a:r>
              <a:rPr lang="en-US" altLang="ko-KR" sz="1200" dirty="0"/>
              <a:t> </a:t>
            </a:r>
            <a:r>
              <a:rPr lang="ko-KR" altLang="en-US" sz="1200" dirty="0"/>
              <a:t>라이브러리를 이용해 정해진 형식의 </a:t>
            </a:r>
            <a:r>
              <a:rPr lang="en-US" altLang="ko-KR" sz="1200" dirty="0"/>
              <a:t>Json</a:t>
            </a:r>
            <a:r>
              <a:rPr lang="ko-KR" altLang="en-US" sz="1200" dirty="0"/>
              <a:t>파일로 저장합니다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  <a:p>
            <a:pPr marL="228600" indent="-228600">
              <a:buAutoNum type="arabicPeriod"/>
            </a:pPr>
            <a:r>
              <a:rPr lang="en-US" altLang="ko-KR" sz="1200" dirty="0"/>
              <a:t>Json </a:t>
            </a:r>
            <a:r>
              <a:rPr lang="ko-KR" altLang="en-US" sz="1200" dirty="0"/>
              <a:t>파일을 통해 점자 데이터를 포함한 한글로 된 기사 제목과 내용</a:t>
            </a:r>
            <a:r>
              <a:rPr lang="en-US" altLang="ko-KR" sz="1200" dirty="0"/>
              <a:t>, </a:t>
            </a:r>
            <a:r>
              <a:rPr lang="ko-KR" altLang="en-US" sz="1200" dirty="0"/>
              <a:t>기사 </a:t>
            </a:r>
            <a:r>
              <a:rPr lang="en-US" altLang="ko-KR" sz="1200" dirty="0"/>
              <a:t>URL </a:t>
            </a:r>
            <a:r>
              <a:rPr lang="ko-KR" altLang="en-US" sz="1200" dirty="0"/>
              <a:t>등을 제공합니다</a:t>
            </a:r>
            <a:r>
              <a:rPr lang="en-US" altLang="ko-KR" sz="1200" dirty="0"/>
              <a:t>.</a:t>
            </a:r>
          </a:p>
          <a:p>
            <a:pPr marL="228600" indent="-228600">
              <a:buAutoNum type="arabicPeriod"/>
            </a:pPr>
            <a:endParaRPr lang="en-US" altLang="ko-KR" sz="1200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3180081-2131-4AD4-AAC6-BDEA10746C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446" y="3576800"/>
            <a:ext cx="5164846" cy="2043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766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B51EC9B-D497-4C9F-B8FA-189FD38F8E51}"/>
              </a:ext>
            </a:extLst>
          </p:cNvPr>
          <p:cNvSpPr txBox="1"/>
          <p:nvPr/>
        </p:nvSpPr>
        <p:spPr>
          <a:xfrm>
            <a:off x="2276167" y="2625213"/>
            <a:ext cx="76396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성장할 수 있는 곳이라면 무엇이든 할 준비가 되어있습니다</a:t>
            </a:r>
            <a:r>
              <a:rPr lang="en-US" altLang="ko-KR" dirty="0"/>
              <a:t>. </a:t>
            </a:r>
          </a:p>
          <a:p>
            <a:pPr algn="ctr"/>
            <a:r>
              <a:rPr lang="ko-KR" altLang="en-US" dirty="0"/>
              <a:t>믿고 맡겨 주신다면 절대 실망시키지 않겠습니다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820039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1529</TotalTime>
  <Words>864</Words>
  <Application>Microsoft Office PowerPoint</Application>
  <PresentationFormat>와이드스크린</PresentationFormat>
  <Paragraphs>150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Arial</vt:lpstr>
      <vt:lpstr>Arial Rounded MT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진호</dc:creator>
  <cp:lastModifiedBy>진호</cp:lastModifiedBy>
  <cp:revision>67</cp:revision>
  <dcterms:created xsi:type="dcterms:W3CDTF">2021-09-02T08:00:50Z</dcterms:created>
  <dcterms:modified xsi:type="dcterms:W3CDTF">2021-12-06T13:48:42Z</dcterms:modified>
</cp:coreProperties>
</file>