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5" r:id="rId7"/>
    <p:sldId id="266" r:id="rId8"/>
    <p:sldId id="267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2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06EAE-9ED8-4493-8307-E0CBB87D5314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C8723-B0A8-44DF-B11C-1529A2C95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06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EDD1A-FA7A-434E-9B66-FC6209522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28C861-011E-4490-8EB3-D6B78A380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949AD-E147-4013-99FF-2D4FA55A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99DBB-B2C3-4721-AAB9-D30B21FD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0567-EA62-4EDC-9619-23EF3704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96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83461-3589-47C9-BC84-1F6774FC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4A376-77FE-4F01-8822-8CBBBBADE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2D8F8-AD77-49DC-BA99-52ECACFF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0A9B4-60CD-4A93-84AA-4AA1D209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393833-3554-460E-A120-8DDB080C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07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45B1B-F050-4A2E-B57E-319B1C15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77761F-5150-4DF9-90F4-FF93ECB0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44BEF7-2AFC-49B8-997E-D079E85B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AC3AFE-7BEC-4BD7-8F3D-86E2498A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2FAAA-4AC4-4900-B217-DDC5EF04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24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06BFD-C93D-465A-A1BB-06A08E91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60447-EBBC-4A0D-85FE-8138E59D2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2DDACD-F475-4279-A52A-FC383F7C7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19B81-9EF5-48B5-9F19-81D0EC8B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6D725C-7393-4A0F-A51C-8C027A29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26847-7F7E-4006-BB97-B2BC9E68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65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919D5-CD33-4C17-8E2A-F118161B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F24C9D-D6D6-46A1-95F2-108C4688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0F65BC-44EC-41FC-A9DE-AAC9AB6B9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786B56-9E80-44D6-A8C6-86E45EAFA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721A22-D187-400F-ABCB-7050B71CA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04F337-125F-45E4-8955-5378A837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C0B01-4F3B-4208-8467-E19A95B0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1BDFEF-3759-495D-93CB-A30309D0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50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B6692B-4DB1-477F-8B2E-E14A7B04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54098E-EAF2-43FE-B149-05BFB8AD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559DEC-B562-4D7A-98D6-03916C74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A102E4-8946-4025-B68A-DA96B5A9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9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7A45C2-3C32-4A6B-B928-5F793752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053D21-9CC7-4967-ACA6-83B5DB91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7EC49-987B-4C80-B3D1-362EC260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49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BE49-7F10-4C93-A11F-FAE538C9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C39CF-03FF-4F26-8B3A-9FEA98024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42CD6-3AEF-4525-94E7-237EE094F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85488-BC5C-4363-A379-A8E4EFDA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2C6A69-6D5A-42C1-8E2F-D9C6804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F19BC-229C-4365-AD57-0682792C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3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BBB45-7470-45A7-8EDB-1DDFB4E6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C7D90B-075C-4168-ABCD-C1736F09F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F0EB17-CC0E-4C44-9611-02A3EA736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E52177-2A67-47BC-8871-A32F29A0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5F624-CEF9-4E83-9A21-A05DEE08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A94CA1-DBCD-45E2-B760-4E65B206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01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49C12-874F-4399-86CB-E5EEB7A9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A78AB1-E5E4-4A97-A836-4FD4651CD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5C709-F1DC-4C8C-B086-1E83CF96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BC370C-0849-47CE-B076-DA641B06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398DF-CA33-4612-81A2-CF2006DB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23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D70B29-E381-4250-AF87-56596084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3C664-F4C6-4766-864B-D8BAA1385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103BF-587F-40C1-B45E-0E35C7C9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C9230-EE9A-4001-BD76-F6E1055B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0A6A60-EC7C-49AA-A82E-3D553D88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89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F0BA2D-27E8-4ED2-89A1-2FA10A13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9D619A-8D01-4053-9EB1-7BC4E9DA0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2646E7-6A4E-4A9D-B6CE-B60087429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FD04A-7A57-4ABB-A4D2-40192FED31D2}" type="datetimeFigureOut">
              <a:rPr lang="ko-KR" altLang="en-US" smtClean="0"/>
              <a:t>2021-12-16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7F178-130D-4E3E-86C3-65F2AFFC8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B19FC-C1E5-43E9-88F3-0DEB5E75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50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ohjinho7@gmail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hjinhoko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10" Type="http://schemas.openxmlformats.org/officeDocument/2006/relationships/image" Target="../media/image23.JPG"/><Relationship Id="rId4" Type="http://schemas.openxmlformats.org/officeDocument/2006/relationships/image" Target="../media/image17.JPG"/><Relationship Id="rId9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벽, 실내, 사람이(가) 표시된 사진&#10;&#10;자동 생성된 설명">
            <a:extLst>
              <a:ext uri="{FF2B5EF4-FFF2-40B4-BE49-F238E27FC236}">
                <a16:creationId xmlns:a16="http://schemas.microsoft.com/office/drawing/2014/main" id="{F400C45B-EF0D-436F-8A0E-2754E15A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453390"/>
            <a:ext cx="5288280" cy="5341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BCA0CD-2103-4879-BA3D-3B0748FB66AF}"/>
              </a:ext>
            </a:extLst>
          </p:cNvPr>
          <p:cNvSpPr txBox="1"/>
          <p:nvPr/>
        </p:nvSpPr>
        <p:spPr>
          <a:xfrm>
            <a:off x="5783580" y="3019124"/>
            <a:ext cx="5173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숭실대학교 </a:t>
            </a:r>
            <a:r>
              <a:rPr lang="en-US" altLang="ko-KR" sz="1100" dirty="0"/>
              <a:t>IT</a:t>
            </a:r>
            <a:r>
              <a:rPr lang="ko-KR" altLang="en-US" sz="1100" dirty="0"/>
              <a:t>대학 글로벌미디어학부</a:t>
            </a:r>
            <a:r>
              <a:rPr lang="en-US" altLang="ko-KR" sz="1100" dirty="0"/>
              <a:t>(2016.03 ~)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FDEF8A-92A1-4EF9-859A-584344041B80}"/>
              </a:ext>
            </a:extLst>
          </p:cNvPr>
          <p:cNvSpPr txBox="1"/>
          <p:nvPr/>
        </p:nvSpPr>
        <p:spPr>
          <a:xfrm>
            <a:off x="5783580" y="3612190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숭실대학교 창업지원단 소속 </a:t>
            </a:r>
            <a:r>
              <a:rPr lang="ko-KR" altLang="en-US" sz="1100" dirty="0" err="1"/>
              <a:t>온더브릿지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개발자</a:t>
            </a:r>
            <a:r>
              <a:rPr lang="en-US" altLang="ko-KR" sz="1100" dirty="0"/>
              <a:t>(2021. 04 ~ 2021.08)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5C8A2-14A3-4EB8-890A-39A82BF61709}"/>
              </a:ext>
            </a:extLst>
          </p:cNvPr>
          <p:cNvSpPr txBox="1"/>
          <p:nvPr/>
        </p:nvSpPr>
        <p:spPr>
          <a:xfrm>
            <a:off x="5783580" y="864324"/>
            <a:ext cx="27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Be</a:t>
            </a:r>
            <a:r>
              <a:rPr lang="en-US" altLang="ko-KR" sz="2800" dirty="0">
                <a:latin typeface="Arial Rounded MT Bold" panose="020F0704030504030204" pitchFamily="34" charset="0"/>
              </a:rPr>
              <a:t>st </a:t>
            </a:r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P</a:t>
            </a:r>
            <a:r>
              <a:rPr lang="en-US" altLang="ko-KR" sz="2800" dirty="0">
                <a:latin typeface="Arial Rounded MT Bold" panose="020F0704030504030204" pitchFamily="34" charset="0"/>
              </a:rPr>
              <a:t>ract</a:t>
            </a:r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i</a:t>
            </a:r>
            <a:r>
              <a:rPr lang="en-US" altLang="ko-KR" sz="2800" dirty="0">
                <a:latin typeface="Arial Rounded MT Bold" panose="020F0704030504030204" pitchFamily="34" charset="0"/>
              </a:rPr>
              <a:t>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2AD1C1-A19B-4AC8-A413-FE5F5F43CBCB}"/>
              </a:ext>
            </a:extLst>
          </p:cNvPr>
          <p:cNvSpPr txBox="1"/>
          <p:nvPr/>
        </p:nvSpPr>
        <p:spPr>
          <a:xfrm>
            <a:off x="1695450" y="6069568"/>
            <a:ext cx="241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백엔드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개발자 오진호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D3ACA-DCCA-4D45-A3EB-63540921026B}"/>
              </a:ext>
            </a:extLst>
          </p:cNvPr>
          <p:cNvSpPr txBox="1"/>
          <p:nvPr/>
        </p:nvSpPr>
        <p:spPr>
          <a:xfrm>
            <a:off x="8797490" y="5857194"/>
            <a:ext cx="33945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기술 스택 </a:t>
            </a:r>
            <a:r>
              <a:rPr lang="en-US" altLang="ko-KR" sz="1100" b="1" dirty="0"/>
              <a:t>: Java, Spring, </a:t>
            </a:r>
            <a:r>
              <a:rPr lang="en-US" altLang="ko-KR" sz="1100" b="1" dirty="0" err="1"/>
              <a:t>Springboot</a:t>
            </a:r>
            <a:r>
              <a:rPr lang="en-US" altLang="ko-KR" sz="1100" b="1" dirty="0"/>
              <a:t>, MVC, JPA</a:t>
            </a:r>
            <a:endParaRPr lang="en-US" altLang="ko-KR" sz="1100" dirty="0"/>
          </a:p>
          <a:p>
            <a:endParaRPr lang="en-US" altLang="ko-KR" sz="1100" dirty="0"/>
          </a:p>
          <a:p>
            <a:pPr algn="r"/>
            <a:r>
              <a:rPr lang="en-US" altLang="ko-KR" sz="1100" dirty="0"/>
              <a:t>Email: </a:t>
            </a:r>
            <a:r>
              <a:rPr lang="en-US" altLang="ko-KR" sz="1100" dirty="0">
                <a:hlinkClick r:id="rId3"/>
              </a:rPr>
              <a:t>ohjinho7@gmail.com</a:t>
            </a:r>
            <a:endParaRPr lang="en-US" altLang="ko-KR" sz="1100" dirty="0"/>
          </a:p>
          <a:p>
            <a:pPr algn="r"/>
            <a:r>
              <a:rPr lang="en-US" altLang="ko-KR" sz="1100" dirty="0" err="1"/>
              <a:t>Github</a:t>
            </a:r>
            <a:r>
              <a:rPr lang="en-US" altLang="ko-KR" sz="1100" dirty="0"/>
              <a:t>: </a:t>
            </a:r>
            <a:r>
              <a:rPr lang="en-US" altLang="ko-KR" sz="1100" dirty="0">
                <a:hlinkClick r:id="rId4"/>
              </a:rPr>
              <a:t>https://github.com/ohjinhokor</a:t>
            </a:r>
            <a:endParaRPr lang="en-US" altLang="ko-KR" sz="11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204CD73-0EED-42FC-8D21-86A2373FAD75}"/>
              </a:ext>
            </a:extLst>
          </p:cNvPr>
          <p:cNvCxnSpPr>
            <a:cxnSpLocks/>
          </p:cNvCxnSpPr>
          <p:nvPr/>
        </p:nvCxnSpPr>
        <p:spPr>
          <a:xfrm>
            <a:off x="5650302" y="2587924"/>
            <a:ext cx="64294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FEB9F6-477D-471E-9FF8-F2E06E67C0B4}"/>
              </a:ext>
            </a:extLst>
          </p:cNvPr>
          <p:cNvSpPr txBox="1"/>
          <p:nvPr/>
        </p:nvSpPr>
        <p:spPr>
          <a:xfrm>
            <a:off x="5783580" y="1452700"/>
            <a:ext cx="4317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세상을 바꿀 수 있는 아이디어를 </a:t>
            </a:r>
            <a:endParaRPr lang="en-US" altLang="ko-KR" dirty="0"/>
          </a:p>
          <a:p>
            <a:r>
              <a:rPr lang="ko-KR" altLang="en-US" dirty="0"/>
              <a:t>실체화 하는 것을 꿈꾸는 개발자입니다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A3C594-E819-4733-BEA5-254BD6422031}"/>
              </a:ext>
            </a:extLst>
          </p:cNvPr>
          <p:cNvSpPr txBox="1"/>
          <p:nvPr/>
        </p:nvSpPr>
        <p:spPr>
          <a:xfrm>
            <a:off x="5783580" y="3315657"/>
            <a:ext cx="5173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숭실대학교 </a:t>
            </a:r>
            <a:r>
              <a:rPr lang="en-US" altLang="ko-KR" sz="1100" dirty="0"/>
              <a:t>HCI</a:t>
            </a:r>
            <a:r>
              <a:rPr lang="ko-KR" altLang="en-US" sz="1100" dirty="0"/>
              <a:t>연구실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개발자</a:t>
            </a:r>
            <a:r>
              <a:rPr lang="en-US" altLang="ko-KR" sz="1100" dirty="0"/>
              <a:t>(2021.03 ~)</a:t>
            </a:r>
            <a:endParaRPr lang="ko-KR" alt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6887C-B1DA-4C65-92C8-63DC460BC854}"/>
              </a:ext>
            </a:extLst>
          </p:cNvPr>
          <p:cNvSpPr txBox="1"/>
          <p:nvPr/>
        </p:nvSpPr>
        <p:spPr>
          <a:xfrm>
            <a:off x="5783580" y="4203533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Google Developers Student Club </a:t>
            </a:r>
            <a:r>
              <a:rPr lang="ko-KR" altLang="en-US" sz="1100" dirty="0"/>
              <a:t>숭실대 지부 </a:t>
            </a:r>
            <a:r>
              <a:rPr lang="en-US" altLang="ko-KR" sz="1100" dirty="0"/>
              <a:t>Server/Cloud Member(2021.09~)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BA9AE-E79D-4B05-BFF5-BCCBB1FB312E}"/>
              </a:ext>
            </a:extLst>
          </p:cNvPr>
          <p:cNvSpPr txBox="1"/>
          <p:nvPr/>
        </p:nvSpPr>
        <p:spPr>
          <a:xfrm>
            <a:off x="5783580" y="4498343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숭실대학교</a:t>
            </a:r>
            <a:r>
              <a:rPr lang="en-US" altLang="ko-KR" sz="1100" dirty="0"/>
              <a:t> </a:t>
            </a:r>
            <a:r>
              <a:rPr lang="ko-KR" altLang="en-US" sz="1100" dirty="0"/>
              <a:t>개발동아리 </a:t>
            </a:r>
            <a:r>
              <a:rPr lang="ko-KR" altLang="en-US" sz="1100" dirty="0" err="1"/>
              <a:t>유어슈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팀원</a:t>
            </a:r>
            <a:r>
              <a:rPr lang="en-US" altLang="ko-KR" sz="1100" dirty="0"/>
              <a:t>(2021.10~)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0CFAB-9590-4219-B702-399DF8CA6F33}"/>
              </a:ext>
            </a:extLst>
          </p:cNvPr>
          <p:cNvSpPr txBox="1"/>
          <p:nvPr/>
        </p:nvSpPr>
        <p:spPr>
          <a:xfrm>
            <a:off x="5783580" y="3908723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대학 연합 개발동아리 </a:t>
            </a:r>
            <a:r>
              <a:rPr lang="en-US" altLang="ko-KR" sz="1100" dirty="0"/>
              <a:t>UMC </a:t>
            </a:r>
            <a:r>
              <a:rPr lang="ko-KR" altLang="en-US" sz="1100" dirty="0"/>
              <a:t>숭실대 지부 </a:t>
            </a:r>
            <a:r>
              <a:rPr lang="en-US" altLang="ko-KR" sz="1100" dirty="0"/>
              <a:t>Server Member(2021.08 ~ 2021.11)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2909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43EDF2CB-CF81-42EF-B014-8F9575E6F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790824"/>
            <a:ext cx="3892161" cy="36702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FE91A0-2471-4BD7-9D1C-6ABE3C9F2579}"/>
              </a:ext>
            </a:extLst>
          </p:cNvPr>
          <p:cNvSpPr txBox="1"/>
          <p:nvPr/>
        </p:nvSpPr>
        <p:spPr>
          <a:xfrm>
            <a:off x="685799" y="295260"/>
            <a:ext cx="56146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숭실대학교 창업지원단 </a:t>
            </a:r>
            <a:r>
              <a:rPr lang="en-US" altLang="ko-KR" sz="4000" b="1" dirty="0">
                <a:latin typeface="Arial" panose="020B0604020202020204" pitchFamily="34" charset="0"/>
                <a:cs typeface="Arial" panose="020B0604020202020204" pitchFamily="34" charset="0"/>
              </a:rPr>
              <a:t>On the Bridge</a:t>
            </a:r>
            <a:endParaRPr lang="ko-KR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493EB-D5F6-4DB4-BB22-2ADD6AEAEA33}"/>
              </a:ext>
            </a:extLst>
          </p:cNvPr>
          <p:cNvSpPr txBox="1"/>
          <p:nvPr/>
        </p:nvSpPr>
        <p:spPr>
          <a:xfrm>
            <a:off x="685799" y="1809763"/>
            <a:ext cx="4562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프로젝트 명 </a:t>
            </a:r>
            <a:r>
              <a:rPr lang="en-US" altLang="ko-KR" sz="2400" b="1" dirty="0"/>
              <a:t>: </a:t>
            </a:r>
            <a:r>
              <a:rPr lang="ko-KR" altLang="en-US" sz="2400" b="1" dirty="0" err="1"/>
              <a:t>잇츠로드</a:t>
            </a:r>
            <a:endParaRPr lang="ko-KR" altLang="en-US" sz="2400" b="1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453229-C69C-46B4-B575-5C14E564D955}"/>
              </a:ext>
            </a:extLst>
          </p:cNvPr>
          <p:cNvSpPr/>
          <p:nvPr/>
        </p:nvSpPr>
        <p:spPr>
          <a:xfrm>
            <a:off x="5599771" y="1772916"/>
            <a:ext cx="127155" cy="121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6A10-35E7-4DC2-AF2A-FCBF83B159FB}"/>
              </a:ext>
            </a:extLst>
          </p:cNvPr>
          <p:cNvSpPr txBox="1"/>
          <p:nvPr/>
        </p:nvSpPr>
        <p:spPr>
          <a:xfrm>
            <a:off x="6096000" y="1622823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기간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0076C-0F5F-4092-A177-2D82071AB988}"/>
              </a:ext>
            </a:extLst>
          </p:cNvPr>
          <p:cNvSpPr txBox="1"/>
          <p:nvPr/>
        </p:nvSpPr>
        <p:spPr>
          <a:xfrm>
            <a:off x="6116831" y="1992155"/>
            <a:ext cx="234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2021. 04 ~ 2021. 08</a:t>
            </a:r>
            <a:endParaRPr lang="ko-KR" altLang="en-US" sz="1400" dirty="0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3FFE767E-0F5C-46D1-9455-679FDE04FD44}"/>
              </a:ext>
            </a:extLst>
          </p:cNvPr>
          <p:cNvSpPr/>
          <p:nvPr/>
        </p:nvSpPr>
        <p:spPr>
          <a:xfrm>
            <a:off x="5599771" y="2705061"/>
            <a:ext cx="127155" cy="121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A47425-E295-4884-955F-16710AF06B62}"/>
              </a:ext>
            </a:extLst>
          </p:cNvPr>
          <p:cNvSpPr txBox="1"/>
          <p:nvPr/>
        </p:nvSpPr>
        <p:spPr>
          <a:xfrm>
            <a:off x="6096000" y="2554968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기술 스택</a:t>
            </a:r>
            <a:endParaRPr lang="en-US" altLang="ko-K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D25C7-6AA2-459D-89DC-FE2876FCC063}"/>
              </a:ext>
            </a:extLst>
          </p:cNvPr>
          <p:cNvSpPr txBox="1"/>
          <p:nvPr/>
        </p:nvSpPr>
        <p:spPr>
          <a:xfrm>
            <a:off x="6096000" y="3059156"/>
            <a:ext cx="3892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TypeScript, </a:t>
            </a:r>
            <a:r>
              <a:rPr lang="en-US" altLang="ko-KR" sz="1400" dirty="0" err="1"/>
              <a:t>NestJs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Typeorm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MariaDb</a:t>
            </a:r>
            <a:endParaRPr lang="ko-KR" altLang="en-US" sz="1400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39DEE50-AA2F-41D9-AE3A-503F35537DCF}"/>
              </a:ext>
            </a:extLst>
          </p:cNvPr>
          <p:cNvSpPr/>
          <p:nvPr/>
        </p:nvSpPr>
        <p:spPr>
          <a:xfrm>
            <a:off x="5600623" y="3714462"/>
            <a:ext cx="127155" cy="121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09568-ED4B-474C-B8FC-D8DF923E81CF}"/>
              </a:ext>
            </a:extLst>
          </p:cNvPr>
          <p:cNvSpPr txBox="1"/>
          <p:nvPr/>
        </p:nvSpPr>
        <p:spPr>
          <a:xfrm>
            <a:off x="6116831" y="3564369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개요</a:t>
            </a:r>
            <a:endParaRPr lang="en-US" altLang="ko-KR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88A96-EB2F-45F6-B26D-067646A3588B}"/>
              </a:ext>
            </a:extLst>
          </p:cNvPr>
          <p:cNvSpPr txBox="1"/>
          <p:nvPr/>
        </p:nvSpPr>
        <p:spPr>
          <a:xfrm>
            <a:off x="6117681" y="4008025"/>
            <a:ext cx="5766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음식점 모바일 오더 서비스 기능입니다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손님이 음식점에 입장하여 </a:t>
            </a:r>
            <a:r>
              <a:rPr lang="en-US" altLang="ko-KR" sz="1200" dirty="0"/>
              <a:t>QR</a:t>
            </a:r>
            <a:r>
              <a:rPr lang="ko-KR" altLang="en-US" sz="1200" dirty="0"/>
              <a:t>코드를 통해 음식을 주문하면 가게 사장님이 카운터에서 주문한 음식을 바로 확인할 수 있는 서비스입니다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상세 설명 </a:t>
            </a:r>
            <a:r>
              <a:rPr lang="en-US" altLang="ko-KR" sz="1200" dirty="0"/>
              <a:t>: </a:t>
            </a:r>
            <a:r>
              <a:rPr lang="en-US" altLang="ko-KR" sz="1100" dirty="0"/>
              <a:t>https://maze-warlock-8d1.notion.site/965c208d24004a28a3e50bc30fe22d7c</a:t>
            </a:r>
            <a:endParaRPr lang="ko-KR" altLang="en-US" sz="1100"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AADEE6-DBEB-42E0-87F8-D260129E2BA8}"/>
              </a:ext>
            </a:extLst>
          </p:cNvPr>
          <p:cNvSpPr/>
          <p:nvPr/>
        </p:nvSpPr>
        <p:spPr>
          <a:xfrm>
            <a:off x="5599772" y="5385270"/>
            <a:ext cx="127155" cy="121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02A62-FFDD-4FC0-8B75-67D4CDA6615E}"/>
              </a:ext>
            </a:extLst>
          </p:cNvPr>
          <p:cNvSpPr txBox="1"/>
          <p:nvPr/>
        </p:nvSpPr>
        <p:spPr>
          <a:xfrm>
            <a:off x="6096001" y="5235177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나의 구현 내용</a:t>
            </a:r>
            <a:endParaRPr lang="en-US" altLang="ko-KR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802D-994C-46BB-8F06-E3B54DD130A8}"/>
              </a:ext>
            </a:extLst>
          </p:cNvPr>
          <p:cNvSpPr txBox="1"/>
          <p:nvPr/>
        </p:nvSpPr>
        <p:spPr>
          <a:xfrm>
            <a:off x="6116831" y="5604509"/>
            <a:ext cx="5766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⨀ 음식점 등록 및 </a:t>
            </a:r>
            <a:r>
              <a:rPr lang="ko-KR" altLang="en-US" sz="1200" dirty="0" err="1"/>
              <a:t>메뉴판</a:t>
            </a:r>
            <a:r>
              <a:rPr lang="ko-KR" altLang="en-US" sz="1200" dirty="0"/>
              <a:t> </a:t>
            </a:r>
            <a:r>
              <a:rPr lang="en-US" altLang="ko-KR" sz="1200" dirty="0"/>
              <a:t>API </a:t>
            </a:r>
            <a:r>
              <a:rPr lang="ko-KR" altLang="en-US" sz="1200" dirty="0"/>
              <a:t>작성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로그인 기능 구현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</a:t>
            </a:r>
            <a:r>
              <a:rPr lang="en-US" altLang="ko-KR" sz="1200" dirty="0"/>
              <a:t>Git Fork, Git-Flow </a:t>
            </a:r>
            <a:r>
              <a:rPr lang="ko-KR" altLang="en-US" sz="1200" dirty="0"/>
              <a:t>적용</a:t>
            </a:r>
            <a:endParaRPr lang="en-US" altLang="ko-KR" sz="12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2842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1231B8-EF14-414A-AC59-EA7768C23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30" y="773922"/>
            <a:ext cx="5004506" cy="1445557"/>
          </a:xfrm>
          <a:prstGeom prst="rect">
            <a:avLst/>
          </a:prstGeom>
        </p:spPr>
      </p:pic>
      <p:sp>
        <p:nvSpPr>
          <p:cNvPr id="4" name="object 6">
            <a:extLst>
              <a:ext uri="{FF2B5EF4-FFF2-40B4-BE49-F238E27FC236}">
                <a16:creationId xmlns:a16="http://schemas.microsoft.com/office/drawing/2014/main" id="{A545290D-3CA4-4FA2-95E8-9278EA4D17BD}"/>
              </a:ext>
            </a:extLst>
          </p:cNvPr>
          <p:cNvSpPr/>
          <p:nvPr/>
        </p:nvSpPr>
        <p:spPr>
          <a:xfrm>
            <a:off x="6120113" y="379232"/>
            <a:ext cx="127155" cy="121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2E3D-6DE0-4E9E-84B2-A115D86CD670}"/>
              </a:ext>
            </a:extLst>
          </p:cNvPr>
          <p:cNvSpPr txBox="1"/>
          <p:nvPr/>
        </p:nvSpPr>
        <p:spPr>
          <a:xfrm>
            <a:off x="6335266" y="255095"/>
            <a:ext cx="524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0D144-5A52-4928-B643-7010AFB681FA}"/>
              </a:ext>
            </a:extLst>
          </p:cNvPr>
          <p:cNvSpPr txBox="1"/>
          <p:nvPr/>
        </p:nvSpPr>
        <p:spPr>
          <a:xfrm>
            <a:off x="6247267" y="712689"/>
            <a:ext cx="576680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Http Header</a:t>
            </a:r>
            <a:r>
              <a:rPr lang="ko-KR" altLang="en-US" sz="1200" b="1" dirty="0"/>
              <a:t>와 미들웨어를 사용하여 유효성 검사</a:t>
            </a:r>
            <a:endParaRPr lang="en-US" altLang="ko-KR" sz="1200" b="1" dirty="0"/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100" dirty="0"/>
              <a:t>HTTP header</a:t>
            </a:r>
            <a:r>
              <a:rPr lang="ko-KR" altLang="en-US" sz="1100" dirty="0"/>
              <a:t>를 사용하여 클라이언트로부터 </a:t>
            </a:r>
            <a:r>
              <a:rPr lang="en-US" altLang="ko-KR" sz="1100" dirty="0" err="1"/>
              <a:t>store_id</a:t>
            </a:r>
            <a:r>
              <a:rPr lang="ko-KR" altLang="en-US" sz="1100" dirty="0"/>
              <a:t>와 </a:t>
            </a:r>
            <a:r>
              <a:rPr lang="en-US" altLang="ko-KR" sz="1100" dirty="0"/>
              <a:t>JWT(</a:t>
            </a:r>
            <a:r>
              <a:rPr lang="ko-KR" altLang="en-US" sz="1100" dirty="0"/>
              <a:t>토큰</a:t>
            </a:r>
            <a:r>
              <a:rPr lang="en-US" altLang="ko-KR" sz="1100" dirty="0"/>
              <a:t>)</a:t>
            </a:r>
            <a:r>
              <a:rPr lang="ko-KR" altLang="en-US" sz="1100" dirty="0"/>
              <a:t>을 받아옵니다</a:t>
            </a:r>
            <a:r>
              <a:rPr lang="en-US" altLang="ko-KR" sz="1100" dirty="0"/>
              <a:t>.</a:t>
            </a:r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r>
              <a:rPr lang="en-US" altLang="ko-KR" sz="1100" dirty="0"/>
              <a:t>JWT(</a:t>
            </a:r>
            <a:r>
              <a:rPr lang="ko-KR" altLang="en-US" sz="1100" dirty="0"/>
              <a:t>토큰</a:t>
            </a:r>
            <a:r>
              <a:rPr lang="en-US" altLang="ko-KR" sz="1100" dirty="0"/>
              <a:t>)</a:t>
            </a:r>
            <a:r>
              <a:rPr lang="ko-KR" altLang="en-US" sz="1100" dirty="0"/>
              <a:t>에서 </a:t>
            </a:r>
            <a:r>
              <a:rPr lang="en-US" altLang="ko-KR" sz="1100" dirty="0" err="1"/>
              <a:t>user_id</a:t>
            </a:r>
            <a:r>
              <a:rPr lang="ko-KR" altLang="en-US" sz="1100" dirty="0"/>
              <a:t>를 추출하여 해당 </a:t>
            </a:r>
            <a:r>
              <a:rPr lang="en-US" altLang="ko-KR" sz="1100" dirty="0"/>
              <a:t>user</a:t>
            </a:r>
            <a:r>
              <a:rPr lang="ko-KR" altLang="en-US" sz="1100" dirty="0"/>
              <a:t>가 </a:t>
            </a:r>
            <a:r>
              <a:rPr lang="en-US" altLang="ko-KR" sz="1100" dirty="0"/>
              <a:t>header</a:t>
            </a:r>
            <a:r>
              <a:rPr lang="ko-KR" altLang="en-US" sz="1100" dirty="0"/>
              <a:t>에 들어있는 </a:t>
            </a:r>
            <a:r>
              <a:rPr lang="en-US" altLang="ko-KR" sz="1100" dirty="0" err="1"/>
              <a:t>store_id</a:t>
            </a:r>
            <a:r>
              <a:rPr lang="ko-KR" altLang="en-US" sz="1100" dirty="0"/>
              <a:t>를 </a:t>
            </a:r>
            <a:r>
              <a:rPr lang="en-US" altLang="ko-KR" sz="1100" dirty="0"/>
              <a:t>pk</a:t>
            </a:r>
            <a:r>
              <a:rPr lang="ko-KR" altLang="en-US" sz="1100" dirty="0"/>
              <a:t>로 갖는 </a:t>
            </a:r>
            <a:r>
              <a:rPr lang="en-US" altLang="ko-KR" sz="1100" dirty="0"/>
              <a:t>store</a:t>
            </a:r>
            <a:r>
              <a:rPr lang="ko-KR" altLang="en-US" sz="1100" dirty="0"/>
              <a:t>에 접근 권한이 있는지 확인합니다</a:t>
            </a:r>
            <a:r>
              <a:rPr lang="en-US" altLang="ko-KR" sz="1100" dirty="0"/>
              <a:t>.</a:t>
            </a:r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권한이 있다면 </a:t>
            </a:r>
            <a:r>
              <a:rPr lang="en-US" altLang="ko-KR" sz="1100" dirty="0"/>
              <a:t>user</a:t>
            </a:r>
            <a:r>
              <a:rPr lang="ko-KR" altLang="en-US" sz="1100" dirty="0"/>
              <a:t>는 해당 음식점의 메뉴 삭제</a:t>
            </a:r>
            <a:r>
              <a:rPr lang="en-US" altLang="ko-KR" sz="1100" dirty="0"/>
              <a:t>, </a:t>
            </a:r>
            <a:r>
              <a:rPr lang="ko-KR" altLang="en-US" sz="1100" dirty="0"/>
              <a:t>옵션 변경 등 음식점의 세부사항을 변경할 수 있습니다</a:t>
            </a:r>
            <a:r>
              <a:rPr lang="en-US" altLang="ko-KR" sz="1100" dirty="0"/>
              <a:t>.</a:t>
            </a:r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권한이 없다면 해당 로직을 이용할 수 없습니다</a:t>
            </a:r>
            <a:r>
              <a:rPr lang="en-US" altLang="ko-KR" sz="11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4AA78-5634-4ABD-9C2B-FA205AAF2888}"/>
              </a:ext>
            </a:extLst>
          </p:cNvPr>
          <p:cNvSpPr txBox="1"/>
          <p:nvPr/>
        </p:nvSpPr>
        <p:spPr>
          <a:xfrm>
            <a:off x="6313896" y="379082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JWT</a:t>
            </a:r>
            <a:r>
              <a:rPr lang="ko-KR" altLang="en-US" b="1" dirty="0"/>
              <a:t> 인증 사용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08083-D226-4FD5-8E5F-6CD98967450A}"/>
              </a:ext>
            </a:extLst>
          </p:cNvPr>
          <p:cNvSpPr txBox="1"/>
          <p:nvPr/>
        </p:nvSpPr>
        <p:spPr>
          <a:xfrm>
            <a:off x="6313896" y="4286323"/>
            <a:ext cx="576680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Refresh Token</a:t>
            </a:r>
            <a:r>
              <a:rPr lang="ko-KR" altLang="en-US" sz="1200" dirty="0"/>
              <a:t>의 저장위치는 </a:t>
            </a:r>
            <a:r>
              <a:rPr lang="en-US" altLang="ko-KR" sz="1200" dirty="0"/>
              <a:t>DB</a:t>
            </a:r>
            <a:r>
              <a:rPr lang="ko-KR" altLang="en-US" sz="1200" dirty="0"/>
              <a:t>로 하였습니다</a:t>
            </a:r>
            <a:endParaRPr lang="en-US" altLang="ko-KR" sz="1200" dirty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Response </a:t>
            </a:r>
            <a:r>
              <a:rPr lang="ko-KR" altLang="en-US" sz="1200" dirty="0"/>
              <a:t>값으로 </a:t>
            </a:r>
            <a:r>
              <a:rPr lang="en-US" altLang="ko-KR" sz="1200" dirty="0"/>
              <a:t>Access token</a:t>
            </a:r>
            <a:r>
              <a:rPr lang="ko-KR" altLang="en-US" sz="1200" dirty="0"/>
              <a:t>과 </a:t>
            </a:r>
            <a:r>
              <a:rPr lang="en-US" altLang="ko-KR" sz="1200" dirty="0"/>
              <a:t>Refresh token</a:t>
            </a:r>
            <a:r>
              <a:rPr lang="ko-KR" altLang="en-US" sz="1200" dirty="0"/>
              <a:t>을 반환합니다</a:t>
            </a:r>
            <a:r>
              <a:rPr lang="en-US" altLang="ko-KR" sz="1200" dirty="0"/>
              <a:t>. 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Refresh token</a:t>
            </a:r>
            <a:r>
              <a:rPr lang="ko-KR" altLang="en-US" sz="1200" dirty="0"/>
              <a:t>의 유효성 검사는 토큰의 유효시간을 확인합니다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로그아웃을 하면 </a:t>
            </a:r>
            <a:r>
              <a:rPr lang="en-US" altLang="ko-KR" sz="1200" dirty="0"/>
              <a:t>Refresh Token</a:t>
            </a:r>
            <a:r>
              <a:rPr lang="ko-KR" altLang="en-US" sz="1200" dirty="0"/>
              <a:t>을 무효화 시킵니다</a:t>
            </a:r>
            <a:r>
              <a:rPr lang="en-US" altLang="ko-KR" sz="1200" dirty="0"/>
              <a:t>.</a:t>
            </a:r>
          </a:p>
          <a:p>
            <a:r>
              <a:rPr lang="en-US" altLang="ko-KR" sz="900" dirty="0"/>
              <a:t> 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F2FF74-54BD-4DF7-AFC3-8559026B5F9A}"/>
              </a:ext>
            </a:extLst>
          </p:cNvPr>
          <p:cNvSpPr/>
          <p:nvPr/>
        </p:nvSpPr>
        <p:spPr>
          <a:xfrm>
            <a:off x="312826" y="2773266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9A8AB30-3F88-42CD-81D9-215589A6D62C}"/>
              </a:ext>
            </a:extLst>
          </p:cNvPr>
          <p:cNvCxnSpPr>
            <a:cxnSpLocks/>
          </p:cNvCxnSpPr>
          <p:nvPr/>
        </p:nvCxnSpPr>
        <p:spPr>
          <a:xfrm>
            <a:off x="916537" y="3225388"/>
            <a:ext cx="2495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18F613F-EB1F-4BFE-847A-4334F108C6AE}"/>
              </a:ext>
            </a:extLst>
          </p:cNvPr>
          <p:cNvSpPr txBox="1"/>
          <p:nvPr/>
        </p:nvSpPr>
        <p:spPr>
          <a:xfrm>
            <a:off x="397128" y="2844604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CLIENT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72B1F-6B80-4291-8A15-E9FC1249F175}"/>
              </a:ext>
            </a:extLst>
          </p:cNvPr>
          <p:cNvSpPr txBox="1"/>
          <p:nvPr/>
        </p:nvSpPr>
        <p:spPr>
          <a:xfrm>
            <a:off x="1928393" y="2990235"/>
            <a:ext cx="21441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로그인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14F0017-020E-4976-99B9-40C5D4D84687}"/>
              </a:ext>
            </a:extLst>
          </p:cNvPr>
          <p:cNvCxnSpPr>
            <a:cxnSpLocks/>
          </p:cNvCxnSpPr>
          <p:nvPr/>
        </p:nvCxnSpPr>
        <p:spPr>
          <a:xfrm>
            <a:off x="1517626" y="4660824"/>
            <a:ext cx="1852305" cy="1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B988BB6-B96E-4754-ACF4-AA2C8A1A4676}"/>
              </a:ext>
            </a:extLst>
          </p:cNvPr>
          <p:cNvCxnSpPr>
            <a:cxnSpLocks/>
          </p:cNvCxnSpPr>
          <p:nvPr/>
        </p:nvCxnSpPr>
        <p:spPr>
          <a:xfrm>
            <a:off x="1499678" y="5415052"/>
            <a:ext cx="1843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75056B8-1E8C-451F-9B51-47277FD83441}"/>
              </a:ext>
            </a:extLst>
          </p:cNvPr>
          <p:cNvCxnSpPr>
            <a:cxnSpLocks/>
          </p:cNvCxnSpPr>
          <p:nvPr/>
        </p:nvCxnSpPr>
        <p:spPr>
          <a:xfrm>
            <a:off x="3572364" y="3834046"/>
            <a:ext cx="1864643" cy="3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BC1E173-1F7D-4A17-8A10-69276C5A2BE2}"/>
              </a:ext>
            </a:extLst>
          </p:cNvPr>
          <p:cNvCxnSpPr>
            <a:cxnSpLocks/>
          </p:cNvCxnSpPr>
          <p:nvPr/>
        </p:nvCxnSpPr>
        <p:spPr>
          <a:xfrm flipH="1">
            <a:off x="874780" y="3838136"/>
            <a:ext cx="2495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82ADBD5-6E00-4B1D-A4CC-EC1DA74A1DBB}"/>
              </a:ext>
            </a:extLst>
          </p:cNvPr>
          <p:cNvCxnSpPr>
            <a:cxnSpLocks/>
          </p:cNvCxnSpPr>
          <p:nvPr/>
        </p:nvCxnSpPr>
        <p:spPr>
          <a:xfrm flipH="1">
            <a:off x="1466868" y="4952726"/>
            <a:ext cx="1903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388393E-0002-4714-BCE2-31AD8B4B24B9}"/>
              </a:ext>
            </a:extLst>
          </p:cNvPr>
          <p:cNvSpPr txBox="1"/>
          <p:nvPr/>
        </p:nvSpPr>
        <p:spPr>
          <a:xfrm>
            <a:off x="1231156" y="3621227"/>
            <a:ext cx="18659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</a:t>
            </a:r>
            <a:r>
              <a:rPr lang="en-US" altLang="ko-KR" sz="800" dirty="0"/>
              <a:t>Refresh token </a:t>
            </a:r>
            <a:r>
              <a:rPr lang="ko-KR" altLang="en-US" sz="800" dirty="0"/>
              <a:t>반환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7B4CCE-B9CD-4445-A8E0-CA92748937D2}"/>
              </a:ext>
            </a:extLst>
          </p:cNvPr>
          <p:cNvSpPr txBox="1"/>
          <p:nvPr/>
        </p:nvSpPr>
        <p:spPr>
          <a:xfrm>
            <a:off x="1359595" y="4446441"/>
            <a:ext cx="2195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함께 원하는 로직 요청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64D2EB-5269-4F11-A3C8-74584E4D35A2}"/>
              </a:ext>
            </a:extLst>
          </p:cNvPr>
          <p:cNvSpPr txBox="1"/>
          <p:nvPr/>
        </p:nvSpPr>
        <p:spPr>
          <a:xfrm>
            <a:off x="1553659" y="4737282"/>
            <a:ext cx="22216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로직 수행 후 </a:t>
            </a:r>
            <a:r>
              <a:rPr lang="en-US" altLang="ko-KR" sz="800" dirty="0"/>
              <a:t>response </a:t>
            </a:r>
            <a:r>
              <a:rPr lang="ko-KR" altLang="en-US" sz="800" dirty="0"/>
              <a:t>반환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FE7C44-683F-41D6-85F7-3422BE4D35BA}"/>
              </a:ext>
            </a:extLst>
          </p:cNvPr>
          <p:cNvSpPr txBox="1"/>
          <p:nvPr/>
        </p:nvSpPr>
        <p:spPr>
          <a:xfrm>
            <a:off x="1874340" y="5200300"/>
            <a:ext cx="11388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Refresh Token</a:t>
            </a:r>
            <a:r>
              <a:rPr lang="ko-KR" altLang="en-US" sz="800" dirty="0"/>
              <a:t> 보냄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022745-CA87-4756-A736-1A42FB412CB8}"/>
              </a:ext>
            </a:extLst>
          </p:cNvPr>
          <p:cNvSpPr txBox="1"/>
          <p:nvPr/>
        </p:nvSpPr>
        <p:spPr>
          <a:xfrm>
            <a:off x="1548635" y="6485326"/>
            <a:ext cx="2323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</a:t>
            </a:r>
            <a:r>
              <a:rPr lang="en-US" altLang="ko-KR" sz="800" dirty="0"/>
              <a:t>Refresh token</a:t>
            </a:r>
            <a:r>
              <a:rPr lang="ko-KR" altLang="en-US" sz="800" dirty="0"/>
              <a:t> 반환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45C855-2A98-4F4F-A168-1D38762833CA}"/>
              </a:ext>
            </a:extLst>
          </p:cNvPr>
          <p:cNvSpPr txBox="1"/>
          <p:nvPr/>
        </p:nvSpPr>
        <p:spPr>
          <a:xfrm>
            <a:off x="3712303" y="3610280"/>
            <a:ext cx="1647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DB</a:t>
            </a:r>
            <a:r>
              <a:rPr lang="ko-KR" altLang="en-US" sz="800" dirty="0">
                <a:solidFill>
                  <a:schemeClr val="tx1"/>
                </a:solidFill>
              </a:rPr>
              <a:t>에 </a:t>
            </a:r>
            <a:r>
              <a:rPr lang="en-US" altLang="ko-KR" sz="800" dirty="0">
                <a:solidFill>
                  <a:schemeClr val="tx1"/>
                </a:solidFill>
              </a:rPr>
              <a:t>refresh token </a:t>
            </a:r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7EC3059-A0FE-4EEE-A84D-1469DA4E2B97}"/>
              </a:ext>
            </a:extLst>
          </p:cNvPr>
          <p:cNvCxnSpPr>
            <a:cxnSpLocks/>
          </p:cNvCxnSpPr>
          <p:nvPr/>
        </p:nvCxnSpPr>
        <p:spPr>
          <a:xfrm>
            <a:off x="3487857" y="5536501"/>
            <a:ext cx="1904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D552E2D-DB8B-428D-8439-7D870E86F0B8}"/>
              </a:ext>
            </a:extLst>
          </p:cNvPr>
          <p:cNvSpPr txBox="1"/>
          <p:nvPr/>
        </p:nvSpPr>
        <p:spPr>
          <a:xfrm>
            <a:off x="3242693" y="5333714"/>
            <a:ext cx="23046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Refresh token ‘select </a:t>
            </a:r>
            <a:r>
              <a:rPr lang="ko-KR" altLang="en-US" sz="800" dirty="0"/>
              <a:t>요청</a:t>
            </a:r>
            <a:r>
              <a:rPr lang="en-US" altLang="ko-KR" sz="800" dirty="0"/>
              <a:t>’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E99E567-6F4A-4034-A57B-F27A563B57E4}"/>
              </a:ext>
            </a:extLst>
          </p:cNvPr>
          <p:cNvSpPr/>
          <p:nvPr/>
        </p:nvSpPr>
        <p:spPr>
          <a:xfrm>
            <a:off x="3128511" y="2774153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804700-0ACD-44EE-9688-CD628F231871}"/>
              </a:ext>
            </a:extLst>
          </p:cNvPr>
          <p:cNvSpPr txBox="1"/>
          <p:nvPr/>
        </p:nvSpPr>
        <p:spPr>
          <a:xfrm>
            <a:off x="3242693" y="2850701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Server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B2CB53-59DE-4F38-9319-310C97C61075}"/>
              </a:ext>
            </a:extLst>
          </p:cNvPr>
          <p:cNvSpPr/>
          <p:nvPr/>
        </p:nvSpPr>
        <p:spPr>
          <a:xfrm>
            <a:off x="5140005" y="2780043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BC83AB-A5A1-4CCE-9CBE-E4E0DFB95EDF}"/>
              </a:ext>
            </a:extLst>
          </p:cNvPr>
          <p:cNvSpPr txBox="1"/>
          <p:nvPr/>
        </p:nvSpPr>
        <p:spPr>
          <a:xfrm>
            <a:off x="5360937" y="2844604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DB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FACC415-DD06-4024-8D8F-26CA7B151557}"/>
              </a:ext>
            </a:extLst>
          </p:cNvPr>
          <p:cNvCxnSpPr>
            <a:cxnSpLocks/>
          </p:cNvCxnSpPr>
          <p:nvPr/>
        </p:nvCxnSpPr>
        <p:spPr>
          <a:xfrm flipH="1">
            <a:off x="622875" y="3142596"/>
            <a:ext cx="33729" cy="3641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2927674-36F1-4A75-A7EF-BFAC6F2D8E0F}"/>
              </a:ext>
            </a:extLst>
          </p:cNvPr>
          <p:cNvCxnSpPr>
            <a:cxnSpLocks/>
          </p:cNvCxnSpPr>
          <p:nvPr/>
        </p:nvCxnSpPr>
        <p:spPr>
          <a:xfrm flipH="1">
            <a:off x="3449119" y="3149373"/>
            <a:ext cx="37303" cy="36348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3373778-024F-436D-B2D3-EB925500FEFB}"/>
              </a:ext>
            </a:extLst>
          </p:cNvPr>
          <p:cNvCxnSpPr>
            <a:cxnSpLocks/>
          </p:cNvCxnSpPr>
          <p:nvPr/>
        </p:nvCxnSpPr>
        <p:spPr>
          <a:xfrm flipH="1">
            <a:off x="5472030" y="3142595"/>
            <a:ext cx="37303" cy="3641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B26972A-E740-414B-B294-C15C0F06D364}"/>
              </a:ext>
            </a:extLst>
          </p:cNvPr>
          <p:cNvSpPr/>
          <p:nvPr/>
        </p:nvSpPr>
        <p:spPr>
          <a:xfrm>
            <a:off x="340809" y="4016733"/>
            <a:ext cx="5545956" cy="2937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01F07C-58A0-4387-BD9D-D735B2794A92}"/>
              </a:ext>
            </a:extLst>
          </p:cNvPr>
          <p:cNvSpPr txBox="1"/>
          <p:nvPr/>
        </p:nvSpPr>
        <p:spPr>
          <a:xfrm>
            <a:off x="1073179" y="4039197"/>
            <a:ext cx="7197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로그인 이후 </a:t>
            </a:r>
            <a:r>
              <a:rPr lang="en-US" altLang="ko-KR" sz="1000" dirty="0"/>
              <a:t>Access token</a:t>
            </a:r>
            <a:r>
              <a:rPr lang="ko-KR" altLang="en-US" sz="1000" dirty="0"/>
              <a:t>의 유효성에 따라 </a:t>
            </a:r>
            <a:r>
              <a:rPr lang="en-US" altLang="ko-KR" sz="1000" dirty="0"/>
              <a:t>2</a:t>
            </a:r>
            <a:r>
              <a:rPr lang="ko-KR" altLang="en-US" sz="1000" dirty="0"/>
              <a:t>가지의 상황이 발생한다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56EE5DF-ABE4-480E-A791-7A4D5156F472}"/>
              </a:ext>
            </a:extLst>
          </p:cNvPr>
          <p:cNvSpPr/>
          <p:nvPr/>
        </p:nvSpPr>
        <p:spPr>
          <a:xfrm>
            <a:off x="2519024" y="5953715"/>
            <a:ext cx="2011585" cy="483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500238-20FC-4F6B-A9E2-ED6390FAD625}"/>
              </a:ext>
            </a:extLst>
          </p:cNvPr>
          <p:cNvSpPr txBox="1"/>
          <p:nvPr/>
        </p:nvSpPr>
        <p:spPr>
          <a:xfrm>
            <a:off x="2661833" y="6011154"/>
            <a:ext cx="2996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Refresh token</a:t>
            </a:r>
            <a:r>
              <a:rPr lang="ko-KR" altLang="en-US" sz="800" dirty="0"/>
              <a:t>의 유효성 검사 및</a:t>
            </a:r>
            <a:endParaRPr lang="en-US" altLang="ko-KR" sz="800" dirty="0"/>
          </a:p>
          <a:p>
            <a:r>
              <a:rPr lang="en-US" altLang="ko-KR" sz="800" dirty="0" err="1"/>
              <a:t>Aceess</a:t>
            </a:r>
            <a:r>
              <a:rPr lang="ko-KR" altLang="en-US" sz="800" dirty="0"/>
              <a:t> </a:t>
            </a:r>
            <a:r>
              <a:rPr lang="en-US" altLang="ko-KR" sz="800" dirty="0"/>
              <a:t>token,</a:t>
            </a:r>
            <a:r>
              <a:rPr lang="ko-KR" altLang="en-US" sz="800" dirty="0"/>
              <a:t> </a:t>
            </a:r>
            <a:r>
              <a:rPr lang="en-US" altLang="ko-KR" sz="800" dirty="0"/>
              <a:t>refresh token </a:t>
            </a:r>
            <a:r>
              <a:rPr lang="ko-KR" altLang="en-US" sz="800" dirty="0"/>
              <a:t>재발급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BC0AC0C-58E4-4CD5-8871-63D2BF153C07}"/>
              </a:ext>
            </a:extLst>
          </p:cNvPr>
          <p:cNvCxnSpPr>
            <a:cxnSpLocks/>
          </p:cNvCxnSpPr>
          <p:nvPr/>
        </p:nvCxnSpPr>
        <p:spPr>
          <a:xfrm flipH="1">
            <a:off x="1397239" y="6678550"/>
            <a:ext cx="20115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85B0B5F-2A26-4AE2-AEB8-6D6923DD7932}"/>
              </a:ext>
            </a:extLst>
          </p:cNvPr>
          <p:cNvSpPr/>
          <p:nvPr/>
        </p:nvSpPr>
        <p:spPr>
          <a:xfrm>
            <a:off x="733474" y="5282109"/>
            <a:ext cx="612442" cy="1460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7DFFE8-A026-4FF1-87F9-1451AAA264C2}"/>
              </a:ext>
            </a:extLst>
          </p:cNvPr>
          <p:cNvSpPr txBox="1"/>
          <p:nvPr/>
        </p:nvSpPr>
        <p:spPr>
          <a:xfrm>
            <a:off x="740294" y="5682880"/>
            <a:ext cx="80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상황 </a:t>
            </a:r>
            <a:r>
              <a:rPr lang="en-US" altLang="ko-KR" sz="1000" dirty="0"/>
              <a:t>B</a:t>
            </a:r>
          </a:p>
          <a:p>
            <a:r>
              <a:rPr lang="en-US" altLang="ko-KR" sz="1000" dirty="0"/>
              <a:t>Access token </a:t>
            </a:r>
          </a:p>
          <a:p>
            <a:r>
              <a:rPr lang="ko-KR" altLang="en-US" sz="1000" dirty="0"/>
              <a:t>유효</a:t>
            </a:r>
            <a:r>
              <a:rPr lang="en-US" altLang="ko-KR" sz="1000" dirty="0"/>
              <a:t>x</a:t>
            </a:r>
            <a:endParaRPr lang="ko-KR" altLang="en-US" sz="10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E46C643-941D-4BE7-8C47-0F82854FD958}"/>
              </a:ext>
            </a:extLst>
          </p:cNvPr>
          <p:cNvCxnSpPr>
            <a:cxnSpLocks/>
          </p:cNvCxnSpPr>
          <p:nvPr/>
        </p:nvCxnSpPr>
        <p:spPr>
          <a:xfrm flipH="1">
            <a:off x="3494670" y="5876340"/>
            <a:ext cx="1897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D9CEC72-13DE-417C-BD41-E66BC3EA41D4}"/>
              </a:ext>
            </a:extLst>
          </p:cNvPr>
          <p:cNvSpPr txBox="1"/>
          <p:nvPr/>
        </p:nvSpPr>
        <p:spPr>
          <a:xfrm>
            <a:off x="3750034" y="5579208"/>
            <a:ext cx="1572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로그아웃이 되어 있지 않다면 </a:t>
            </a:r>
            <a:endParaRPr lang="en-US" altLang="ko-KR" sz="800" dirty="0"/>
          </a:p>
          <a:p>
            <a:pPr algn="ctr"/>
            <a:r>
              <a:rPr lang="en-US" altLang="ko-KR" sz="800" dirty="0"/>
              <a:t>Refresh token </a:t>
            </a:r>
            <a:r>
              <a:rPr lang="ko-KR" altLang="en-US" sz="800" dirty="0"/>
              <a:t>반환</a:t>
            </a:r>
          </a:p>
        </p:txBody>
      </p:sp>
      <p:sp>
        <p:nvSpPr>
          <p:cNvPr id="79" name="object 6">
            <a:extLst>
              <a:ext uri="{FF2B5EF4-FFF2-40B4-BE49-F238E27FC236}">
                <a16:creationId xmlns:a16="http://schemas.microsoft.com/office/drawing/2014/main" id="{4F544C21-56AA-4A5C-80E1-69AA06A445D6}"/>
              </a:ext>
            </a:extLst>
          </p:cNvPr>
          <p:cNvSpPr/>
          <p:nvPr/>
        </p:nvSpPr>
        <p:spPr>
          <a:xfrm>
            <a:off x="6095183" y="3890036"/>
            <a:ext cx="127155" cy="121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933DD7C-74D0-492B-900B-898CEFBE2103}"/>
              </a:ext>
            </a:extLst>
          </p:cNvPr>
          <p:cNvSpPr/>
          <p:nvPr/>
        </p:nvSpPr>
        <p:spPr>
          <a:xfrm>
            <a:off x="731638" y="4414091"/>
            <a:ext cx="612442" cy="8112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C1E80B-0FA8-4E09-8EA9-A1C7C5406C28}"/>
              </a:ext>
            </a:extLst>
          </p:cNvPr>
          <p:cNvSpPr txBox="1"/>
          <p:nvPr/>
        </p:nvSpPr>
        <p:spPr>
          <a:xfrm>
            <a:off x="772056" y="4461223"/>
            <a:ext cx="80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상황 </a:t>
            </a:r>
            <a:r>
              <a:rPr lang="en-US" altLang="ko-KR" sz="1000" dirty="0"/>
              <a:t>A</a:t>
            </a:r>
          </a:p>
          <a:p>
            <a:r>
              <a:rPr lang="en-US" altLang="ko-KR" sz="1000" dirty="0"/>
              <a:t>Access token </a:t>
            </a:r>
          </a:p>
          <a:p>
            <a:r>
              <a:rPr lang="ko-KR" altLang="en-US" sz="1000" dirty="0"/>
              <a:t>유효 </a:t>
            </a:r>
            <a:r>
              <a:rPr lang="en-US" altLang="ko-KR" sz="1000" dirty="0"/>
              <a:t>o</a:t>
            </a:r>
            <a:endParaRPr lang="ko-KR" altLang="en-US" sz="100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921F717-3BC9-492F-A8B1-2F6FC2339111}"/>
              </a:ext>
            </a:extLst>
          </p:cNvPr>
          <p:cNvCxnSpPr>
            <a:cxnSpLocks/>
          </p:cNvCxnSpPr>
          <p:nvPr/>
        </p:nvCxnSpPr>
        <p:spPr>
          <a:xfrm>
            <a:off x="3493391" y="6669030"/>
            <a:ext cx="1864643" cy="3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65BCF5C-F163-481F-86F3-E5C378DC93FF}"/>
              </a:ext>
            </a:extLst>
          </p:cNvPr>
          <p:cNvSpPr txBox="1"/>
          <p:nvPr/>
        </p:nvSpPr>
        <p:spPr>
          <a:xfrm>
            <a:off x="3597055" y="6472973"/>
            <a:ext cx="16637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DB</a:t>
            </a:r>
            <a:r>
              <a:rPr lang="ko-KR" altLang="en-US" sz="800" dirty="0">
                <a:solidFill>
                  <a:schemeClr val="tx1"/>
                </a:solidFill>
              </a:rPr>
              <a:t>에 </a:t>
            </a:r>
            <a:r>
              <a:rPr lang="en-US" altLang="ko-KR" sz="800" dirty="0">
                <a:solidFill>
                  <a:schemeClr val="tx1"/>
                </a:solidFill>
              </a:rPr>
              <a:t>refresh token </a:t>
            </a:r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531155D-331E-4371-BCD7-11EB65153757}"/>
              </a:ext>
            </a:extLst>
          </p:cNvPr>
          <p:cNvSpPr/>
          <p:nvPr/>
        </p:nvSpPr>
        <p:spPr>
          <a:xfrm>
            <a:off x="2660808" y="3335968"/>
            <a:ext cx="1663419" cy="250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B42709-213A-4885-98EE-70E05156280C}"/>
              </a:ext>
            </a:extLst>
          </p:cNvPr>
          <p:cNvSpPr txBox="1"/>
          <p:nvPr/>
        </p:nvSpPr>
        <p:spPr>
          <a:xfrm>
            <a:off x="2660808" y="3360865"/>
            <a:ext cx="29968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</a:t>
            </a:r>
            <a:r>
              <a:rPr lang="ko-KR" altLang="en-US" sz="800" dirty="0"/>
              <a:t> </a:t>
            </a:r>
            <a:r>
              <a:rPr lang="en-US" altLang="ko-KR" sz="800" dirty="0"/>
              <a:t>token,</a:t>
            </a:r>
            <a:r>
              <a:rPr lang="ko-KR" altLang="en-US" sz="800" dirty="0"/>
              <a:t> </a:t>
            </a:r>
            <a:r>
              <a:rPr lang="en-US" altLang="ko-KR" sz="800" dirty="0"/>
              <a:t>refresh token </a:t>
            </a:r>
            <a:r>
              <a:rPr lang="ko-KR" altLang="en-US" sz="800" dirty="0"/>
              <a:t>발급</a:t>
            </a:r>
          </a:p>
        </p:txBody>
      </p:sp>
    </p:spTree>
    <p:extLst>
      <p:ext uri="{BB962C8B-B14F-4D97-AF65-F5344CB8AC3E}">
        <p14:creationId xmlns:p14="http://schemas.microsoft.com/office/powerpoint/2010/main" val="259193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E91A0-2471-4BD7-9D1C-6ABE3C9F2579}"/>
              </a:ext>
            </a:extLst>
          </p:cNvPr>
          <p:cNvSpPr txBox="1"/>
          <p:nvPr/>
        </p:nvSpPr>
        <p:spPr>
          <a:xfrm>
            <a:off x="622221" y="485773"/>
            <a:ext cx="561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  <a:r>
              <a:rPr lang="ko-KR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ko-KR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493EB-D5F6-4DB4-BB22-2ADD6AEAEA33}"/>
              </a:ext>
            </a:extLst>
          </p:cNvPr>
          <p:cNvSpPr txBox="1"/>
          <p:nvPr/>
        </p:nvSpPr>
        <p:spPr>
          <a:xfrm>
            <a:off x="622221" y="1282966"/>
            <a:ext cx="50243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프로젝트 명 </a:t>
            </a:r>
            <a:r>
              <a:rPr lang="en-US" altLang="ko-KR" sz="2200" b="1" dirty="0"/>
              <a:t>: </a:t>
            </a:r>
            <a:r>
              <a:rPr lang="ko-KR" altLang="en-US" sz="2200" b="1" dirty="0"/>
              <a:t>숭실대학교 학식 알림이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453229-C69C-46B4-B575-5C14E564D955}"/>
              </a:ext>
            </a:extLst>
          </p:cNvPr>
          <p:cNvSpPr/>
          <p:nvPr/>
        </p:nvSpPr>
        <p:spPr>
          <a:xfrm>
            <a:off x="5977276" y="1166095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6A10-35E7-4DC2-AF2A-FCBF83B159FB}"/>
              </a:ext>
            </a:extLst>
          </p:cNvPr>
          <p:cNvSpPr txBox="1"/>
          <p:nvPr/>
        </p:nvSpPr>
        <p:spPr>
          <a:xfrm>
            <a:off x="6372837" y="1016002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기간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0076C-0F5F-4092-A177-2D82071AB988}"/>
              </a:ext>
            </a:extLst>
          </p:cNvPr>
          <p:cNvSpPr txBox="1"/>
          <p:nvPr/>
        </p:nvSpPr>
        <p:spPr>
          <a:xfrm>
            <a:off x="6393668" y="1385334"/>
            <a:ext cx="234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2021. 11 ~ </a:t>
            </a:r>
            <a:r>
              <a:rPr lang="ko-KR" altLang="en-US" sz="1400" dirty="0"/>
              <a:t>진행 중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3FFE767E-0F5C-46D1-9455-679FDE04FD44}"/>
              </a:ext>
            </a:extLst>
          </p:cNvPr>
          <p:cNvSpPr/>
          <p:nvPr/>
        </p:nvSpPr>
        <p:spPr>
          <a:xfrm>
            <a:off x="5977275" y="2148430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A47425-E295-4884-955F-16710AF06B62}"/>
              </a:ext>
            </a:extLst>
          </p:cNvPr>
          <p:cNvSpPr txBox="1"/>
          <p:nvPr/>
        </p:nvSpPr>
        <p:spPr>
          <a:xfrm>
            <a:off x="6372837" y="1948147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기술 스택</a:t>
            </a:r>
            <a:endParaRPr lang="en-US" altLang="ko-K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D25C7-6AA2-459D-89DC-FE2876FCC063}"/>
              </a:ext>
            </a:extLst>
          </p:cNvPr>
          <p:cNvSpPr txBox="1"/>
          <p:nvPr/>
        </p:nvSpPr>
        <p:spPr>
          <a:xfrm>
            <a:off x="6372837" y="2387446"/>
            <a:ext cx="3892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Java,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Jsoup</a:t>
            </a:r>
            <a:r>
              <a:rPr lang="en-US" altLang="ko-KR" sz="1400" dirty="0"/>
              <a:t>, </a:t>
            </a:r>
            <a:r>
              <a:rPr lang="ko-KR" altLang="en-US" sz="1400" dirty="0"/>
              <a:t>카카오 </a:t>
            </a:r>
            <a:r>
              <a:rPr lang="en-US" altLang="ko-KR" sz="1400" dirty="0"/>
              <a:t>API</a:t>
            </a:r>
            <a:endParaRPr lang="ko-KR" altLang="en-US" sz="1400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39DEE50-AA2F-41D9-AE3A-503F35537DCF}"/>
              </a:ext>
            </a:extLst>
          </p:cNvPr>
          <p:cNvSpPr/>
          <p:nvPr/>
        </p:nvSpPr>
        <p:spPr>
          <a:xfrm>
            <a:off x="5977274" y="3125557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09568-ED4B-474C-B8FC-D8DF923E81CF}"/>
              </a:ext>
            </a:extLst>
          </p:cNvPr>
          <p:cNvSpPr txBox="1"/>
          <p:nvPr/>
        </p:nvSpPr>
        <p:spPr>
          <a:xfrm>
            <a:off x="6393668" y="2962827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개요</a:t>
            </a:r>
            <a:endParaRPr lang="en-US" altLang="ko-KR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88A96-EB2F-45F6-B26D-067646A3588B}"/>
              </a:ext>
            </a:extLst>
          </p:cNvPr>
          <p:cNvSpPr txBox="1"/>
          <p:nvPr/>
        </p:nvSpPr>
        <p:spPr>
          <a:xfrm>
            <a:off x="6372837" y="3350057"/>
            <a:ext cx="5766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웹 </a:t>
            </a:r>
            <a:r>
              <a:rPr lang="ko-KR" altLang="en-US" sz="1200" dirty="0" err="1"/>
              <a:t>크롤링을</a:t>
            </a:r>
            <a:r>
              <a:rPr lang="ko-KR" altLang="en-US" sz="1200" dirty="0"/>
              <a:t> 통해 학식메뉴를 보여주는 카카오톡 </a:t>
            </a:r>
            <a:r>
              <a:rPr lang="ko-KR" altLang="en-US" sz="1200" dirty="0" err="1"/>
              <a:t>챗봇입니다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자동화를 통해 성능을 개선하였습니다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서비스 기획 </a:t>
            </a:r>
            <a:r>
              <a:rPr lang="en-US" altLang="ko-KR" sz="1200" dirty="0"/>
              <a:t>~ </a:t>
            </a:r>
            <a:r>
              <a:rPr lang="ko-KR" altLang="en-US" sz="1200" dirty="0"/>
              <a:t>배포까지의 모든 프로세스에 참여하였습니다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커피를 미리 결재하고 받아 갈 수 있는 원거리 결재 시스템을 개발 중에 있습니다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AADEE6-DBEB-42E0-87F8-D260129E2BA8}"/>
              </a:ext>
            </a:extLst>
          </p:cNvPr>
          <p:cNvSpPr/>
          <p:nvPr/>
        </p:nvSpPr>
        <p:spPr>
          <a:xfrm>
            <a:off x="5978052" y="5133108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02A62-FFDD-4FC0-8B75-67D4CDA6615E}"/>
              </a:ext>
            </a:extLst>
          </p:cNvPr>
          <p:cNvSpPr txBox="1"/>
          <p:nvPr/>
        </p:nvSpPr>
        <p:spPr>
          <a:xfrm>
            <a:off x="6372838" y="5008972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나의 구현 내용</a:t>
            </a:r>
            <a:endParaRPr lang="en-US" altLang="ko-KR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802D-994C-46BB-8F06-E3B54DD130A8}"/>
              </a:ext>
            </a:extLst>
          </p:cNvPr>
          <p:cNvSpPr txBox="1"/>
          <p:nvPr/>
        </p:nvSpPr>
        <p:spPr>
          <a:xfrm>
            <a:off x="6393669" y="5407799"/>
            <a:ext cx="303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⨀ </a:t>
            </a:r>
            <a:r>
              <a:rPr lang="en-US" altLang="ko-KR" sz="1200" dirty="0" err="1"/>
              <a:t>Jsoup</a:t>
            </a:r>
            <a:r>
              <a:rPr lang="en-US" altLang="ko-KR" sz="1200" dirty="0"/>
              <a:t> </a:t>
            </a:r>
            <a:r>
              <a:rPr lang="ko-KR" altLang="en-US" sz="1200" dirty="0"/>
              <a:t>라이브러리를 이용한 웹 </a:t>
            </a:r>
            <a:r>
              <a:rPr lang="ko-KR" altLang="en-US" sz="1200" dirty="0" err="1"/>
              <a:t>크롤링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자동화를 통한 성능 개선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카카오 오픈 </a:t>
            </a:r>
            <a:r>
              <a:rPr lang="ko-KR" altLang="en-US" sz="1200" dirty="0" err="1"/>
              <a:t>빌더</a:t>
            </a:r>
            <a:r>
              <a:rPr lang="ko-KR" altLang="en-US" sz="1200" dirty="0"/>
              <a:t> </a:t>
            </a:r>
            <a:r>
              <a:rPr lang="en-US" altLang="ko-KR" sz="1200" dirty="0"/>
              <a:t>API </a:t>
            </a:r>
            <a:r>
              <a:rPr lang="ko-KR" altLang="en-US" sz="1200" dirty="0"/>
              <a:t>활용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</a:t>
            </a:r>
            <a:r>
              <a:rPr lang="en-US" altLang="ko-KR" sz="1200" dirty="0"/>
              <a:t>Git Fork, Git-Flow </a:t>
            </a:r>
            <a:r>
              <a:rPr lang="ko-KR" altLang="en-US" sz="1200" dirty="0"/>
              <a:t>적용</a:t>
            </a:r>
            <a:endParaRPr lang="en-US" altLang="ko-KR" sz="1200" dirty="0"/>
          </a:p>
          <a:p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96974-5F29-4DDB-986A-79F0CD091C64}"/>
              </a:ext>
            </a:extLst>
          </p:cNvPr>
          <p:cNvSpPr txBox="1"/>
          <p:nvPr/>
        </p:nvSpPr>
        <p:spPr>
          <a:xfrm>
            <a:off x="681697" y="1798387"/>
            <a:ext cx="4272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약 </a:t>
            </a:r>
            <a:r>
              <a:rPr lang="en-US" altLang="ko-KR" sz="1100" dirty="0"/>
              <a:t>1700</a:t>
            </a:r>
            <a:r>
              <a:rPr lang="ko-KR" altLang="en-US" sz="1100" dirty="0"/>
              <a:t>명의 사용자를 보유하고 있는 학식 알림이 서비스입니다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3671E2BC-29BF-438F-8399-C6F6C127A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19" y="2218431"/>
            <a:ext cx="2319315" cy="3943579"/>
          </a:xfrm>
          <a:prstGeom prst="rect">
            <a:avLst/>
          </a:prstGeom>
        </p:spPr>
      </p:pic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D2204507-3F39-437E-BB11-2FE8FBEFBB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98" y="2402297"/>
            <a:ext cx="2172928" cy="375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7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A545290D-3CA4-4FA2-95E8-9278EA4D17BD}"/>
              </a:ext>
            </a:extLst>
          </p:cNvPr>
          <p:cNvSpPr/>
          <p:nvPr/>
        </p:nvSpPr>
        <p:spPr>
          <a:xfrm>
            <a:off x="6019445" y="555401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2E3D-6DE0-4E9E-84B2-A115D86CD670}"/>
              </a:ext>
            </a:extLst>
          </p:cNvPr>
          <p:cNvSpPr txBox="1"/>
          <p:nvPr/>
        </p:nvSpPr>
        <p:spPr>
          <a:xfrm>
            <a:off x="6234598" y="431264"/>
            <a:ext cx="524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 err="1"/>
              <a:t>Jsoup</a:t>
            </a:r>
            <a:r>
              <a:rPr lang="en-US" altLang="ko-KR" sz="1800" b="1" dirty="0"/>
              <a:t> Library</a:t>
            </a:r>
            <a:r>
              <a:rPr lang="ko-KR" altLang="en-US" sz="1800" b="1" dirty="0"/>
              <a:t>를 통한 웹 </a:t>
            </a:r>
            <a:r>
              <a:rPr lang="ko-KR" altLang="en-US" sz="1800" b="1" dirty="0" err="1"/>
              <a:t>크롤링</a:t>
            </a:r>
            <a:endParaRPr lang="en-US" altLang="ko-KR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0D144-5A52-4928-B643-7010AFB681FA}"/>
              </a:ext>
            </a:extLst>
          </p:cNvPr>
          <p:cNvSpPr txBox="1"/>
          <p:nvPr/>
        </p:nvSpPr>
        <p:spPr>
          <a:xfrm>
            <a:off x="6146599" y="888858"/>
            <a:ext cx="57668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학식 데이터를 추출한 후</a:t>
            </a:r>
            <a:r>
              <a:rPr lang="en-US" altLang="ko-KR" sz="1200" b="1" dirty="0"/>
              <a:t>, Json</a:t>
            </a:r>
            <a:r>
              <a:rPr lang="ko-KR" altLang="en-US" sz="1200" b="1" dirty="0"/>
              <a:t>형식의 </a:t>
            </a:r>
            <a:r>
              <a:rPr lang="en-US" altLang="ko-KR" sz="1200" b="1" dirty="0"/>
              <a:t>response</a:t>
            </a:r>
            <a:r>
              <a:rPr lang="ko-KR" altLang="en-US" sz="1200" b="1" dirty="0"/>
              <a:t>를 제공하는 </a:t>
            </a:r>
            <a:r>
              <a:rPr lang="en-US" altLang="ko-KR" sz="1200" b="1" dirty="0"/>
              <a:t>API</a:t>
            </a:r>
            <a:r>
              <a:rPr lang="ko-KR" altLang="en-US" sz="1200" b="1" dirty="0"/>
              <a:t>입니다</a:t>
            </a:r>
            <a:r>
              <a:rPr lang="en-US" altLang="ko-KR" sz="1200" b="1" dirty="0"/>
              <a:t>.</a:t>
            </a:r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URL</a:t>
            </a:r>
            <a:r>
              <a:rPr lang="ko-KR" altLang="en-US" sz="1200" dirty="0"/>
              <a:t>을 통해 해당 사이트에 접근합니다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ko-KR" altLang="en-US" sz="1200" dirty="0"/>
              <a:t>추출하고자 하는 데이터를 </a:t>
            </a:r>
            <a:r>
              <a:rPr lang="en-US" altLang="ko-KR" sz="1200" dirty="0"/>
              <a:t>html</a:t>
            </a:r>
            <a:r>
              <a:rPr lang="ko-KR" altLang="en-US" sz="1200" dirty="0"/>
              <a:t>코드에 맞게 설정합니다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ko-KR" altLang="en-US" sz="1200" dirty="0"/>
              <a:t>데이터를 추출한 후 카카오 </a:t>
            </a:r>
            <a:r>
              <a:rPr lang="ko-KR" altLang="en-US" sz="1200" dirty="0" err="1"/>
              <a:t>챗봇</a:t>
            </a:r>
            <a:r>
              <a:rPr lang="ko-KR" altLang="en-US" sz="1200" dirty="0"/>
              <a:t> </a:t>
            </a:r>
            <a:r>
              <a:rPr lang="en-US" altLang="ko-KR" sz="1200" dirty="0"/>
              <a:t>API</a:t>
            </a:r>
            <a:r>
              <a:rPr lang="ko-KR" altLang="en-US" sz="1200" dirty="0"/>
              <a:t> 형식에 맞는 </a:t>
            </a:r>
            <a:r>
              <a:rPr lang="en-US" altLang="ko-KR" sz="1200" dirty="0"/>
              <a:t>‘JSON Response’</a:t>
            </a:r>
            <a:r>
              <a:rPr lang="ko-KR" altLang="en-US" sz="1200" dirty="0"/>
              <a:t>를 반환합니다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6A7E07D-A067-401C-8FC8-D31E45FBD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27" y="374018"/>
            <a:ext cx="2676088" cy="3174662"/>
          </a:xfrm>
          <a:prstGeom prst="rect">
            <a:avLst/>
          </a:prstGeom>
        </p:spPr>
      </p:pic>
      <p:pic>
        <p:nvPicPr>
          <p:cNvPr id="56" name="그림 55" descr="텍스트이(가) 표시된 사진&#10;&#10;자동 생성된 설명">
            <a:extLst>
              <a:ext uri="{FF2B5EF4-FFF2-40B4-BE49-F238E27FC236}">
                <a16:creationId xmlns:a16="http://schemas.microsoft.com/office/drawing/2014/main" id="{54995D68-913B-4BA6-A106-C9BC22B6DD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814" y="374018"/>
            <a:ext cx="2484533" cy="3174662"/>
          </a:xfrm>
          <a:prstGeom prst="rect">
            <a:avLst/>
          </a:prstGeom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20C5B563-C6B2-4C9C-97DF-67A89993BD55}"/>
              </a:ext>
            </a:extLst>
          </p:cNvPr>
          <p:cNvSpPr/>
          <p:nvPr/>
        </p:nvSpPr>
        <p:spPr>
          <a:xfrm>
            <a:off x="6019445" y="3952453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1D900-F4B9-408C-BBCA-7430E6C3E24C}"/>
              </a:ext>
            </a:extLst>
          </p:cNvPr>
          <p:cNvSpPr txBox="1"/>
          <p:nvPr/>
        </p:nvSpPr>
        <p:spPr>
          <a:xfrm>
            <a:off x="6234598" y="3828316"/>
            <a:ext cx="524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@Scheduled </a:t>
            </a:r>
            <a:r>
              <a:rPr lang="ko-KR" altLang="en-US" sz="1800" b="1" dirty="0" err="1"/>
              <a:t>어노테이션을</a:t>
            </a:r>
            <a:r>
              <a:rPr lang="ko-KR" altLang="en-US" sz="1800" b="1" dirty="0"/>
              <a:t> 통한 자동화</a:t>
            </a:r>
            <a:endParaRPr lang="en-US" altLang="ko-KR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25905-51E5-40DF-9276-A01D5AE50313}"/>
              </a:ext>
            </a:extLst>
          </p:cNvPr>
          <p:cNvSpPr txBox="1"/>
          <p:nvPr/>
        </p:nvSpPr>
        <p:spPr>
          <a:xfrm>
            <a:off x="6146599" y="4294668"/>
            <a:ext cx="576680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문제가 되었던 </a:t>
            </a:r>
            <a:r>
              <a:rPr lang="ko-KR" altLang="en-US" sz="1200" b="1" dirty="0"/>
              <a:t>부분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요청이 들어올 때마다 </a:t>
            </a:r>
            <a:r>
              <a:rPr lang="ko-KR" altLang="en-US" sz="1200" b="1" dirty="0" err="1"/>
              <a:t>크롤링을</a:t>
            </a:r>
            <a:r>
              <a:rPr lang="ko-KR" altLang="en-US" sz="1200" b="1" dirty="0"/>
              <a:t> 하기 때문에 속도가 느림</a:t>
            </a:r>
            <a:endParaRPr lang="en-US" altLang="ko-KR" sz="1200" b="1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해결 방안</a:t>
            </a: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  <a:p>
            <a:endParaRPr lang="en-US" altLang="ko-KR" sz="1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위의 문제를 해결하기 위해 </a:t>
            </a:r>
            <a:r>
              <a:rPr lang="en-US" altLang="ko-KR" sz="1200" dirty="0"/>
              <a:t>@Scheduled </a:t>
            </a:r>
            <a:r>
              <a:rPr lang="ko-KR" altLang="en-US" sz="1200" dirty="0" err="1"/>
              <a:t>어노테이션을</a:t>
            </a:r>
            <a:r>
              <a:rPr lang="ko-KR" altLang="en-US" sz="1200" dirty="0"/>
              <a:t> 사용하여 자동화 기능 추가</a:t>
            </a:r>
            <a:endParaRPr lang="en-US" altLang="ko-KR" sz="12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자정이 지나면 자동으로 그 날의 학식 데이터를 데이터 베이스에 저장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이후 학식 정보를 요청하는 </a:t>
            </a:r>
            <a:r>
              <a:rPr lang="en-US" altLang="ko-KR" sz="1200" dirty="0"/>
              <a:t>Request</a:t>
            </a:r>
            <a:r>
              <a:rPr lang="ko-KR" altLang="en-US" sz="1200" dirty="0"/>
              <a:t>가 들어오면 데이터 베이스에 저장해 놓은 데이터를 반환 함</a:t>
            </a:r>
            <a:endParaRPr lang="en-US" altLang="ko-KR" sz="12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9C5AB92-84CF-418F-B96E-89C511E3C84D}"/>
              </a:ext>
            </a:extLst>
          </p:cNvPr>
          <p:cNvSpPr/>
          <p:nvPr/>
        </p:nvSpPr>
        <p:spPr>
          <a:xfrm>
            <a:off x="7704557" y="2792227"/>
            <a:ext cx="607633" cy="80048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BCC52-15B2-4F21-BEB8-01D24DBC0BA9}"/>
              </a:ext>
            </a:extLst>
          </p:cNvPr>
          <p:cNvSpPr txBox="1"/>
          <p:nvPr/>
        </p:nvSpPr>
        <p:spPr>
          <a:xfrm>
            <a:off x="8569851" y="2997339"/>
            <a:ext cx="2461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2060"/>
                </a:solidFill>
              </a:rPr>
              <a:t>성능 개선</a:t>
            </a:r>
            <a:r>
              <a:rPr lang="ko-KR" altLang="en-US" sz="1200" b="1" dirty="0"/>
              <a:t>을 위한 </a:t>
            </a:r>
            <a:r>
              <a:rPr lang="en-US" altLang="ko-KR" sz="1200" b="1" dirty="0"/>
              <a:t>Refactoring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2953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E91A0-2471-4BD7-9D1C-6ABE3C9F2579}"/>
              </a:ext>
            </a:extLst>
          </p:cNvPr>
          <p:cNvSpPr txBox="1"/>
          <p:nvPr/>
        </p:nvSpPr>
        <p:spPr>
          <a:xfrm>
            <a:off x="622221" y="485773"/>
            <a:ext cx="561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수업 프로젝트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493EB-D5F6-4DB4-BB22-2ADD6AEAEA33}"/>
              </a:ext>
            </a:extLst>
          </p:cNvPr>
          <p:cNvSpPr txBox="1"/>
          <p:nvPr/>
        </p:nvSpPr>
        <p:spPr>
          <a:xfrm>
            <a:off x="622221" y="1282966"/>
            <a:ext cx="101995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프로젝트 명 </a:t>
            </a:r>
            <a:r>
              <a:rPr lang="en-US" altLang="ko-KR" sz="2200" b="1" dirty="0"/>
              <a:t>: </a:t>
            </a:r>
            <a:r>
              <a:rPr lang="ko-KR" altLang="en-US" sz="2200" b="1" dirty="0"/>
              <a:t>세상 소리</a:t>
            </a:r>
            <a:r>
              <a:rPr lang="en-US" altLang="ko-KR" sz="2200" b="1" dirty="0"/>
              <a:t>(</a:t>
            </a:r>
            <a:r>
              <a:rPr lang="ko-KR" altLang="en-US" sz="2200" b="1" dirty="0" err="1"/>
              <a:t>저시력자와</a:t>
            </a:r>
            <a:r>
              <a:rPr lang="ko-KR" altLang="en-US" sz="2200" b="1" dirty="0"/>
              <a:t> 시각 장애인을 위한 뉴스 제공 서비스</a:t>
            </a:r>
            <a:r>
              <a:rPr lang="en-US" altLang="ko-KR" sz="2200" b="1" dirty="0"/>
              <a:t>)</a:t>
            </a:r>
            <a:endParaRPr lang="ko-KR" altLang="en-US" sz="2200" b="1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453229-C69C-46B4-B575-5C14E564D955}"/>
              </a:ext>
            </a:extLst>
          </p:cNvPr>
          <p:cNvSpPr/>
          <p:nvPr/>
        </p:nvSpPr>
        <p:spPr>
          <a:xfrm>
            <a:off x="5977276" y="2040273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6A10-35E7-4DC2-AF2A-FCBF83B159FB}"/>
              </a:ext>
            </a:extLst>
          </p:cNvPr>
          <p:cNvSpPr txBox="1"/>
          <p:nvPr/>
        </p:nvSpPr>
        <p:spPr>
          <a:xfrm>
            <a:off x="6372837" y="189018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기간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0076C-0F5F-4092-A177-2D82071AB988}"/>
              </a:ext>
            </a:extLst>
          </p:cNvPr>
          <p:cNvSpPr txBox="1"/>
          <p:nvPr/>
        </p:nvSpPr>
        <p:spPr>
          <a:xfrm>
            <a:off x="6393668" y="2259512"/>
            <a:ext cx="234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2021. 09 ~ 2021.12</a:t>
            </a:r>
            <a:endParaRPr lang="ko-KR" altLang="en-US" sz="1400" dirty="0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3FFE767E-0F5C-46D1-9455-679FDE04FD44}"/>
              </a:ext>
            </a:extLst>
          </p:cNvPr>
          <p:cNvSpPr/>
          <p:nvPr/>
        </p:nvSpPr>
        <p:spPr>
          <a:xfrm>
            <a:off x="5977275" y="2889475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A47425-E295-4884-955F-16710AF06B62}"/>
              </a:ext>
            </a:extLst>
          </p:cNvPr>
          <p:cNvSpPr txBox="1"/>
          <p:nvPr/>
        </p:nvSpPr>
        <p:spPr>
          <a:xfrm>
            <a:off x="6372837" y="2764693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기술 스택</a:t>
            </a:r>
            <a:endParaRPr lang="en-US" altLang="ko-K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D25C7-6AA2-459D-89DC-FE2876FCC063}"/>
              </a:ext>
            </a:extLst>
          </p:cNvPr>
          <p:cNvSpPr txBox="1"/>
          <p:nvPr/>
        </p:nvSpPr>
        <p:spPr>
          <a:xfrm>
            <a:off x="6393667" y="3168601"/>
            <a:ext cx="5468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Java,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Jsoup</a:t>
            </a:r>
            <a:r>
              <a:rPr lang="en-US" altLang="ko-KR" sz="1400" dirty="0"/>
              <a:t>, TTS </a:t>
            </a:r>
            <a:r>
              <a:rPr lang="ko-KR" altLang="en-US" sz="1400" dirty="0"/>
              <a:t>라이브러리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JsonObject</a:t>
            </a:r>
            <a:r>
              <a:rPr lang="en-US" altLang="ko-KR" sz="1400" dirty="0"/>
              <a:t> </a:t>
            </a:r>
            <a:r>
              <a:rPr lang="ko-KR" altLang="en-US" sz="1400" dirty="0"/>
              <a:t>라이브러리</a:t>
            </a: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39DEE50-AA2F-41D9-AE3A-503F35537DCF}"/>
              </a:ext>
            </a:extLst>
          </p:cNvPr>
          <p:cNvSpPr/>
          <p:nvPr/>
        </p:nvSpPr>
        <p:spPr>
          <a:xfrm>
            <a:off x="5977274" y="3772752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09568-ED4B-474C-B8FC-D8DF923E81CF}"/>
              </a:ext>
            </a:extLst>
          </p:cNvPr>
          <p:cNvSpPr txBox="1"/>
          <p:nvPr/>
        </p:nvSpPr>
        <p:spPr>
          <a:xfrm>
            <a:off x="6393668" y="361841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개요</a:t>
            </a:r>
            <a:endParaRPr lang="en-US" altLang="ko-KR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88A96-EB2F-45F6-B26D-067646A3588B}"/>
              </a:ext>
            </a:extLst>
          </p:cNvPr>
          <p:cNvSpPr txBox="1"/>
          <p:nvPr/>
        </p:nvSpPr>
        <p:spPr>
          <a:xfrm>
            <a:off x="6372836" y="4002801"/>
            <a:ext cx="5316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저시력자와</a:t>
            </a:r>
            <a:r>
              <a:rPr lang="ko-KR" altLang="en-US" sz="1200" dirty="0"/>
              <a:t> 시각 장애인을 위해 뉴스를 제공하는 서비스입니다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뉴스를 음성으로 출력해주는 기능을 구현하였습니다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뉴스 내용을 점자로 변환한 후 </a:t>
            </a:r>
            <a:r>
              <a:rPr lang="en-US" altLang="ko-KR" sz="1200" dirty="0"/>
              <a:t>Json</a:t>
            </a:r>
            <a:r>
              <a:rPr lang="ko-KR" altLang="en-US" sz="1200" dirty="0"/>
              <a:t>형태의 파일로 제공합니다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AADEE6-DBEB-42E0-87F8-D260129E2BA8}"/>
              </a:ext>
            </a:extLst>
          </p:cNvPr>
          <p:cNvSpPr/>
          <p:nvPr/>
        </p:nvSpPr>
        <p:spPr>
          <a:xfrm>
            <a:off x="5978052" y="5341056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02A62-FFDD-4FC0-8B75-67D4CDA6615E}"/>
              </a:ext>
            </a:extLst>
          </p:cNvPr>
          <p:cNvSpPr txBox="1"/>
          <p:nvPr/>
        </p:nvSpPr>
        <p:spPr>
          <a:xfrm>
            <a:off x="6372838" y="521692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나의 구현 내용</a:t>
            </a:r>
            <a:endParaRPr lang="en-US" altLang="ko-KR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802D-994C-46BB-8F06-E3B54DD130A8}"/>
              </a:ext>
            </a:extLst>
          </p:cNvPr>
          <p:cNvSpPr txBox="1"/>
          <p:nvPr/>
        </p:nvSpPr>
        <p:spPr>
          <a:xfrm>
            <a:off x="6393667" y="5654832"/>
            <a:ext cx="46705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⨀ </a:t>
            </a:r>
            <a:r>
              <a:rPr lang="en-US" altLang="ko-KR" sz="1200" dirty="0" err="1"/>
              <a:t>Jsoup</a:t>
            </a:r>
            <a:r>
              <a:rPr lang="en-US" altLang="ko-KR" sz="1200" dirty="0"/>
              <a:t> </a:t>
            </a:r>
            <a:r>
              <a:rPr lang="ko-KR" altLang="en-US" sz="1200" dirty="0"/>
              <a:t>라이브러리를 이용한 웹 </a:t>
            </a:r>
            <a:r>
              <a:rPr lang="ko-KR" altLang="en-US" sz="1200" dirty="0" err="1"/>
              <a:t>크롤링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</a:t>
            </a:r>
            <a:r>
              <a:rPr lang="en-US" altLang="ko-KR" sz="1200" dirty="0"/>
              <a:t>TTS </a:t>
            </a:r>
            <a:r>
              <a:rPr lang="ko-KR" altLang="en-US" sz="1200" dirty="0"/>
              <a:t>라이브러리를 통해 뉴스 내용을 음성 파일로 변경 및 저장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뉴스 본문을 점자로 변환한 후 </a:t>
            </a:r>
            <a:r>
              <a:rPr lang="en-US" altLang="ko-KR" sz="1200" dirty="0"/>
              <a:t>Json</a:t>
            </a:r>
            <a:r>
              <a:rPr lang="ko-KR" altLang="en-US" sz="1200" dirty="0"/>
              <a:t>형식으로 저장 </a:t>
            </a: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B26878E0-79CA-488B-9669-81429086C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56" y="2102233"/>
            <a:ext cx="4454554" cy="2666673"/>
          </a:xfrm>
          <a:prstGeom prst="rect">
            <a:avLst/>
          </a:prstGeom>
        </p:spPr>
      </p:pic>
      <p:pic>
        <p:nvPicPr>
          <p:cNvPr id="10" name="그림 9" descr="텍스트, 클립아트, 스크린샷이(가) 표시된 사진&#10;&#10;자동 생성된 설명">
            <a:extLst>
              <a:ext uri="{FF2B5EF4-FFF2-40B4-BE49-F238E27FC236}">
                <a16:creationId xmlns:a16="http://schemas.microsoft.com/office/drawing/2014/main" id="{0371FB54-97D3-491F-972A-447EA7E9D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56" y="4711473"/>
            <a:ext cx="4454554" cy="173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76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A545290D-3CA4-4FA2-95E8-9278EA4D17BD}"/>
              </a:ext>
            </a:extLst>
          </p:cNvPr>
          <p:cNvSpPr/>
          <p:nvPr/>
        </p:nvSpPr>
        <p:spPr>
          <a:xfrm>
            <a:off x="6019445" y="701789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2E3D-6DE0-4E9E-84B2-A115D86CD670}"/>
              </a:ext>
            </a:extLst>
          </p:cNvPr>
          <p:cNvSpPr txBox="1"/>
          <p:nvPr/>
        </p:nvSpPr>
        <p:spPr>
          <a:xfrm>
            <a:off x="6234598" y="577652"/>
            <a:ext cx="5766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/>
              <a:t>웹 </a:t>
            </a:r>
            <a:r>
              <a:rPr lang="ko-KR" altLang="en-US" sz="1800" b="1" dirty="0" err="1"/>
              <a:t>크롤링</a:t>
            </a:r>
            <a:r>
              <a:rPr lang="ko-KR" altLang="en-US" sz="1800" b="1" dirty="0"/>
              <a:t> 및 음성 파일로 변환</a:t>
            </a:r>
            <a:endParaRPr lang="en-US" altLang="ko-KR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0D144-5A52-4928-B643-7010AFB681FA}"/>
              </a:ext>
            </a:extLst>
          </p:cNvPr>
          <p:cNvSpPr txBox="1"/>
          <p:nvPr/>
        </p:nvSpPr>
        <p:spPr>
          <a:xfrm>
            <a:off x="6146599" y="1035246"/>
            <a:ext cx="5766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뉴스 내용을 음성 파일로 저장하는 기능입니다</a:t>
            </a:r>
            <a:r>
              <a:rPr lang="en-US" altLang="ko-KR" sz="1200" b="1" dirty="0"/>
              <a:t>.</a:t>
            </a:r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@Scheduled </a:t>
            </a:r>
            <a:r>
              <a:rPr lang="ko-KR" altLang="en-US" sz="1200" dirty="0" err="1"/>
              <a:t>어노테이션을</a:t>
            </a:r>
            <a:r>
              <a:rPr lang="ko-KR" altLang="en-US" sz="1200" dirty="0"/>
              <a:t> 통해 </a:t>
            </a:r>
            <a:r>
              <a:rPr lang="en-US" altLang="ko-KR" sz="1200" dirty="0"/>
              <a:t>59</a:t>
            </a:r>
            <a:r>
              <a:rPr lang="ko-KR" altLang="en-US" sz="1200" dirty="0"/>
              <a:t>분마다 뉴스 내용을 갱신합니다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en-US" altLang="ko-KR" sz="1200" dirty="0" err="1"/>
              <a:t>Jsoup</a:t>
            </a:r>
            <a:r>
              <a:rPr lang="en-US" altLang="ko-KR" sz="1200" dirty="0"/>
              <a:t> </a:t>
            </a:r>
            <a:r>
              <a:rPr lang="ko-KR" altLang="en-US" sz="1200" dirty="0"/>
              <a:t>라이브러리를 통해 뉴스 데이터를 가져옵니다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en-US" altLang="ko-KR" sz="1200" dirty="0"/>
              <a:t>TTS </a:t>
            </a:r>
            <a:r>
              <a:rPr lang="ko-KR" altLang="en-US" sz="1200" dirty="0"/>
              <a:t>라이브러리를 통해 해당 데이터를 음성 파일로 변경 한 후 저장합니다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20C5B563-C6B2-4C9C-97DF-67A89993BD55}"/>
              </a:ext>
            </a:extLst>
          </p:cNvPr>
          <p:cNvSpPr/>
          <p:nvPr/>
        </p:nvSpPr>
        <p:spPr>
          <a:xfrm>
            <a:off x="6019445" y="3092069"/>
            <a:ext cx="127155" cy="112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1D900-F4B9-408C-BBCA-7430E6C3E24C}"/>
              </a:ext>
            </a:extLst>
          </p:cNvPr>
          <p:cNvSpPr txBox="1"/>
          <p:nvPr/>
        </p:nvSpPr>
        <p:spPr>
          <a:xfrm>
            <a:off x="6234598" y="2967932"/>
            <a:ext cx="524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/>
              <a:t>점자 변환 및 </a:t>
            </a:r>
            <a:r>
              <a:rPr lang="en-US" altLang="ko-KR" sz="1800" b="1" dirty="0"/>
              <a:t>Json </a:t>
            </a:r>
            <a:r>
              <a:rPr lang="ko-KR" altLang="en-US" b="1" dirty="0"/>
              <a:t>형식의</a:t>
            </a:r>
            <a:r>
              <a:rPr lang="ko-KR" altLang="en-US" sz="1800" b="1" dirty="0"/>
              <a:t> 파일로 </a:t>
            </a:r>
            <a:r>
              <a:rPr lang="ko-KR" altLang="en-US" b="1" dirty="0"/>
              <a:t>저장</a:t>
            </a:r>
            <a:endParaRPr lang="en-US" altLang="ko-KR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25905-51E5-40DF-9276-A01D5AE50313}"/>
              </a:ext>
            </a:extLst>
          </p:cNvPr>
          <p:cNvSpPr txBox="1"/>
          <p:nvPr/>
        </p:nvSpPr>
        <p:spPr>
          <a:xfrm>
            <a:off x="6146599" y="3425526"/>
            <a:ext cx="576680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점자 프린팅을 위해 뉴스 내용을 점자로 변환한 후 그 내용을 </a:t>
            </a:r>
            <a:r>
              <a:rPr lang="en-US" altLang="ko-KR" sz="1200" b="1" dirty="0"/>
              <a:t>Json</a:t>
            </a:r>
            <a:r>
              <a:rPr lang="ko-KR" altLang="en-US" sz="1200" b="1" dirty="0"/>
              <a:t>형태의 파일로 제공합니다</a:t>
            </a:r>
            <a:r>
              <a:rPr lang="en-US" altLang="ko-KR" sz="1200" b="1" dirty="0"/>
              <a:t>.</a:t>
            </a:r>
          </a:p>
          <a:p>
            <a:endParaRPr lang="en-US" altLang="ko-KR" sz="1200" b="1" dirty="0"/>
          </a:p>
          <a:p>
            <a:pPr marL="228600" indent="-228600">
              <a:buAutoNum type="arabicPeriod"/>
            </a:pPr>
            <a:r>
              <a:rPr lang="en-US" altLang="ko-KR" sz="1200" dirty="0" err="1"/>
              <a:t>Jsoup</a:t>
            </a:r>
            <a:r>
              <a:rPr lang="ko-KR" altLang="en-US" sz="1200" dirty="0"/>
              <a:t> 라이브러리를 통해 뉴스 데이터를 가져옵니다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모든 글자를 자</a:t>
            </a:r>
            <a:r>
              <a:rPr lang="en-US" altLang="ko-KR" sz="1200" dirty="0"/>
              <a:t>,</a:t>
            </a:r>
            <a:r>
              <a:rPr lang="ko-KR" altLang="en-US" sz="1200" dirty="0"/>
              <a:t>모음으로 분리합니다</a:t>
            </a:r>
            <a:r>
              <a:rPr lang="en-US" altLang="ko-KR" sz="1200" dirty="0"/>
              <a:t>.   ex) </a:t>
            </a:r>
            <a:r>
              <a:rPr lang="ko-KR" altLang="en-US" sz="1200" dirty="0"/>
              <a:t>진 </a:t>
            </a:r>
            <a:r>
              <a:rPr lang="en-US" altLang="ko-KR" sz="1200" dirty="0"/>
              <a:t>-&gt; ‘</a:t>
            </a:r>
            <a:r>
              <a:rPr lang="ko-KR" altLang="en-US" sz="1200" dirty="0" err="1"/>
              <a:t>ㅈ</a:t>
            </a:r>
            <a:r>
              <a:rPr lang="en-US" altLang="ko-KR" sz="1200" dirty="0"/>
              <a:t>’, ’</a:t>
            </a:r>
            <a:r>
              <a:rPr lang="ko-KR" altLang="en-US" sz="1200" dirty="0" err="1"/>
              <a:t>ㅣ</a:t>
            </a:r>
            <a:r>
              <a:rPr lang="en-US" altLang="ko-KR" sz="1200" dirty="0"/>
              <a:t>’, ’</a:t>
            </a:r>
            <a:r>
              <a:rPr lang="ko-KR" altLang="en-US" sz="1200" dirty="0"/>
              <a:t>ㄴ</a:t>
            </a:r>
            <a:r>
              <a:rPr lang="en-US" altLang="ko-KR" sz="1200" dirty="0"/>
              <a:t>‘   </a:t>
            </a:r>
            <a:r>
              <a:rPr lang="ko-KR" altLang="en-US" sz="1200" dirty="0"/>
              <a:t>가 </a:t>
            </a:r>
            <a:r>
              <a:rPr lang="en-US" altLang="ko-KR" sz="1200" dirty="0"/>
              <a:t>-&gt; ‘</a:t>
            </a:r>
            <a:r>
              <a:rPr lang="ko-KR" altLang="en-US" sz="1200" dirty="0" err="1"/>
              <a:t>ㄱ</a:t>
            </a:r>
            <a:r>
              <a:rPr lang="en-US" altLang="ko-KR" sz="1200" dirty="0"/>
              <a:t>’,’</a:t>
            </a:r>
            <a:r>
              <a:rPr lang="ko-KR" altLang="en-US" sz="1200" dirty="0" err="1"/>
              <a:t>ㅏ</a:t>
            </a:r>
            <a:r>
              <a:rPr lang="en-US" altLang="ko-KR" sz="1200" dirty="0"/>
              <a:t>’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분리 된 글자들을 연결리스트에 저장합니다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연결리스트 안의 모든 글자들을 점자로 변환합니다</a:t>
            </a:r>
            <a:r>
              <a:rPr lang="en-US" altLang="ko-KR" sz="1200" dirty="0"/>
              <a:t>(</a:t>
            </a:r>
            <a:r>
              <a:rPr lang="ko-KR" altLang="en-US" sz="1200" dirty="0"/>
              <a:t>이 부분은 하드코딩으로 구현하였습니다</a:t>
            </a:r>
            <a:r>
              <a:rPr lang="en-US" altLang="ko-KR" sz="1200" dirty="0"/>
              <a:t>.)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 err="1"/>
              <a:t>JsonObject</a:t>
            </a:r>
            <a:r>
              <a:rPr lang="en-US" altLang="ko-KR" sz="1200" dirty="0"/>
              <a:t> </a:t>
            </a:r>
            <a:r>
              <a:rPr lang="ko-KR" altLang="en-US" sz="1200" dirty="0"/>
              <a:t>라이브러리를 이용해 정해진 형식의 </a:t>
            </a:r>
            <a:r>
              <a:rPr lang="en-US" altLang="ko-KR" sz="1200" dirty="0"/>
              <a:t>Json</a:t>
            </a:r>
            <a:r>
              <a:rPr lang="ko-KR" altLang="en-US" sz="1200" dirty="0"/>
              <a:t>파일로 저장합니다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Json </a:t>
            </a:r>
            <a:r>
              <a:rPr lang="ko-KR" altLang="en-US" sz="1200" dirty="0"/>
              <a:t>파일을 통해 점자 데이터를 포함한 한글로 된 기사 제목과 내용</a:t>
            </a:r>
            <a:r>
              <a:rPr lang="en-US" altLang="ko-KR" sz="1200" dirty="0"/>
              <a:t>, </a:t>
            </a:r>
            <a:r>
              <a:rPr lang="ko-KR" altLang="en-US" sz="1200" dirty="0"/>
              <a:t>기사 </a:t>
            </a:r>
            <a:r>
              <a:rPr lang="en-US" altLang="ko-KR" sz="1200" dirty="0"/>
              <a:t>URL </a:t>
            </a:r>
            <a:r>
              <a:rPr lang="ko-KR" altLang="en-US" sz="1200" dirty="0"/>
              <a:t>등을 제공합니다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180081-2131-4AD4-AAC6-BDEA10746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6" y="3883565"/>
            <a:ext cx="5164846" cy="2043996"/>
          </a:xfrm>
          <a:prstGeom prst="rect">
            <a:avLst/>
          </a:prstGeom>
        </p:spPr>
      </p:pic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2FC6C61-BBA3-455E-8D68-C96E46F1C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6" y="269504"/>
            <a:ext cx="3620449" cy="6670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2F117BA-29F2-49AC-BC8F-D5A2FD7589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6" y="1989863"/>
            <a:ext cx="3780094" cy="1351321"/>
          </a:xfrm>
          <a:prstGeom prst="rect">
            <a:avLst/>
          </a:prstGeom>
        </p:spPr>
      </p:pic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393855A3-0DCD-4A77-B0DA-5642484835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6" y="1173661"/>
            <a:ext cx="3620450" cy="7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76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A545290D-3CA4-4FA2-95E8-9278EA4D17BD}"/>
              </a:ext>
            </a:extLst>
          </p:cNvPr>
          <p:cNvSpPr/>
          <p:nvPr/>
        </p:nvSpPr>
        <p:spPr>
          <a:xfrm>
            <a:off x="6019445" y="701789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2E3D-6DE0-4E9E-84B2-A115D86CD670}"/>
              </a:ext>
            </a:extLst>
          </p:cNvPr>
          <p:cNvSpPr txBox="1"/>
          <p:nvPr/>
        </p:nvSpPr>
        <p:spPr>
          <a:xfrm>
            <a:off x="6234598" y="577652"/>
            <a:ext cx="5766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 err="1"/>
              <a:t>리팩토링</a:t>
            </a:r>
            <a:r>
              <a:rPr lang="ko-KR" altLang="en-US" sz="1800" b="1" dirty="0"/>
              <a:t> 예정</a:t>
            </a:r>
            <a:endParaRPr lang="en-US" altLang="ko-KR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0D144-5A52-4928-B643-7010AFB681FA}"/>
              </a:ext>
            </a:extLst>
          </p:cNvPr>
          <p:cNvSpPr txBox="1"/>
          <p:nvPr/>
        </p:nvSpPr>
        <p:spPr>
          <a:xfrm>
            <a:off x="6019445" y="1035246"/>
            <a:ext cx="57668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</a:t>
            </a:r>
            <a:r>
              <a:rPr lang="ko-KR" altLang="en-US" sz="1200" dirty="0"/>
              <a:t>세상 소리 프로젝트는 수업 시간에 처음 만난 학우분들과 진행한 프로젝트 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</a:t>
            </a:r>
            <a:r>
              <a:rPr lang="ko-KR" altLang="en-US" sz="1200" dirty="0"/>
              <a:t>객체지향에 익숙하지 않은 학우들도 있었기에 </a:t>
            </a:r>
            <a:r>
              <a:rPr lang="ko-KR" altLang="en-US" sz="1200" b="1" dirty="0"/>
              <a:t>절차 지향적</a:t>
            </a:r>
            <a:r>
              <a:rPr lang="ko-KR" altLang="en-US" sz="1200" dirty="0"/>
              <a:t>으로 코드가 작성 되었습니다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12</a:t>
            </a:r>
            <a:r>
              <a:rPr lang="ko-KR" altLang="en-US" sz="1200" dirty="0"/>
              <a:t>월 이후 </a:t>
            </a:r>
            <a:r>
              <a:rPr lang="ko-KR" altLang="en-US" sz="1200" b="1" dirty="0"/>
              <a:t>객체 지향적인 </a:t>
            </a:r>
            <a:r>
              <a:rPr lang="ko-KR" altLang="en-US" sz="1200" b="1" dirty="0" err="1"/>
              <a:t>아키텍쳐</a:t>
            </a:r>
            <a:r>
              <a:rPr lang="ko-KR" altLang="en-US" sz="1200" dirty="0" err="1"/>
              <a:t>로</a:t>
            </a:r>
            <a:r>
              <a:rPr lang="ko-KR" altLang="en-US" sz="1200" b="1" dirty="0"/>
              <a:t> </a:t>
            </a:r>
            <a:r>
              <a:rPr lang="ko-KR" altLang="en-US" sz="1200" dirty="0" err="1"/>
              <a:t>리팩토링할</a:t>
            </a:r>
            <a:r>
              <a:rPr lang="ko-KR" altLang="en-US" sz="1200" dirty="0"/>
              <a:t> 계획입니다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3031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51EC9B-D497-4C9F-B8FA-189FD38F8E51}"/>
              </a:ext>
            </a:extLst>
          </p:cNvPr>
          <p:cNvSpPr txBox="1"/>
          <p:nvPr/>
        </p:nvSpPr>
        <p:spPr>
          <a:xfrm>
            <a:off x="7510666" y="2333663"/>
            <a:ext cx="4525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To. </a:t>
            </a:r>
            <a:r>
              <a:rPr lang="ko-KR" altLang="en-US" sz="1200" dirty="0"/>
              <a:t>스타트업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PPT</a:t>
            </a:r>
            <a:r>
              <a:rPr lang="ko-KR" altLang="en-US" sz="1200" dirty="0"/>
              <a:t>에 있는 프로젝트에서는 </a:t>
            </a:r>
            <a:r>
              <a:rPr lang="en-US" altLang="ko-KR" sz="1200" dirty="0"/>
              <a:t>JPA</a:t>
            </a:r>
            <a:r>
              <a:rPr lang="ko-KR" altLang="en-US" sz="1200" dirty="0"/>
              <a:t>를 사용하지 않았지만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개발 커뮤니티 과제와 개인 공부를 통해 꾸준히 </a:t>
            </a:r>
            <a:r>
              <a:rPr lang="en-US" altLang="ko-KR" sz="1200" dirty="0"/>
              <a:t>Spring</a:t>
            </a:r>
            <a:r>
              <a:rPr lang="ko-KR" altLang="en-US" sz="1200" dirty="0"/>
              <a:t>과 </a:t>
            </a:r>
            <a:r>
              <a:rPr lang="en-US" altLang="ko-KR" sz="1200" dirty="0"/>
              <a:t>JPA</a:t>
            </a:r>
            <a:r>
              <a:rPr lang="ko-KR" altLang="en-US" sz="1200" dirty="0"/>
              <a:t>를 학습하고 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Pagination,</a:t>
            </a:r>
            <a:r>
              <a:rPr lang="ko-KR" altLang="en-US" sz="1200" dirty="0"/>
              <a:t> 기본 </a:t>
            </a:r>
            <a:r>
              <a:rPr lang="en-US" altLang="ko-KR" sz="1200" dirty="0"/>
              <a:t>CRUD,</a:t>
            </a:r>
            <a:r>
              <a:rPr lang="ko-KR" altLang="en-US" sz="1200" dirty="0"/>
              <a:t> 테스트코드</a:t>
            </a:r>
            <a:r>
              <a:rPr lang="en-US" altLang="ko-KR" sz="1200" dirty="0"/>
              <a:t>, Validation, </a:t>
            </a:r>
            <a:r>
              <a:rPr lang="ko-KR" altLang="en-US" sz="1200" dirty="0"/>
              <a:t>예외처리 등의 과제를 </a:t>
            </a:r>
            <a:r>
              <a:rPr lang="en-US" altLang="ko-KR" sz="1200" dirty="0"/>
              <a:t>Spring, JPA, Junit</a:t>
            </a:r>
            <a:r>
              <a:rPr lang="ko-KR" altLang="en-US" sz="1200" dirty="0"/>
              <a:t>을 통해 수행했습니다</a:t>
            </a:r>
            <a:r>
              <a:rPr lang="en-US" altLang="ko-KR" sz="1200" dirty="0"/>
              <a:t>.</a:t>
            </a: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A8C0361-B87C-4823-AE08-B692377F2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04" y="1200995"/>
            <a:ext cx="2105225" cy="40196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3A286C2-7D87-4850-8DD1-F2615D623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223" y="5403147"/>
            <a:ext cx="1151565" cy="11297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0667FC-2D28-4D7B-91F6-2D1D782CC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47" y="5414332"/>
            <a:ext cx="1078938" cy="1098980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8EFBDC47-EC56-4F0C-97EA-C38FCF6621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899" y="5414331"/>
            <a:ext cx="1229405" cy="10989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E5D048-78A0-4757-B361-0E3E4A49E8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240" y="5459806"/>
            <a:ext cx="1152006" cy="10402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CB9C867-3CD4-490E-82DF-16567F38F0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448" y="5416399"/>
            <a:ext cx="1152006" cy="112976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764E354-B5F5-4F46-910E-648CD765D8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030" y="5414330"/>
            <a:ext cx="1078938" cy="10989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795709-9F0F-47E0-8BEF-13B80E58638C}"/>
              </a:ext>
            </a:extLst>
          </p:cNvPr>
          <p:cNvSpPr txBox="1"/>
          <p:nvPr/>
        </p:nvSpPr>
        <p:spPr>
          <a:xfrm>
            <a:off x="7510667" y="5121971"/>
            <a:ext cx="45257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r>
              <a:rPr lang="ko-KR" altLang="en-US" sz="1200" dirty="0"/>
              <a:t>성숙한 </a:t>
            </a:r>
            <a:r>
              <a:rPr lang="ko-KR" altLang="en-US" sz="1200" dirty="0" err="1"/>
              <a:t>백엔드</a:t>
            </a:r>
            <a:r>
              <a:rPr lang="ko-KR" altLang="en-US" sz="1200" dirty="0"/>
              <a:t> 개발을 위해 네트워크 지식과 </a:t>
            </a:r>
            <a:r>
              <a:rPr lang="en-US" altLang="ko-KR" sz="1200" dirty="0"/>
              <a:t>Infra </a:t>
            </a:r>
            <a:r>
              <a:rPr lang="ko-KR" altLang="en-US" sz="1200" dirty="0"/>
              <a:t>지식도 함께 학습하고 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EC2,</a:t>
            </a:r>
            <a:r>
              <a:rPr lang="ko-KR" altLang="en-US" sz="1200" dirty="0"/>
              <a:t> </a:t>
            </a:r>
            <a:r>
              <a:rPr lang="en-US" altLang="ko-KR" sz="1200" dirty="0"/>
              <a:t>S3, RDS</a:t>
            </a:r>
            <a:r>
              <a:rPr lang="ko-KR" altLang="en-US" sz="1200" dirty="0"/>
              <a:t>를 이용하여 배포를 진행한 경험이 있으며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강의와 스터디를 통해 </a:t>
            </a:r>
            <a:r>
              <a:rPr lang="en-US" altLang="ko-KR" sz="1200" dirty="0"/>
              <a:t>ELB, VPC </a:t>
            </a:r>
            <a:r>
              <a:rPr lang="ko-KR" altLang="en-US" sz="1200" dirty="0"/>
              <a:t>및 </a:t>
            </a:r>
            <a:r>
              <a:rPr lang="en-US" altLang="ko-KR" sz="1200" dirty="0"/>
              <a:t>Subnet, Auto Scaling</a:t>
            </a:r>
            <a:r>
              <a:rPr lang="ko-KR" altLang="en-US" sz="1200" dirty="0"/>
              <a:t>등 </a:t>
            </a:r>
            <a:r>
              <a:rPr lang="en-US" altLang="ko-KR" sz="1200" dirty="0"/>
              <a:t>AWS</a:t>
            </a:r>
            <a:r>
              <a:rPr lang="ko-KR" altLang="en-US" sz="1200" dirty="0"/>
              <a:t>의 기능을 학습하였습니다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</p:txBody>
      </p:sp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75F76C79-09EB-40E5-B5F0-377D51C4CB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530" y="1200993"/>
            <a:ext cx="2351258" cy="4019667"/>
          </a:xfrm>
          <a:prstGeom prst="rect">
            <a:avLst/>
          </a:prstGeom>
        </p:spPr>
      </p:pic>
      <p:pic>
        <p:nvPicPr>
          <p:cNvPr id="21" name="그림 20" descr="텍스트이(가) 표시된 사진&#10;&#10;자동 생성된 설명">
            <a:extLst>
              <a:ext uri="{FF2B5EF4-FFF2-40B4-BE49-F238E27FC236}">
                <a16:creationId xmlns:a16="http://schemas.microsoft.com/office/drawing/2014/main" id="{730407ED-4FFA-401A-BC62-1AC3406D2E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508" y="1200996"/>
            <a:ext cx="2351258" cy="40196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60EFEF0-35E8-4582-9ED6-7921DEC19CDD}"/>
              </a:ext>
            </a:extLst>
          </p:cNvPr>
          <p:cNvSpPr txBox="1"/>
          <p:nvPr/>
        </p:nvSpPr>
        <p:spPr>
          <a:xfrm>
            <a:off x="1108655" y="825311"/>
            <a:ext cx="808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Junit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8E3120-2920-44DA-9E8F-857FBE8F6E83}"/>
              </a:ext>
            </a:extLst>
          </p:cNvPr>
          <p:cNvSpPr txBox="1"/>
          <p:nvPr/>
        </p:nvSpPr>
        <p:spPr>
          <a:xfrm>
            <a:off x="3502488" y="794730"/>
            <a:ext cx="539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JPA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4E7AFE-A260-43E2-A358-E345781E2CE8}"/>
              </a:ext>
            </a:extLst>
          </p:cNvPr>
          <p:cNvSpPr txBox="1"/>
          <p:nvPr/>
        </p:nvSpPr>
        <p:spPr>
          <a:xfrm>
            <a:off x="5814945" y="794730"/>
            <a:ext cx="97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예외 처리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9505CD-71D2-4D6D-A13A-2DDE704E3F8C}"/>
              </a:ext>
            </a:extLst>
          </p:cNvPr>
          <p:cNvSpPr txBox="1"/>
          <p:nvPr/>
        </p:nvSpPr>
        <p:spPr>
          <a:xfrm>
            <a:off x="265159" y="158098"/>
            <a:ext cx="561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개인 공부</a:t>
            </a:r>
            <a:endParaRPr lang="en-US" altLang="ko-KR" sz="4000" b="1" dirty="0"/>
          </a:p>
        </p:txBody>
      </p:sp>
    </p:spTree>
    <p:extLst>
      <p:ext uri="{BB962C8B-B14F-4D97-AF65-F5344CB8AC3E}">
        <p14:creationId xmlns:p14="http://schemas.microsoft.com/office/powerpoint/2010/main" val="2382003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990</Words>
  <Application>Microsoft Office PowerPoint</Application>
  <PresentationFormat>와이드스크린</PresentationFormat>
  <Paragraphs>180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Arial Rounded MT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진호</dc:creator>
  <cp:lastModifiedBy>진호</cp:lastModifiedBy>
  <cp:revision>88</cp:revision>
  <dcterms:created xsi:type="dcterms:W3CDTF">2021-09-02T08:00:50Z</dcterms:created>
  <dcterms:modified xsi:type="dcterms:W3CDTF">2021-12-16T11:47:00Z</dcterms:modified>
</cp:coreProperties>
</file>