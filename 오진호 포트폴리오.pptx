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8" r:id="rId3"/>
    <p:sldId id="269" r:id="rId4"/>
    <p:sldId id="270" r:id="rId5"/>
    <p:sldId id="271" r:id="rId6"/>
    <p:sldId id="260" r:id="rId7"/>
    <p:sldId id="261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6" d="100"/>
          <a:sy n="66" d="100"/>
        </p:scale>
        <p:origin x="63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ohjinhoko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2648419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57822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592475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803668" y="6042546"/>
            <a:ext cx="33945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기술 스택 </a:t>
            </a:r>
            <a:r>
              <a:rPr lang="en-US" altLang="ko-KR" sz="1100" b="1" dirty="0"/>
              <a:t>: Java, Spring, </a:t>
            </a:r>
            <a:r>
              <a:rPr lang="en-US" altLang="ko-KR" sz="1100" b="1" dirty="0" err="1"/>
              <a:t>Springboot</a:t>
            </a:r>
            <a:r>
              <a:rPr lang="en-US" altLang="ko-KR" sz="1100" b="1" dirty="0"/>
              <a:t>, </a:t>
            </a:r>
            <a:r>
              <a:rPr lang="en-US" altLang="ko-KR" sz="1100" b="1" dirty="0" err="1"/>
              <a:t>DataJPA</a:t>
            </a:r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4"/>
              </a:rPr>
              <a:t>https://github.com/ohjinhokor</a:t>
            </a:r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09365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180851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503687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800832" y="529848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479134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783580" y="3850618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(DINO</a:t>
            </a:r>
            <a:r>
              <a:rPr lang="ko-KR" altLang="en-US" sz="1100" dirty="0"/>
              <a:t> </a:t>
            </a:r>
            <a:r>
              <a:rPr lang="en-US" altLang="ko-KR" sz="1100" dirty="0"/>
              <a:t>STUDIO</a:t>
            </a:r>
            <a:r>
              <a:rPr lang="ko-KR" altLang="en-US" sz="1100" dirty="0"/>
              <a:t> </a:t>
            </a:r>
            <a:r>
              <a:rPr lang="en-US" altLang="ko-KR" sz="1100" dirty="0"/>
              <a:t>– 2021.12.29 ~ 2021.02)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83580" y="22944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3256858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4459153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81221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명 </a:t>
            </a:r>
            <a:r>
              <a:rPr lang="en-US" altLang="ko-KR" b="1" dirty="0"/>
              <a:t>: </a:t>
            </a:r>
            <a:r>
              <a:rPr lang="ko-KR" altLang="en-US" b="1" dirty="0"/>
              <a:t>하이엔드</a:t>
            </a:r>
            <a:r>
              <a:rPr lang="en-US" altLang="ko-KR" b="1" dirty="0"/>
              <a:t>(High-End)</a:t>
            </a:r>
            <a:endParaRPr lang="ko-KR" altLang="en-US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6971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5470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916413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29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162931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147922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1801620"/>
            <a:ext cx="5835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Jwt</a:t>
            </a:r>
            <a:endParaRPr lang="en-US" altLang="ko-KR" sz="1400" dirty="0"/>
          </a:p>
          <a:p>
            <a:r>
              <a:rPr lang="en-US" altLang="ko-KR" sz="1400" dirty="0"/>
              <a:t>- EC2, RDS, S3, CloudFront, CICD (Travis CI, Code Deploy, S3 </a:t>
            </a:r>
            <a:r>
              <a:rPr lang="ko-KR" altLang="en-US" sz="1400" dirty="0"/>
              <a:t>이용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269413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254403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391848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376838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4231802"/>
            <a:ext cx="5881580" cy="2816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</a:t>
            </a:r>
            <a:r>
              <a:rPr lang="en-US" altLang="ko-KR" sz="1100" dirty="0"/>
              <a:t>JWT</a:t>
            </a:r>
            <a:r>
              <a:rPr lang="ko-KR" altLang="en-US" sz="1100" dirty="0"/>
              <a:t>와 </a:t>
            </a:r>
            <a:r>
              <a:rPr lang="en-US" altLang="ko-KR" sz="1100" dirty="0"/>
              <a:t>Interceptor</a:t>
            </a:r>
            <a:r>
              <a:rPr lang="ko-KR" altLang="en-US" sz="1100" dirty="0"/>
              <a:t>를 이용한 로그인 및 보안 강화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비밀번호 변경 </a:t>
            </a:r>
            <a:r>
              <a:rPr lang="en-US" altLang="ko-KR" sz="1100" dirty="0" err="1"/>
              <a:t>url</a:t>
            </a:r>
            <a:r>
              <a:rPr lang="en-US" altLang="ko-KR" sz="1100" dirty="0"/>
              <a:t> </a:t>
            </a:r>
            <a:r>
              <a:rPr lang="ko-KR" altLang="en-US" sz="1100" dirty="0"/>
              <a:t>생성 시 암호화</a:t>
            </a:r>
            <a:r>
              <a:rPr lang="en-US" altLang="ko-KR" sz="1100" dirty="0"/>
              <a:t> </a:t>
            </a:r>
            <a:r>
              <a:rPr lang="ko-KR" altLang="en-US" sz="1100" dirty="0"/>
              <a:t>진행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AWS Cloud </a:t>
            </a:r>
            <a:r>
              <a:rPr lang="ko-KR" altLang="en-US" sz="1100" dirty="0"/>
              <a:t>서비스 사용 </a:t>
            </a:r>
            <a:r>
              <a:rPr lang="en-US" altLang="ko-KR" sz="1100" dirty="0"/>
              <a:t>-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자바</a:t>
            </a:r>
            <a:r>
              <a:rPr lang="en-US" altLang="ko-KR" sz="1100" dirty="0"/>
              <a:t>, </a:t>
            </a:r>
            <a:r>
              <a:rPr lang="ko-KR" altLang="en-US" sz="1100" dirty="0"/>
              <a:t>스프링에서 제공하는 </a:t>
            </a:r>
            <a:r>
              <a:rPr lang="en-US" altLang="ko-KR" sz="1100" dirty="0"/>
              <a:t>Optional, </a:t>
            </a:r>
            <a:r>
              <a:rPr lang="en-US" altLang="ko-KR" sz="1100" dirty="0" err="1"/>
              <a:t>ExceptionHandler</a:t>
            </a:r>
            <a:r>
              <a:rPr lang="en-US" altLang="ko-KR" sz="1100" dirty="0"/>
              <a:t>, </a:t>
            </a:r>
          </a:p>
          <a:p>
            <a:r>
              <a:rPr lang="en-US" altLang="ko-KR" sz="1100" dirty="0"/>
              <a:t>    </a:t>
            </a:r>
            <a:r>
              <a:rPr lang="en-US" altLang="ko-KR" sz="1100" dirty="0" err="1"/>
              <a:t>ControllerAdvice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ResponseEntity</a:t>
            </a:r>
            <a:r>
              <a:rPr lang="en-US" altLang="ko-KR" sz="1100" dirty="0"/>
              <a:t> </a:t>
            </a:r>
            <a:r>
              <a:rPr lang="ko-KR" altLang="en-US" sz="1100" dirty="0"/>
              <a:t>등을 이용하여 코드의 통일성 추구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데이터베이스 설계 </a:t>
            </a:r>
            <a:r>
              <a:rPr lang="en-US" altLang="ko-KR" sz="1100" dirty="0"/>
              <a:t>–&gt;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 </a:t>
            </a:r>
            <a:r>
              <a:rPr lang="en-US" altLang="ko-KR" sz="1100" dirty="0"/>
              <a:t>–&gt; </a:t>
            </a:r>
            <a:r>
              <a:rPr lang="ko-KR" altLang="en-US" sz="1100" dirty="0"/>
              <a:t>배포</a:t>
            </a:r>
            <a:r>
              <a:rPr lang="en-US" altLang="ko-KR" sz="1100" dirty="0"/>
              <a:t>(CICD)</a:t>
            </a:r>
            <a:r>
              <a:rPr lang="ko-KR" altLang="en-US" sz="1100" dirty="0"/>
              <a:t>의 모든 과정을 진행</a:t>
            </a:r>
            <a:endParaRPr lang="en-US" altLang="ko-KR" sz="1100" dirty="0"/>
          </a:p>
          <a:p>
            <a:r>
              <a:rPr lang="en-US" altLang="ko-KR" sz="1100" dirty="0"/>
              <a:t>       </a:t>
            </a:r>
          </a:p>
          <a:p>
            <a:r>
              <a:rPr lang="en-US" altLang="ko-KR" sz="1100" dirty="0"/>
              <a:t> </a:t>
            </a:r>
            <a:r>
              <a:rPr lang="en-US" altLang="ko-KR" sz="1050" dirty="0"/>
              <a:t>- CTO</a:t>
            </a:r>
            <a:r>
              <a:rPr lang="ko-KR" altLang="en-US" sz="1050" dirty="0"/>
              <a:t>님을 제외한 유일한 </a:t>
            </a:r>
            <a:r>
              <a:rPr lang="ko-KR" altLang="en-US" sz="1050" dirty="0" err="1"/>
              <a:t>백엔드</a:t>
            </a:r>
            <a:r>
              <a:rPr lang="ko-KR" altLang="en-US" sz="1050" dirty="0"/>
              <a:t> 개발자로 참여하였습니다</a:t>
            </a:r>
            <a:r>
              <a:rPr lang="en-US" altLang="ko-KR" sz="1050" dirty="0"/>
              <a:t>.</a:t>
            </a:r>
          </a:p>
          <a:p>
            <a:endParaRPr lang="en-US" altLang="ko-KR" sz="1100" dirty="0"/>
          </a:p>
          <a:p>
            <a:r>
              <a:rPr lang="ko-KR" altLang="en-US" sz="12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6063740" y="2913371"/>
            <a:ext cx="4817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특정 조건이 충족하는 사람만 서비스를 이용할 수 있습니다</a:t>
            </a:r>
            <a:r>
              <a:rPr lang="en-US" altLang="ko-KR" sz="1200" dirty="0"/>
              <a:t>.</a:t>
            </a:r>
          </a:p>
        </p:txBody>
      </p:sp>
      <p:pic>
        <p:nvPicPr>
          <p:cNvPr id="10" name="그림 9" descr="텍스트, 실내, 빨간색이(가) 표시된 사진&#10;&#10;자동 생성된 설명">
            <a:extLst>
              <a:ext uri="{FF2B5EF4-FFF2-40B4-BE49-F238E27FC236}">
                <a16:creationId xmlns:a16="http://schemas.microsoft.com/office/drawing/2014/main" id="{81BC3CD9-7753-4406-A33A-31FE6EF23E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93" y="2583228"/>
            <a:ext cx="2087115" cy="3768388"/>
          </a:xfrm>
          <a:prstGeom prst="rect">
            <a:avLst/>
          </a:prstGeom>
        </p:spPr>
      </p:pic>
      <p:pic>
        <p:nvPicPr>
          <p:cNvPr id="14" name="그림 13" descr="텍스트, 명함이(가) 표시된 사진&#10;&#10;자동 생성된 설명">
            <a:extLst>
              <a:ext uri="{FF2B5EF4-FFF2-40B4-BE49-F238E27FC236}">
                <a16:creationId xmlns:a16="http://schemas.microsoft.com/office/drawing/2014/main" id="{8E12564A-DF15-4ECD-BB14-D7BA871F8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915" y="2583228"/>
            <a:ext cx="2012779" cy="376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28C2D6D-FAFE-4813-BB78-11A8103061A0}"/>
              </a:ext>
            </a:extLst>
          </p:cNvPr>
          <p:cNvSpPr/>
          <p:nvPr/>
        </p:nvSpPr>
        <p:spPr>
          <a:xfrm>
            <a:off x="2815879" y="5327609"/>
            <a:ext cx="788311" cy="1434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910855" y="949798"/>
            <a:ext cx="3793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Interceptor,</a:t>
            </a:r>
            <a:r>
              <a:rPr lang="ko-KR" altLang="en-US" b="1" dirty="0"/>
              <a:t> </a:t>
            </a:r>
            <a:r>
              <a:rPr lang="en-US" altLang="ko-KR" b="1" dirty="0"/>
              <a:t>JWT</a:t>
            </a:r>
            <a:r>
              <a:rPr lang="ko-KR" altLang="en-US" b="1" dirty="0"/>
              <a:t>를 사용한 보안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757078" y="1361315"/>
            <a:ext cx="4771629" cy="484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en-US" altLang="ko-KR" sz="1200" dirty="0"/>
              <a:t>- </a:t>
            </a:r>
            <a:r>
              <a:rPr lang="ko-KR" altLang="en-US" sz="1200" dirty="0"/>
              <a:t>개인 정보가 많이 사용되는 서비스였기 때문에 권한이 필요한 모든 요청마다 </a:t>
            </a:r>
            <a:r>
              <a:rPr lang="en-US" altLang="ko-KR" sz="1200" dirty="0"/>
              <a:t>token</a:t>
            </a:r>
            <a:r>
              <a:rPr lang="ko-KR" altLang="en-US" sz="1200" dirty="0"/>
              <a:t>에서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추출하여 요청 로직에 대한 권한을 확인하였습니다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Controller</a:t>
            </a:r>
            <a:r>
              <a:rPr lang="ko-KR" altLang="en-US" sz="1200" dirty="0"/>
              <a:t>로 들어가기 전 </a:t>
            </a:r>
            <a:r>
              <a:rPr lang="en-US" altLang="ko-KR" sz="1200" dirty="0"/>
              <a:t>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Token</a:t>
            </a:r>
            <a:r>
              <a:rPr lang="ko-KR" altLang="en-US" sz="1200" dirty="0"/>
              <a:t>의 유효시간을 확인하는 작업을 진행합니다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Token</a:t>
            </a:r>
            <a:r>
              <a:rPr lang="ko-KR" altLang="en-US" sz="1200" dirty="0"/>
              <a:t>의 시간이 유효하다면</a:t>
            </a:r>
            <a:r>
              <a:rPr lang="en-US" altLang="ko-KR" sz="1200" dirty="0"/>
              <a:t>, Interceptor</a:t>
            </a:r>
            <a:r>
              <a:rPr lang="ko-KR" altLang="en-US" sz="1200" dirty="0"/>
              <a:t>에서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추출한 후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 값을 넘겨줍니다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넘겨 받은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이용하여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요청 로직에 대해 권한이 있는지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예를 들어 특정 회원의 글을 조회하는 로직을 요청한다면 그 글이 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에게 속해 있는 글인지 확인하는 절차를 거칩니다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을 사용하여 보안을 높이고</a:t>
            </a:r>
            <a:r>
              <a:rPr lang="en-US" altLang="ko-KR" sz="1200" dirty="0"/>
              <a:t>,</a:t>
            </a:r>
            <a:r>
              <a:rPr lang="ko-KR" altLang="en-US" sz="1200" dirty="0"/>
              <a:t> 자동 로그인이 가능하도록 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467897" y="222005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1071608" y="674127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552199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2083464" y="438974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672697" y="2102937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654749" y="4705838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727435" y="1282785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1029851" y="1286875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621939" y="403810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386227" y="1069966"/>
            <a:ext cx="18659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514666" y="1895180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708730" y="382266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2053216" y="4392886"/>
            <a:ext cx="12621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 err="1"/>
              <a:t>userName</a:t>
            </a:r>
            <a:r>
              <a:rPr lang="ko-KR" altLang="en-US" sz="800" dirty="0"/>
              <a:t>과</a:t>
            </a:r>
            <a:endParaRPr lang="en-US" altLang="ko-KR" sz="800" dirty="0"/>
          </a:p>
          <a:p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703706" y="6092861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867374" y="1059019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642928" y="4827287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442762" y="4477200"/>
            <a:ext cx="2304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해당 </a:t>
            </a:r>
            <a:r>
              <a:rPr lang="en-US" altLang="ko-KR" sz="800" dirty="0"/>
              <a:t>User</a:t>
            </a:r>
            <a:r>
              <a:rPr lang="ko-KR" altLang="en-US" sz="800" dirty="0"/>
              <a:t>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283582" y="22289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397764" y="299440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295076" y="22878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516008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785127" y="591334"/>
            <a:ext cx="35034" cy="59949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621787" y="598112"/>
            <a:ext cx="19708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>
            <a:off x="5664405" y="591334"/>
            <a:ext cx="15095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495880" y="1465472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228250" y="1487936"/>
            <a:ext cx="49402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674095" y="5248815"/>
            <a:ext cx="2011585" cy="7954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729260" y="5303321"/>
            <a:ext cx="29968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Refresh Token</a:t>
            </a:r>
            <a:r>
              <a:rPr lang="ko-KR" altLang="en-US" sz="800" dirty="0"/>
              <a:t>과 </a:t>
            </a:r>
            <a:r>
              <a:rPr lang="en-US" altLang="ko-KR" sz="800" dirty="0"/>
              <a:t>Db Refresh token</a:t>
            </a:r>
            <a:r>
              <a:rPr lang="ko-KR" altLang="en-US" sz="800" dirty="0"/>
              <a:t>의</a:t>
            </a:r>
            <a:endParaRPr lang="en-US" altLang="ko-KR" sz="800" dirty="0"/>
          </a:p>
          <a:p>
            <a:r>
              <a:rPr lang="ko-KR" altLang="en-US" sz="800" dirty="0"/>
              <a:t>동일성 확인</a:t>
            </a:r>
            <a:endParaRPr lang="en-US" altLang="ko-KR" sz="800" dirty="0"/>
          </a:p>
          <a:p>
            <a:endParaRPr lang="en-US" altLang="ko-KR" sz="800" dirty="0"/>
          </a:p>
          <a:p>
            <a:r>
              <a:rPr lang="en-US" altLang="ko-KR" sz="800" dirty="0"/>
              <a:t>2. Refresh token</a:t>
            </a:r>
            <a:r>
              <a:rPr lang="ko-KR" altLang="en-US" sz="800" dirty="0"/>
              <a:t>의 유효시간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552312" y="6286085"/>
            <a:ext cx="20518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888545" y="4572894"/>
            <a:ext cx="612442" cy="19715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915512" y="5154777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649741" y="5167126"/>
            <a:ext cx="1897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05105" y="4869994"/>
            <a:ext cx="15726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Db 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777658" y="107409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886709" y="1862829"/>
            <a:ext cx="612442" cy="239738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915511" y="2697733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648462" y="6276565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752126" y="6080508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815879" y="784707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815879" y="809604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D98E341-C1A1-460A-BCD1-363DB214DBCE}"/>
              </a:ext>
            </a:extLst>
          </p:cNvPr>
          <p:cNvCxnSpPr>
            <a:cxnSpLocks/>
          </p:cNvCxnSpPr>
          <p:nvPr/>
        </p:nvCxnSpPr>
        <p:spPr>
          <a:xfrm flipH="1" flipV="1">
            <a:off x="2738662" y="4724961"/>
            <a:ext cx="416904" cy="602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4A83DB7-29A9-455A-BC1B-20BD5B9C7A1B}"/>
              </a:ext>
            </a:extLst>
          </p:cNvPr>
          <p:cNvCxnSpPr>
            <a:stCxn id="55" idx="0"/>
          </p:cNvCxnSpPr>
          <p:nvPr/>
        </p:nvCxnSpPr>
        <p:spPr>
          <a:xfrm flipV="1">
            <a:off x="4227662" y="5085438"/>
            <a:ext cx="251636" cy="2178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A65F57D3-817A-4372-9CC0-C97CE0AF9AA0}"/>
              </a:ext>
            </a:extLst>
          </p:cNvPr>
          <p:cNvSpPr/>
          <p:nvPr/>
        </p:nvSpPr>
        <p:spPr>
          <a:xfrm>
            <a:off x="2342386" y="2538952"/>
            <a:ext cx="2496784" cy="994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D7836FD-1AFA-4DE8-8153-AE3710F94EF8}"/>
              </a:ext>
            </a:extLst>
          </p:cNvPr>
          <p:cNvSpPr txBox="1"/>
          <p:nvPr/>
        </p:nvSpPr>
        <p:spPr>
          <a:xfrm>
            <a:off x="2416117" y="2620770"/>
            <a:ext cx="24816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Access token</a:t>
            </a:r>
            <a:r>
              <a:rPr lang="ko-KR" altLang="en-US" sz="800" dirty="0"/>
              <a:t>에서 </a:t>
            </a:r>
            <a:r>
              <a:rPr lang="en-US" altLang="ko-KR" sz="800" dirty="0" err="1"/>
              <a:t>userId</a:t>
            </a:r>
            <a:r>
              <a:rPr lang="ko-KR" altLang="en-US" sz="800" dirty="0"/>
              <a:t>를 추출한 후</a:t>
            </a:r>
            <a:r>
              <a:rPr lang="en-US" altLang="ko-KR" sz="800" dirty="0"/>
              <a:t>,</a:t>
            </a:r>
          </a:p>
          <a:p>
            <a:r>
              <a:rPr lang="en-US" altLang="ko-KR" sz="800" dirty="0"/>
              <a:t>User</a:t>
            </a:r>
            <a:r>
              <a:rPr lang="ko-KR" altLang="en-US" sz="800" dirty="0"/>
              <a:t>가 요청 로직에 대해 권한이 있는지 확인 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2-1) </a:t>
            </a:r>
            <a:r>
              <a:rPr lang="ko-KR" altLang="en-US" sz="800" dirty="0"/>
              <a:t>권한이 있는 경우 로직을 수행한다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2-2)</a:t>
            </a:r>
            <a:r>
              <a:rPr lang="ko-KR" altLang="en-US" sz="800" dirty="0"/>
              <a:t>권한이 없는 경우 </a:t>
            </a:r>
            <a:r>
              <a:rPr lang="en-US" altLang="ko-KR" sz="800" dirty="0"/>
              <a:t>Exception</a:t>
            </a:r>
            <a:r>
              <a:rPr lang="ko-KR" altLang="en-US" sz="800" dirty="0"/>
              <a:t>을 발생시킨다</a:t>
            </a:r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280503" y="1258146"/>
            <a:ext cx="108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암호화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147305" y="1382447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9CD0A36-2C4E-41FA-8609-3C7BD738348D}"/>
              </a:ext>
            </a:extLst>
          </p:cNvPr>
          <p:cNvSpPr/>
          <p:nvPr/>
        </p:nvSpPr>
        <p:spPr>
          <a:xfrm>
            <a:off x="220766" y="617421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6F2C02C-C1CC-4F9D-A88C-93D8A6635BD3}"/>
              </a:ext>
            </a:extLst>
          </p:cNvPr>
          <p:cNvSpPr txBox="1"/>
          <p:nvPr/>
        </p:nvSpPr>
        <p:spPr>
          <a:xfrm>
            <a:off x="305068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C6AEE795-6D3A-4139-9970-A38B56E1E9D0}"/>
              </a:ext>
            </a:extLst>
          </p:cNvPr>
          <p:cNvSpPr/>
          <p:nvPr/>
        </p:nvSpPr>
        <p:spPr>
          <a:xfrm>
            <a:off x="2671927" y="61830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D5A38BF-411C-4277-B32F-E0B133EFF133}"/>
              </a:ext>
            </a:extLst>
          </p:cNvPr>
          <p:cNvSpPr txBox="1"/>
          <p:nvPr/>
        </p:nvSpPr>
        <p:spPr>
          <a:xfrm>
            <a:off x="2786109" y="694856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2E7E611-9115-4ED5-974E-197C352FA1CA}"/>
              </a:ext>
            </a:extLst>
          </p:cNvPr>
          <p:cNvSpPr/>
          <p:nvPr/>
        </p:nvSpPr>
        <p:spPr>
          <a:xfrm>
            <a:off x="5146796" y="62419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481613-7B00-483D-A8D0-E602B999E312}"/>
              </a:ext>
            </a:extLst>
          </p:cNvPr>
          <p:cNvSpPr txBox="1"/>
          <p:nvPr/>
        </p:nvSpPr>
        <p:spPr>
          <a:xfrm>
            <a:off x="5275052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EMAIL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F4D15714-C196-46ED-B010-321F5CC9CB0A}"/>
              </a:ext>
            </a:extLst>
          </p:cNvPr>
          <p:cNvCxnSpPr>
            <a:cxnSpLocks/>
          </p:cNvCxnSpPr>
          <p:nvPr/>
        </p:nvCxnSpPr>
        <p:spPr>
          <a:xfrm flipH="1">
            <a:off x="553322" y="986750"/>
            <a:ext cx="19708" cy="55623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94CE9D00-C90A-495A-8F7F-FA9E3430A674}"/>
              </a:ext>
            </a:extLst>
          </p:cNvPr>
          <p:cNvCxnSpPr>
            <a:cxnSpLocks/>
          </p:cNvCxnSpPr>
          <p:nvPr/>
        </p:nvCxnSpPr>
        <p:spPr>
          <a:xfrm flipH="1">
            <a:off x="3022204" y="1049134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1590DA13-D6CA-4FE5-8A5B-3B5C3E409B8D}"/>
              </a:ext>
            </a:extLst>
          </p:cNvPr>
          <p:cNvCxnSpPr>
            <a:cxnSpLocks/>
          </p:cNvCxnSpPr>
          <p:nvPr/>
        </p:nvCxnSpPr>
        <p:spPr>
          <a:xfrm>
            <a:off x="5516125" y="986750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7EE7BC7-486C-443C-BEE6-32DCE4C0AFE4}"/>
              </a:ext>
            </a:extLst>
          </p:cNvPr>
          <p:cNvCxnSpPr>
            <a:cxnSpLocks/>
          </p:cNvCxnSpPr>
          <p:nvPr/>
        </p:nvCxnSpPr>
        <p:spPr>
          <a:xfrm>
            <a:off x="579207" y="1415408"/>
            <a:ext cx="2449459" cy="2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5895C2B1-8D24-40F1-B152-753305E33BE5}"/>
              </a:ext>
            </a:extLst>
          </p:cNvPr>
          <p:cNvSpPr txBox="1"/>
          <p:nvPr/>
        </p:nvSpPr>
        <p:spPr>
          <a:xfrm>
            <a:off x="636826" y="1227368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    이메일 주소와 함께 비밀번호 변경 요청</a:t>
            </a: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7C9C0E09-7020-4A6C-9E6A-976E07F2EF1F}"/>
              </a:ext>
            </a:extLst>
          </p:cNvPr>
          <p:cNvSpPr/>
          <p:nvPr/>
        </p:nvSpPr>
        <p:spPr>
          <a:xfrm>
            <a:off x="1752095" y="1575026"/>
            <a:ext cx="2496784" cy="9457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등록된 이메일인지 확인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등록된 이메일이라면 이메일과 현재 시간을 조합하여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생성시 암호화 진행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암호화 과정은 오른쪽 설명란  참조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을</a:t>
            </a:r>
            <a:r>
              <a:rPr lang="en-US" altLang="ko-KR" sz="800" dirty="0">
                <a:solidFill>
                  <a:schemeClr val="tx1"/>
                </a:solidFill>
              </a:rPr>
              <a:t> email</a:t>
            </a:r>
            <a:r>
              <a:rPr lang="ko-KR" altLang="en-US" sz="800" dirty="0">
                <a:solidFill>
                  <a:schemeClr val="tx1"/>
                </a:solidFill>
              </a:rPr>
              <a:t>로 전송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0A9FEC5F-43A8-4616-90BD-30BAE0F44BFB}"/>
              </a:ext>
            </a:extLst>
          </p:cNvPr>
          <p:cNvCxnSpPr>
            <a:cxnSpLocks/>
          </p:cNvCxnSpPr>
          <p:nvPr/>
        </p:nvCxnSpPr>
        <p:spPr>
          <a:xfrm>
            <a:off x="3076197" y="2834302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2292667F-04B0-4E05-BD37-521CD8C41291}"/>
              </a:ext>
            </a:extLst>
          </p:cNvPr>
          <p:cNvSpPr txBox="1"/>
          <p:nvPr/>
        </p:nvSpPr>
        <p:spPr>
          <a:xfrm>
            <a:off x="2945258" y="2569430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전송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80E1BC1-8B84-4EA9-B435-76798F627386}"/>
              </a:ext>
            </a:extLst>
          </p:cNvPr>
          <p:cNvCxnSpPr>
            <a:cxnSpLocks/>
          </p:cNvCxnSpPr>
          <p:nvPr/>
        </p:nvCxnSpPr>
        <p:spPr>
          <a:xfrm flipH="1">
            <a:off x="3073086" y="4127169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BC53056F-2B33-4C70-9740-60DE6A1877EF}"/>
              </a:ext>
            </a:extLst>
          </p:cNvPr>
          <p:cNvSpPr txBox="1"/>
          <p:nvPr/>
        </p:nvSpPr>
        <p:spPr>
          <a:xfrm>
            <a:off x="2930026" y="3918439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클릭</a:t>
            </a:r>
          </a:p>
        </p:txBody>
      </p: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20B73B9C-9592-42B8-A101-74748325C9C4}"/>
              </a:ext>
            </a:extLst>
          </p:cNvPr>
          <p:cNvCxnSpPr>
            <a:cxnSpLocks/>
          </p:cNvCxnSpPr>
          <p:nvPr/>
        </p:nvCxnSpPr>
        <p:spPr>
          <a:xfrm>
            <a:off x="3098857" y="4438630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1BD0D182-9996-4AAA-9355-0EE6469E3B3D}"/>
              </a:ext>
            </a:extLst>
          </p:cNvPr>
          <p:cNvSpPr txBox="1"/>
          <p:nvPr/>
        </p:nvSpPr>
        <p:spPr>
          <a:xfrm>
            <a:off x="2967918" y="4223186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페이지 제공</a:t>
            </a: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E4AB057E-0B68-4248-AFB4-690597325D0C}"/>
              </a:ext>
            </a:extLst>
          </p:cNvPr>
          <p:cNvCxnSpPr>
            <a:cxnSpLocks/>
          </p:cNvCxnSpPr>
          <p:nvPr/>
        </p:nvCxnSpPr>
        <p:spPr>
          <a:xfrm flipH="1">
            <a:off x="3086051" y="4839133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79A4A522-E537-4357-879E-43266D77BC77}"/>
              </a:ext>
            </a:extLst>
          </p:cNvPr>
          <p:cNvSpPr txBox="1"/>
          <p:nvPr/>
        </p:nvSpPr>
        <p:spPr>
          <a:xfrm>
            <a:off x="2931927" y="4521868"/>
            <a:ext cx="2669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요청</a:t>
            </a:r>
            <a:endParaRPr lang="en-US" altLang="ko-KR" sz="800" dirty="0"/>
          </a:p>
          <a:p>
            <a:pPr algn="ctr"/>
            <a:r>
              <a:rPr lang="ko-KR" altLang="en-US" sz="800" dirty="0"/>
              <a:t>이 때 암호화 된 값이 함께 </a:t>
            </a:r>
            <a:r>
              <a:rPr lang="en-US" altLang="ko-KR" sz="800" dirty="0"/>
              <a:t>server</a:t>
            </a:r>
            <a:r>
              <a:rPr lang="ko-KR" altLang="en-US" sz="800" dirty="0"/>
              <a:t>로 전송됨</a:t>
            </a:r>
            <a:endParaRPr lang="en-US" altLang="ko-KR" sz="800" dirty="0"/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6762B5D0-7DE3-4E81-B887-4CA358FBE2F9}"/>
              </a:ext>
            </a:extLst>
          </p:cNvPr>
          <p:cNvSpPr/>
          <p:nvPr/>
        </p:nvSpPr>
        <p:spPr>
          <a:xfrm>
            <a:off x="1721768" y="4997135"/>
            <a:ext cx="2502096" cy="13423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암호화 된 값 복호화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복호화를 통해 </a:t>
            </a:r>
            <a:r>
              <a:rPr lang="en-US" altLang="ko-KR" sz="800" dirty="0">
                <a:solidFill>
                  <a:schemeClr val="tx1"/>
                </a:solidFill>
              </a:rPr>
              <a:t>1)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 </a:t>
            </a:r>
            <a:r>
              <a:rPr lang="en-US" altLang="ko-KR" sz="800" dirty="0">
                <a:solidFill>
                  <a:schemeClr val="tx1"/>
                </a:solidFill>
              </a:rPr>
              <a:t>2)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만들어진 시간을 알 수 있음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생성된 지 </a:t>
            </a:r>
            <a:r>
              <a:rPr lang="en-US" altLang="ko-KR" sz="800" dirty="0">
                <a:solidFill>
                  <a:schemeClr val="tx1"/>
                </a:solidFill>
              </a:rPr>
              <a:t>5</a:t>
            </a:r>
            <a:r>
              <a:rPr lang="ko-KR" altLang="en-US" sz="800" dirty="0">
                <a:solidFill>
                  <a:schemeClr val="tx1"/>
                </a:solidFill>
              </a:rPr>
              <a:t>분이 넘었다면 해당 요청은 수행하지 않음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ko-KR" altLang="en-US" sz="800" dirty="0">
                <a:solidFill>
                  <a:schemeClr val="tx1"/>
                </a:solidFill>
              </a:rPr>
              <a:t>시간이 유효하다면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이메일로 </a:t>
            </a:r>
            <a:r>
              <a:rPr lang="en-US" altLang="ko-KR" sz="800" dirty="0">
                <a:solidFill>
                  <a:schemeClr val="tx1"/>
                </a:solidFill>
              </a:rPr>
              <a:t>user</a:t>
            </a:r>
            <a:r>
              <a:rPr lang="ko-KR" altLang="en-US" sz="800" dirty="0">
                <a:solidFill>
                  <a:schemeClr val="tx1"/>
                </a:solidFill>
              </a:rPr>
              <a:t>를 </a:t>
            </a:r>
            <a:r>
              <a:rPr lang="en-US" altLang="ko-KR" sz="800" dirty="0" err="1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에서 </a:t>
            </a:r>
            <a:r>
              <a:rPr lang="en-US" altLang="ko-KR" sz="800" dirty="0">
                <a:solidFill>
                  <a:schemeClr val="tx1"/>
                </a:solidFill>
              </a:rPr>
              <a:t>select</a:t>
            </a:r>
            <a:r>
              <a:rPr lang="ko-KR" altLang="en-US" sz="800" dirty="0">
                <a:solidFill>
                  <a:schemeClr val="tx1"/>
                </a:solidFill>
              </a:rPr>
              <a:t>하여 비밀번호를 변경함</a:t>
            </a:r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102772D-1A8B-4FBE-9DE2-A45A8749E250}"/>
              </a:ext>
            </a:extLst>
          </p:cNvPr>
          <p:cNvSpPr txBox="1"/>
          <p:nvPr/>
        </p:nvSpPr>
        <p:spPr>
          <a:xfrm>
            <a:off x="7151424" y="1852292"/>
            <a:ext cx="4836539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⨀ 암호화 방법</a:t>
            </a:r>
            <a:endParaRPr lang="en-US" altLang="ko-KR" sz="1200" dirty="0"/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자바의 </a:t>
            </a:r>
            <a:r>
              <a:rPr lang="en-US" altLang="ko-KR" sz="1200" dirty="0"/>
              <a:t>Cipher </a:t>
            </a:r>
            <a:r>
              <a:rPr lang="ko-KR" altLang="en-US" sz="1200" dirty="0"/>
              <a:t>클래스를 사용하였습니다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AES/CBC/PKCS5Padding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r>
              <a:rPr lang="ko-KR" altLang="en-US" sz="1200" dirty="0"/>
              <a:t>⨀ 암호화 이용 과정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현재 시간과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암호화합니다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암호화 된 값과 함께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을 만든 후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로 전송합니다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3. Client</a:t>
            </a:r>
            <a:r>
              <a:rPr lang="ko-KR" altLang="en-US" sz="1200" dirty="0"/>
              <a:t>로부터 암호화 된 값과 함께 비밀번호 변경을 </a:t>
            </a:r>
            <a:r>
              <a:rPr lang="ko-KR" altLang="en-US" sz="1200" dirty="0" err="1"/>
              <a:t>요청받습니다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4. </a:t>
            </a:r>
            <a:r>
              <a:rPr lang="ko-KR" altLang="en-US" sz="1200" dirty="0"/>
              <a:t>암호화 된 값을 복호화 하여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이 만들어진 시간과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얻어냅니다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5. </a:t>
            </a:r>
            <a:r>
              <a:rPr lang="ko-KR" altLang="en-US" sz="1200" dirty="0"/>
              <a:t>유효시간을 확인 한 후</a:t>
            </a:r>
            <a:r>
              <a:rPr lang="en-US" altLang="ko-KR" sz="1200" dirty="0"/>
              <a:t> </a:t>
            </a:r>
            <a:r>
              <a:rPr lang="ko-KR" altLang="en-US" sz="1200" dirty="0"/>
              <a:t>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의 비밀번호를 변경합니다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3CBDE7AE-29B2-4D89-B27D-D77A46B6E4A3}"/>
              </a:ext>
            </a:extLst>
          </p:cNvPr>
          <p:cNvSpPr/>
          <p:nvPr/>
        </p:nvSpPr>
        <p:spPr>
          <a:xfrm>
            <a:off x="4342348" y="2991685"/>
            <a:ext cx="2387434" cy="88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하나의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은 한 명의 회원에게만 적용되는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임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예시 </a:t>
            </a:r>
            <a:r>
              <a:rPr lang="en-US" altLang="ko-KR" sz="800" dirty="0">
                <a:solidFill>
                  <a:schemeClr val="tx1"/>
                </a:solidFill>
              </a:rPr>
              <a:t>: www.highend.com/reset/password/{askljaflkmdkljasklf(</a:t>
            </a:r>
            <a:r>
              <a:rPr lang="ko-KR" altLang="en-US" sz="800" dirty="0">
                <a:solidFill>
                  <a:schemeClr val="tx1"/>
                </a:solidFill>
              </a:rPr>
              <a:t>회원 </a:t>
            </a:r>
            <a:r>
              <a:rPr lang="en-US" altLang="ko-KR" sz="800" dirty="0">
                <a:solidFill>
                  <a:schemeClr val="tx1"/>
                </a:solidFill>
              </a:rPr>
              <a:t>email</a:t>
            </a:r>
            <a:r>
              <a:rPr lang="ko-KR" altLang="en-US" sz="800" dirty="0">
                <a:solidFill>
                  <a:schemeClr val="tx1"/>
                </a:solidFill>
              </a:rPr>
              <a:t>과 현재 시간으로 암호화 된 값</a:t>
            </a:r>
            <a:r>
              <a:rPr lang="en-US" altLang="ko-KR" sz="800" dirty="0">
                <a:solidFill>
                  <a:schemeClr val="tx1"/>
                </a:solidFill>
              </a:rPr>
              <a:t>)}</a:t>
            </a:r>
            <a:r>
              <a:rPr lang="ko-KR" altLang="en-US" sz="800" dirty="0"/>
              <a:t>원</a:t>
            </a:r>
            <a:endParaRPr lang="en-US" altLang="ko-KR" sz="800" dirty="0"/>
          </a:p>
        </p:txBody>
      </p:sp>
    </p:spTree>
    <p:extLst>
      <p:ext uri="{BB962C8B-B14F-4D97-AF65-F5344CB8AC3E}">
        <p14:creationId xmlns:p14="http://schemas.microsoft.com/office/powerpoint/2010/main" val="4141483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0278058-6E92-4B31-8AE1-BCADDCA5DC04}"/>
              </a:ext>
            </a:extLst>
          </p:cNvPr>
          <p:cNvSpPr/>
          <p:nvPr/>
        </p:nvSpPr>
        <p:spPr>
          <a:xfrm>
            <a:off x="801779" y="3381496"/>
            <a:ext cx="1511306" cy="918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433012" y="3865770"/>
            <a:ext cx="12055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FC0CEE3-2FF4-4C53-96C9-38740B73DA1B}"/>
              </a:ext>
            </a:extLst>
          </p:cNvPr>
          <p:cNvSpPr txBox="1"/>
          <p:nvPr/>
        </p:nvSpPr>
        <p:spPr>
          <a:xfrm>
            <a:off x="2394525" y="3507713"/>
            <a:ext cx="13265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 (</a:t>
            </a:r>
            <a:r>
              <a:rPr lang="ko-KR" altLang="en-US" sz="800" dirty="0"/>
              <a:t>예시 </a:t>
            </a:r>
            <a:r>
              <a:rPr lang="en-US" altLang="ko-KR" sz="800" dirty="0"/>
              <a:t>: </a:t>
            </a:r>
            <a:r>
              <a:rPr lang="ko-KR" altLang="en-US" sz="800" dirty="0"/>
              <a:t>회원가입</a:t>
            </a:r>
            <a:r>
              <a:rPr lang="en-US" altLang="ko-KR" sz="800" dirty="0"/>
              <a:t>, </a:t>
            </a:r>
            <a:r>
              <a:rPr lang="ko-KR" altLang="en-US" sz="800" dirty="0"/>
              <a:t>회원 정보 조회</a:t>
            </a:r>
            <a:r>
              <a:rPr lang="en-US" altLang="ko-KR" sz="800" dirty="0"/>
              <a:t>)</a:t>
            </a:r>
            <a:endParaRPr lang="ko-KR" altLang="en-US" sz="8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C914061-D758-469D-8584-2022E8088D9E}"/>
              </a:ext>
            </a:extLst>
          </p:cNvPr>
          <p:cNvSpPr/>
          <p:nvPr/>
        </p:nvSpPr>
        <p:spPr>
          <a:xfrm>
            <a:off x="4039680" y="3487686"/>
            <a:ext cx="1511306" cy="8124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Server(Ec2, Linux, Spring)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V="1">
            <a:off x="4682786" y="2554420"/>
            <a:ext cx="606433" cy="846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C5181DF-5758-4B29-96CE-01F65998C77F}"/>
              </a:ext>
            </a:extLst>
          </p:cNvPr>
          <p:cNvSpPr/>
          <p:nvPr/>
        </p:nvSpPr>
        <p:spPr>
          <a:xfrm>
            <a:off x="4950454" y="1631774"/>
            <a:ext cx="1511306" cy="8124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4950454" y="2921771"/>
            <a:ext cx="15113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Client</a:t>
            </a:r>
            <a:r>
              <a:rPr lang="ko-KR" altLang="en-US" sz="800" dirty="0"/>
              <a:t>로부터 받은 파일 저장</a:t>
            </a:r>
            <a:r>
              <a:rPr lang="en-US" altLang="ko-KR" sz="800" dirty="0"/>
              <a:t>(</a:t>
            </a:r>
            <a:r>
              <a:rPr lang="ko-KR" altLang="en-US" sz="800" dirty="0"/>
              <a:t>예시 </a:t>
            </a:r>
            <a:r>
              <a:rPr lang="en-US" altLang="ko-KR" sz="800" dirty="0"/>
              <a:t>: </a:t>
            </a:r>
            <a:r>
              <a:rPr lang="ko-KR" altLang="en-US" sz="800" dirty="0"/>
              <a:t>사진</a:t>
            </a:r>
            <a:r>
              <a:rPr lang="en-US" altLang="ko-KR" sz="800" dirty="0"/>
              <a:t>)</a:t>
            </a:r>
            <a:endParaRPr lang="ko-KR" altLang="en-US" sz="8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BBBA36E-0AD7-4606-AF54-4AC6FA042EB1}"/>
              </a:ext>
            </a:extLst>
          </p:cNvPr>
          <p:cNvSpPr/>
          <p:nvPr/>
        </p:nvSpPr>
        <p:spPr>
          <a:xfrm>
            <a:off x="2121319" y="1631774"/>
            <a:ext cx="1511306" cy="8124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CloudFront(CDN)</a:t>
            </a:r>
          </a:p>
          <a:p>
            <a:pPr algn="ctr"/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S3</a:t>
            </a:r>
            <a:r>
              <a:rPr lang="ko-KR" altLang="en-US" sz="800" dirty="0">
                <a:solidFill>
                  <a:schemeClr val="tx1"/>
                </a:solidFill>
              </a:rPr>
              <a:t>로 부터 받아온 파일 </a:t>
            </a:r>
            <a:r>
              <a:rPr lang="ko-KR" altLang="en-US" sz="800" dirty="0" err="1">
                <a:solidFill>
                  <a:schemeClr val="tx1"/>
                </a:solidFill>
              </a:rPr>
              <a:t>캐싱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807051" y="1834706"/>
            <a:ext cx="9528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C4A9B0F-C669-46F8-BC7F-C75E07A4EBCD}"/>
              </a:ext>
            </a:extLst>
          </p:cNvPr>
          <p:cNvSpPr/>
          <p:nvPr/>
        </p:nvSpPr>
        <p:spPr>
          <a:xfrm>
            <a:off x="4039680" y="5196797"/>
            <a:ext cx="1511306" cy="8124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RDS(</a:t>
            </a:r>
            <a:r>
              <a:rPr lang="en-US" altLang="ko-KR" sz="1200" dirty="0" err="1">
                <a:solidFill>
                  <a:schemeClr val="tx1"/>
                </a:solidFill>
              </a:rPr>
              <a:t>Mysql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4473677" y="4406818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293688" y="4406818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4039680" y="4633804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289219" y="4647663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807051" y="2318453"/>
            <a:ext cx="9528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3936123" y="163460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3966615" y="2101701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059536" y="2317145"/>
            <a:ext cx="896702" cy="9431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1655371" y="2554420"/>
            <a:ext cx="686060" cy="705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914544" y="2554420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196439" y="2730508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801779" y="650809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668581" y="77511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50739CBA-50AD-4D28-96D8-6020FC9EB336}"/>
              </a:ext>
            </a:extLst>
          </p:cNvPr>
          <p:cNvCxnSpPr>
            <a:cxnSpLocks/>
          </p:cNvCxnSpPr>
          <p:nvPr/>
        </p:nvCxnSpPr>
        <p:spPr>
          <a:xfrm flipH="1">
            <a:off x="2407922" y="4163115"/>
            <a:ext cx="13131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DCDC8C5-A605-45D2-9819-EA7A112DB985}"/>
              </a:ext>
            </a:extLst>
          </p:cNvPr>
          <p:cNvSpPr txBox="1"/>
          <p:nvPr/>
        </p:nvSpPr>
        <p:spPr>
          <a:xfrm>
            <a:off x="2667775" y="3978481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Response </a:t>
            </a:r>
            <a:r>
              <a:rPr lang="en-US" altLang="ko-KR" sz="800" dirty="0" err="1"/>
              <a:t>dto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4152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Project 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7174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5673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7" y="9367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1581713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381430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6" y="1820729"/>
            <a:ext cx="48330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 </a:t>
            </a:r>
            <a:r>
              <a:rPr lang="ko-KR" altLang="en-US" sz="1400" dirty="0"/>
              <a:t>카카오 </a:t>
            </a:r>
            <a:r>
              <a:rPr lang="en-US" altLang="ko-KR" sz="1400" dirty="0"/>
              <a:t>API</a:t>
            </a:r>
          </a:p>
          <a:p>
            <a:endParaRPr lang="en-US" altLang="ko-KR" sz="1400" dirty="0"/>
          </a:p>
          <a:p>
            <a:r>
              <a:rPr lang="en-US" altLang="ko-KR" sz="1400" dirty="0"/>
              <a:t>- RDS, EC2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282867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665941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098815"/>
            <a:ext cx="4833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자동화를 통해 성능을 개선하였습니다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배포까지의 모든 프로세스에 참여하였습니다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434284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4218711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4718206"/>
            <a:ext cx="31898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성능 개선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D2204507-3F39-437E-BB11-2FE8FBEFBB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598" y="2402297"/>
            <a:ext cx="2172928" cy="3759713"/>
          </a:xfrm>
          <a:prstGeom prst="rect">
            <a:avLst/>
          </a:prstGeom>
        </p:spPr>
      </p:pic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CC4ED2A3-ECC2-4ACA-BE35-A6F0BB9834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612" y="2269488"/>
            <a:ext cx="2279686" cy="3892521"/>
          </a:xfrm>
          <a:prstGeom prst="rect">
            <a:avLst/>
          </a:prstGeom>
        </p:spPr>
      </p:pic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5977276" y="6006650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375970" y="5918873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372837" y="6307450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96000" y="66831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11153" y="544181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23154" y="997562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161024" y="3651752"/>
            <a:ext cx="127155" cy="11094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376177" y="352761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288178" y="3993966"/>
            <a:ext cx="5766807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b="1" dirty="0"/>
              <a:t>&lt;</a:t>
            </a:r>
            <a:r>
              <a:rPr lang="ko-KR" altLang="en-US" sz="1200" b="1" dirty="0" err="1"/>
              <a:t>리팩토링</a:t>
            </a:r>
            <a:r>
              <a:rPr lang="ko-KR" altLang="en-US" sz="1200" b="1" dirty="0"/>
              <a:t> 결과</a:t>
            </a:r>
            <a:r>
              <a:rPr lang="en-US" altLang="ko-KR" sz="1200" b="1" dirty="0"/>
              <a:t>&gt; </a:t>
            </a:r>
            <a:r>
              <a:rPr lang="ko-KR" altLang="en-US" sz="1200" b="1" dirty="0"/>
              <a:t>수행 시간이 </a:t>
            </a:r>
            <a:r>
              <a:rPr lang="en-US" altLang="ko-KR" sz="1200" b="1" dirty="0"/>
              <a:t>1561ms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-&gt; 213ms</a:t>
            </a:r>
            <a:r>
              <a:rPr lang="ko-KR" altLang="en-US" sz="1200" b="1" dirty="0"/>
              <a:t>로 줄어드는 성능 향상을 보였습니다</a:t>
            </a:r>
            <a:endParaRPr lang="en-US" altLang="ko-KR" sz="1200" b="1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632836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569851" y="2837948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374648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2984</TotalTime>
  <Words>1121</Words>
  <Application>Microsoft Office PowerPoint</Application>
  <PresentationFormat>와이드스크린</PresentationFormat>
  <Paragraphs>221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135</cp:revision>
  <dcterms:created xsi:type="dcterms:W3CDTF">2021-09-02T08:00:50Z</dcterms:created>
  <dcterms:modified xsi:type="dcterms:W3CDTF">2022-01-17T10:56:15Z</dcterms:modified>
</cp:coreProperties>
</file>