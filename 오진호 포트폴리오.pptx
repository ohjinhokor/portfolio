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8" r:id="rId3"/>
    <p:sldId id="269" r:id="rId4"/>
    <p:sldId id="272" r:id="rId5"/>
    <p:sldId id="270" r:id="rId6"/>
    <p:sldId id="271" r:id="rId7"/>
    <p:sldId id="260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43869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62255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382750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코드를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335788" y="5747023"/>
            <a:ext cx="3858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기술 스택 </a:t>
            </a:r>
            <a:r>
              <a:rPr lang="en-US" altLang="ko-KR" sz="1100" b="1" dirty="0"/>
              <a:t>: Java,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JPA, </a:t>
            </a:r>
            <a:r>
              <a:rPr lang="en-US" altLang="ko-KR" sz="1100" b="1" dirty="0" err="1"/>
              <a:t>DataJPA</a:t>
            </a:r>
            <a:r>
              <a:rPr lang="en-US" altLang="ko-KR" sz="1100" b="1" dirty="0"/>
              <a:t>, </a:t>
            </a:r>
            <a:r>
              <a:rPr lang="en-US" altLang="ko-KR" sz="1100" b="1" dirty="0" err="1"/>
              <a:t>Querydsl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1883926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827149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565539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510105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336243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(2021.12.29 ~ 2022.02)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83580" y="208474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304713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424942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2493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명 </a:t>
            </a:r>
            <a:r>
              <a:rPr lang="en-US" altLang="ko-KR" b="1" dirty="0"/>
              <a:t>: </a:t>
            </a:r>
            <a:r>
              <a:rPr lang="ko-KR" altLang="en-US" b="1" dirty="0"/>
              <a:t>하이엔드</a:t>
            </a:r>
            <a:r>
              <a:rPr lang="en-US" altLang="ko-KR" b="1" dirty="0"/>
              <a:t>(High-End)</a:t>
            </a:r>
            <a:endParaRPr lang="ko-KR" altLang="en-US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75733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60724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97657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 ~ 2022. 02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174467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159457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1978644"/>
            <a:ext cx="45624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CICD(</a:t>
            </a:r>
            <a:r>
              <a:rPr lang="en-US" altLang="ko-KR" sz="1400" dirty="0" err="1"/>
              <a:t>CodeDeploy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action)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04708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289699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42973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41472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4539897"/>
            <a:ext cx="5881580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</a:t>
            </a:r>
            <a:r>
              <a:rPr lang="en-US" altLang="ko-KR" sz="1100" dirty="0"/>
              <a:t> </a:t>
            </a:r>
            <a:r>
              <a:rPr lang="ko-KR" altLang="en-US" sz="1100" dirty="0"/>
              <a:t>및 핵심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AWS Cloud </a:t>
            </a:r>
            <a:r>
              <a:rPr lang="ko-KR" altLang="en-US" sz="1100" dirty="0"/>
              <a:t>서비스를 이용한 서버 구축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프로젝트의 유일한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개발자로 참여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서버 세팅 혼자서 진행</a:t>
            </a:r>
            <a:endParaRPr lang="en-US" altLang="ko-KR" sz="1100" dirty="0"/>
          </a:p>
          <a:p>
            <a:r>
              <a:rPr lang="en-US" altLang="ko-KR" sz="1100" dirty="0"/>
              <a:t>       </a:t>
            </a:r>
          </a:p>
          <a:p>
            <a:r>
              <a:rPr lang="en-US" altLang="ko-KR" sz="1100" dirty="0"/>
              <a:t> </a:t>
            </a:r>
          </a:p>
          <a:p>
            <a:r>
              <a:rPr lang="ko-KR" altLang="en-US" sz="12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6063740" y="3295818"/>
            <a:ext cx="481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본인 인증 절차를 거쳐 서비스를 이용할 수 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10" name="그림 9" descr="텍스트, 실내, 빨간색이(가) 표시된 사진&#10;&#10;자동 생성된 설명">
            <a:extLst>
              <a:ext uri="{FF2B5EF4-FFF2-40B4-BE49-F238E27FC236}">
                <a16:creationId xmlns:a16="http://schemas.microsoft.com/office/drawing/2014/main" id="{81BC3CD9-7753-4406-A33A-31FE6EF23E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3" y="2583228"/>
            <a:ext cx="2087115" cy="3768388"/>
          </a:xfrm>
          <a:prstGeom prst="rect">
            <a:avLst/>
          </a:prstGeom>
        </p:spPr>
      </p:pic>
      <p:pic>
        <p:nvPicPr>
          <p:cNvPr id="14" name="그림 13" descr="텍스트, 명함이(가) 표시된 사진&#10;&#10;자동 생성된 설명">
            <a:extLst>
              <a:ext uri="{FF2B5EF4-FFF2-40B4-BE49-F238E27FC236}">
                <a16:creationId xmlns:a16="http://schemas.microsoft.com/office/drawing/2014/main" id="{8E12564A-DF15-4ECD-BB14-D7BA871F8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915" y="2583228"/>
            <a:ext cx="2012779" cy="376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28C2D6D-FAFE-4813-BB78-11A8103061A0}"/>
              </a:ext>
            </a:extLst>
          </p:cNvPr>
          <p:cNvSpPr/>
          <p:nvPr/>
        </p:nvSpPr>
        <p:spPr>
          <a:xfrm>
            <a:off x="2642924" y="4991738"/>
            <a:ext cx="788311" cy="1434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910855" y="949798"/>
            <a:ext cx="379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Interceptor,</a:t>
            </a:r>
            <a:r>
              <a:rPr lang="ko-KR" altLang="en-US" b="1" dirty="0"/>
              <a:t> </a:t>
            </a:r>
            <a:r>
              <a:rPr lang="en-US" altLang="ko-KR" b="1" dirty="0"/>
              <a:t>JWT</a:t>
            </a:r>
            <a:r>
              <a:rPr lang="ko-KR" altLang="en-US" b="1" dirty="0"/>
              <a:t>를 사용한 보안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757078" y="1361315"/>
            <a:ext cx="4771629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개인 정보가 많이 사용되는 서비스였기 때문에 권한이 필요한 모든 요청마다 </a:t>
            </a:r>
            <a:r>
              <a:rPr lang="en-US" altLang="ko-KR" sz="1200" dirty="0"/>
              <a:t>token</a:t>
            </a:r>
            <a:r>
              <a:rPr lang="ko-KR" altLang="en-US" sz="1200" dirty="0"/>
              <a:t>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추출하여 요청 로직에 대한 권한을 확인하였습니다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Controller</a:t>
            </a:r>
            <a:r>
              <a:rPr lang="ko-KR" altLang="en-US" sz="1200" dirty="0"/>
              <a:t>로 들어가기 전 </a:t>
            </a:r>
            <a:r>
              <a:rPr lang="en-US" altLang="ko-KR" sz="1200" dirty="0"/>
              <a:t>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Token</a:t>
            </a:r>
            <a:r>
              <a:rPr lang="ko-KR" altLang="en-US" sz="1200" dirty="0"/>
              <a:t>의 유효시간을 확인하는 작업을 진행합니다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Token</a:t>
            </a:r>
            <a:r>
              <a:rPr lang="ko-KR" altLang="en-US" sz="1200" dirty="0"/>
              <a:t>의 시간이 유효하다면</a:t>
            </a:r>
            <a:r>
              <a:rPr lang="en-US" altLang="ko-KR" sz="1200" dirty="0"/>
              <a:t>, Interceptor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추출한 후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 값을 넘겨줍니다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넘겨 받은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이용하여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요청 로직에 대해 권한이 있는지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예를 들어 특정 회원의 프로필을 조회하는 로직을 요청한다면 그 프로필이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에게 허락된 프로필인지 확인하는 절차를 거칩니다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을 사용하여 보안을 높이고</a:t>
            </a:r>
            <a:r>
              <a:rPr lang="en-US" altLang="ko-KR" sz="1200" dirty="0"/>
              <a:t>,</a:t>
            </a:r>
            <a:r>
              <a:rPr lang="ko-KR" altLang="en-US" sz="1200" dirty="0"/>
              <a:t> 자동 로그인이 가능하도록 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467897" y="222005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552199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 flipV="1">
            <a:off x="1281719" y="1422519"/>
            <a:ext cx="2210411" cy="66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 flipV="1">
            <a:off x="1236814" y="4080906"/>
            <a:ext cx="2309337" cy="17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281719" y="2976489"/>
            <a:ext cx="22207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86173" y="1208267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686160" y="2761045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577810" y="3867414"/>
            <a:ext cx="180641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User</a:t>
            </a:r>
            <a:r>
              <a:rPr lang="ko-KR" altLang="en-US" sz="800" dirty="0"/>
              <a:t> </a:t>
            </a:r>
            <a:r>
              <a:rPr lang="en-US" altLang="ko-KR" sz="800" dirty="0"/>
              <a:t>PK</a:t>
            </a:r>
            <a:r>
              <a:rPr lang="ko-KR" altLang="en-US" sz="800" dirty="0"/>
              <a:t>와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72756" y="5823579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702598" y="4318943"/>
            <a:ext cx="1894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488046" y="3975136"/>
            <a:ext cx="230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User</a:t>
            </a:r>
            <a:r>
              <a:rPr lang="ko-KR" altLang="en-US" sz="800" dirty="0"/>
              <a:t>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283582" y="22289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397764" y="299440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295076" y="22878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516008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785127" y="591334"/>
            <a:ext cx="35034" cy="59949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621787" y="598112"/>
            <a:ext cx="19708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>
            <a:off x="5664405" y="591334"/>
            <a:ext cx="15095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01140" y="4912944"/>
            <a:ext cx="2011585" cy="7954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556305" y="4967450"/>
            <a:ext cx="29968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Refresh Token</a:t>
            </a:r>
            <a:r>
              <a:rPr lang="ko-KR" altLang="en-US" sz="800" dirty="0"/>
              <a:t>과 </a:t>
            </a:r>
            <a:r>
              <a:rPr lang="en-US" altLang="ko-KR" sz="800" dirty="0"/>
              <a:t>Db Refresh token</a:t>
            </a:r>
            <a:r>
              <a:rPr lang="ko-KR" altLang="en-US" sz="800" dirty="0"/>
              <a:t>의</a:t>
            </a:r>
            <a:endParaRPr lang="en-US" altLang="ko-KR" sz="800" dirty="0"/>
          </a:p>
          <a:p>
            <a:r>
              <a:rPr lang="ko-KR" altLang="en-US" sz="800" dirty="0"/>
              <a:t>동일성 확인</a:t>
            </a:r>
            <a:endParaRPr lang="en-US" altLang="ko-KR" sz="800" dirty="0"/>
          </a:p>
          <a:p>
            <a:endParaRPr lang="en-US" altLang="ko-KR" sz="800" dirty="0"/>
          </a:p>
          <a:p>
            <a:r>
              <a:rPr lang="en-US" altLang="ko-KR" sz="800" dirty="0"/>
              <a:t>2. Refresh token</a:t>
            </a:r>
            <a:r>
              <a:rPr lang="ko-KR" altLang="en-US" sz="800" dirty="0"/>
              <a:t>의 유효시간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203522" y="6054522"/>
            <a:ext cx="2292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520880" y="3766379"/>
            <a:ext cx="612442" cy="24507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560163" y="4552361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702598" y="4552361"/>
            <a:ext cx="18975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51010" y="4379611"/>
            <a:ext cx="1572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Db 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777658" y="107409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519301" y="1011012"/>
            <a:ext cx="612442" cy="23973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548103" y="1845916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709275" y="6047238"/>
            <a:ext cx="1887349" cy="9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855584" y="5793848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65F57D3-817A-4372-9CC0-C97CE0AF9AA0}"/>
              </a:ext>
            </a:extLst>
          </p:cNvPr>
          <p:cNvSpPr/>
          <p:nvPr/>
        </p:nvSpPr>
        <p:spPr>
          <a:xfrm>
            <a:off x="2228795" y="1592911"/>
            <a:ext cx="2496784" cy="994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7836FD-1AFA-4DE8-8153-AE3710F94EF8}"/>
              </a:ext>
            </a:extLst>
          </p:cNvPr>
          <p:cNvSpPr txBox="1"/>
          <p:nvPr/>
        </p:nvSpPr>
        <p:spPr>
          <a:xfrm>
            <a:off x="2302526" y="1674729"/>
            <a:ext cx="2481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Access token</a:t>
            </a:r>
            <a:r>
              <a:rPr lang="ko-KR" altLang="en-US" sz="800" dirty="0"/>
              <a:t>에서 </a:t>
            </a:r>
            <a:r>
              <a:rPr lang="en-US" altLang="ko-KR" sz="800" dirty="0" err="1"/>
              <a:t>userId</a:t>
            </a:r>
            <a:r>
              <a:rPr lang="ko-KR" altLang="en-US" sz="800" dirty="0"/>
              <a:t>를 추출한 후</a:t>
            </a:r>
            <a:r>
              <a:rPr lang="en-US" altLang="ko-KR" sz="800" dirty="0"/>
              <a:t>,</a:t>
            </a:r>
          </a:p>
          <a:p>
            <a:r>
              <a:rPr lang="en-US" altLang="ko-KR" sz="800" dirty="0"/>
              <a:t>User</a:t>
            </a:r>
            <a:r>
              <a:rPr lang="ko-KR" altLang="en-US" sz="800" dirty="0"/>
              <a:t>가 요청 로직에 대해 권한이 있는지 확인 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2-1) </a:t>
            </a:r>
            <a:r>
              <a:rPr lang="ko-KR" altLang="en-US" sz="800" dirty="0"/>
              <a:t>권한이 있는 경우 로직을 수행한다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2-2)</a:t>
            </a:r>
            <a:r>
              <a:rPr lang="ko-KR" altLang="en-US" sz="800" dirty="0"/>
              <a:t>권한이 없는 경우 </a:t>
            </a:r>
            <a:r>
              <a:rPr lang="en-US" altLang="ko-KR" sz="800" dirty="0"/>
              <a:t>Exception</a:t>
            </a:r>
            <a:r>
              <a:rPr lang="ko-KR" altLang="en-US" sz="800" dirty="0"/>
              <a:t>을 발생시킨다</a:t>
            </a:r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341245" y="248258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08048" y="372559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244896" y="736677"/>
            <a:ext cx="5190460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기능에 필요한 테이블</a:t>
            </a:r>
            <a:endParaRPr lang="en-US" altLang="ko-KR" sz="1200" dirty="0"/>
          </a:p>
          <a:p>
            <a:r>
              <a:rPr lang="en-US" altLang="ko-KR" sz="1200" dirty="0"/>
              <a:t>     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User Table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en-US" altLang="ko-KR" sz="1200" dirty="0" err="1"/>
              <a:t>AcquaintancePhoneNumber</a:t>
            </a:r>
            <a:r>
              <a:rPr lang="en-US" altLang="ko-KR" sz="1200" dirty="0"/>
              <a:t> Table</a:t>
            </a:r>
          </a:p>
          <a:p>
            <a:r>
              <a:rPr lang="en-US" altLang="ko-KR" sz="1200" dirty="0"/>
              <a:t>  - User</a:t>
            </a:r>
            <a:r>
              <a:rPr lang="ko-KR" altLang="en-US" sz="1200" dirty="0"/>
              <a:t> </a:t>
            </a:r>
            <a:r>
              <a:rPr lang="en-US" altLang="ko-KR" sz="1200" dirty="0"/>
              <a:t>Table</a:t>
            </a:r>
            <a:r>
              <a:rPr lang="ko-KR" altLang="en-US" sz="1200" dirty="0"/>
              <a:t>과 </a:t>
            </a:r>
            <a:r>
              <a:rPr lang="en-US" altLang="ko-KR" sz="1200" dirty="0"/>
              <a:t>N : 1</a:t>
            </a:r>
            <a:r>
              <a:rPr lang="ko-KR" altLang="en-US" sz="1200" dirty="0"/>
              <a:t>의 관계로 </a:t>
            </a:r>
            <a:r>
              <a:rPr lang="ko-KR" altLang="en-US" sz="1200" dirty="0" err="1"/>
              <a:t>매핑된</a:t>
            </a:r>
            <a:r>
              <a:rPr lang="ko-KR" altLang="en-US" sz="1200" dirty="0"/>
              <a:t> 테이블</a:t>
            </a:r>
            <a:endParaRPr lang="en-US" altLang="ko-KR" sz="1200" dirty="0"/>
          </a:p>
          <a:p>
            <a:r>
              <a:rPr lang="en-US" altLang="ko-KR" sz="1200" dirty="0"/>
              <a:t>  - User</a:t>
            </a:r>
            <a:r>
              <a:rPr lang="ko-KR" altLang="en-US" sz="1200" dirty="0"/>
              <a:t>의 핸드폰에 있는 모든 연락처를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en-US" altLang="ko-KR" sz="1200" dirty="0" err="1"/>
              <a:t>AcquaintanceRelation</a:t>
            </a:r>
            <a:r>
              <a:rPr lang="ko-KR" altLang="en-US" sz="1200" dirty="0"/>
              <a:t> </a:t>
            </a:r>
            <a:r>
              <a:rPr lang="en-US" altLang="ko-KR" sz="1200" dirty="0"/>
              <a:t>Table </a:t>
            </a:r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나타내는 테이블</a:t>
            </a:r>
            <a:endParaRPr lang="en-US" altLang="ko-KR" sz="1200" dirty="0"/>
          </a:p>
          <a:p>
            <a:r>
              <a:rPr lang="en-US" altLang="ko-KR" sz="1200" dirty="0"/>
              <a:t> 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풀어낸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1 – 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1) User </a:t>
            </a:r>
            <a:r>
              <a:rPr lang="ko-KR" altLang="en-US" sz="1200" dirty="0"/>
              <a:t>핸드폰에 저장된 모든 번호를 받아옵니다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이후 </a:t>
            </a:r>
            <a:r>
              <a:rPr lang="en-US" altLang="ko-KR" sz="1200" dirty="0"/>
              <a:t>Acquaintance </a:t>
            </a:r>
            <a:r>
              <a:rPr lang="en-US" altLang="ko-KR" sz="1200" dirty="0" err="1"/>
              <a:t>PhoneNumber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2) </a:t>
            </a:r>
            <a:r>
              <a:rPr lang="ko-KR" altLang="en-US" sz="1200" dirty="0"/>
              <a:t>방금 전 등록한 번호 목록을 통해 아는 사이인 기존 유저들을 찾고 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909CA5-1DE6-43C9-83F4-147148F20DB1}"/>
              </a:ext>
            </a:extLst>
          </p:cNvPr>
          <p:cNvSpPr txBox="1"/>
          <p:nvPr/>
        </p:nvSpPr>
        <p:spPr>
          <a:xfrm>
            <a:off x="5692133" y="0"/>
            <a:ext cx="640783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2 - </a:t>
            </a:r>
            <a:r>
              <a:rPr lang="ko-KR" altLang="en-US" sz="1200" b="1" dirty="0"/>
              <a:t>새로운 유저 가입</a:t>
            </a:r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ko-KR" altLang="en-US" sz="1200" dirty="0"/>
              <a:t>신규 가입자의 전화번호를 통해 기존 유저와 아는 사이임을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 Table</a:t>
            </a:r>
            <a:r>
              <a:rPr lang="ko-KR" altLang="en-US" sz="1200" dirty="0"/>
              <a:t>에 등록합니다</a:t>
            </a:r>
            <a:r>
              <a:rPr lang="en-US" altLang="ko-KR" sz="1200" dirty="0"/>
              <a:t>.</a:t>
            </a:r>
            <a:endParaRPr lang="en-US" altLang="ko-KR" sz="9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3 –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Off</a:t>
            </a:r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AcquaintancePhoneNumber</a:t>
            </a:r>
            <a:r>
              <a:rPr lang="ko-KR" altLang="en-US" sz="1200" dirty="0"/>
              <a:t> 테이블에서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와 </a:t>
            </a:r>
            <a:r>
              <a:rPr lang="ko-KR" altLang="en-US" sz="1200" dirty="0" err="1"/>
              <a:t>연결되어있는</a:t>
            </a:r>
            <a:r>
              <a:rPr lang="ko-KR" altLang="en-US" sz="1200" dirty="0"/>
              <a:t>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삭제합니다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테이블은 </a:t>
            </a:r>
            <a:r>
              <a:rPr lang="en-US" altLang="ko-KR" sz="1200" dirty="0"/>
              <a:t>User</a:t>
            </a:r>
            <a:r>
              <a:rPr lang="ko-KR" altLang="en-US" sz="1200" dirty="0"/>
              <a:t>와 연결되어 있는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지우면 안됩니다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-</a:t>
            </a:r>
            <a:r>
              <a:rPr lang="ko-KR" altLang="en-US" sz="1200" dirty="0"/>
              <a:t> </a:t>
            </a:r>
            <a:r>
              <a:rPr lang="ko-KR" altLang="en-US" sz="1200" dirty="0" err="1"/>
              <a:t>UserA와</a:t>
            </a:r>
            <a:r>
              <a:rPr lang="ko-KR" altLang="en-US" sz="1200" dirty="0"/>
              <a:t> 아는 사이라고 </a:t>
            </a:r>
            <a:r>
              <a:rPr lang="ko-KR" altLang="en-US" sz="1200" dirty="0" err="1"/>
              <a:t>등록되어있는</a:t>
            </a:r>
            <a:r>
              <a:rPr lang="ko-KR" altLang="en-US" sz="1200" dirty="0"/>
              <a:t> </a:t>
            </a:r>
            <a:r>
              <a:rPr lang="ko-KR" altLang="en-US" sz="1200" b="1" dirty="0" err="1"/>
              <a:t>UserB가</a:t>
            </a:r>
            <a:r>
              <a:rPr lang="ko-KR" altLang="en-US" sz="1200" b="1" dirty="0"/>
              <a:t> 아는 사람 피하기 기능을 사용하고 있다면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Row을</a:t>
            </a:r>
            <a:r>
              <a:rPr lang="ko-KR" altLang="en-US" sz="1200" dirty="0"/>
              <a:t> </a:t>
            </a:r>
            <a:r>
              <a:rPr lang="ko-KR" altLang="en-US" sz="1200" b="1" dirty="0"/>
              <a:t>삭제하지 않도록 </a:t>
            </a:r>
            <a:r>
              <a:rPr lang="ko-KR" altLang="en-US" sz="1200" dirty="0"/>
              <a:t>하였습니다 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85243D1-A0FB-4082-9E04-BCB027922D97}"/>
              </a:ext>
            </a:extLst>
          </p:cNvPr>
          <p:cNvCxnSpPr>
            <a:cxnSpLocks/>
          </p:cNvCxnSpPr>
          <p:nvPr/>
        </p:nvCxnSpPr>
        <p:spPr>
          <a:xfrm flipH="1">
            <a:off x="5470824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6">
            <a:extLst>
              <a:ext uri="{FF2B5EF4-FFF2-40B4-BE49-F238E27FC236}">
                <a16:creationId xmlns:a16="http://schemas.microsoft.com/office/drawing/2014/main" id="{26774717-31BF-4E4F-974A-B24EC1988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0217" y="4940933"/>
            <a:ext cx="5641681" cy="120032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findMyAcquaintanceList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stream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filter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getUserId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isPresent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filter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!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getAvoidingAcquaintance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forEach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.deleteAcquaintanceRelation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orElseThrow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(()-&gt;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new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NoSuchElementException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존재하지 않는 회원입니다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en-US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671821-39D2-42A4-B8E1-CFD555E4402A}"/>
              </a:ext>
            </a:extLst>
          </p:cNvPr>
          <p:cNvSpPr txBox="1"/>
          <p:nvPr/>
        </p:nvSpPr>
        <p:spPr>
          <a:xfrm>
            <a:off x="513769" y="5556254"/>
            <a:ext cx="19375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 </a:t>
            </a:r>
            <a:r>
              <a:rPr lang="ko-KR" altLang="en-US" sz="1200" dirty="0"/>
              <a:t>예시코드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C379E-6EB8-42E7-9435-56F468064B9B}"/>
              </a:ext>
            </a:extLst>
          </p:cNvPr>
          <p:cNvSpPr txBox="1"/>
          <p:nvPr/>
        </p:nvSpPr>
        <p:spPr>
          <a:xfrm>
            <a:off x="6008892" y="4608345"/>
            <a:ext cx="1549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 2</a:t>
            </a:r>
            <a:r>
              <a:rPr lang="ko-KR" altLang="en-US" sz="1200" dirty="0"/>
              <a:t>의</a:t>
            </a:r>
            <a:r>
              <a:rPr lang="en-US" altLang="ko-KR" sz="1200" dirty="0"/>
              <a:t> </a:t>
            </a:r>
            <a:r>
              <a:rPr lang="ko-KR" altLang="en-US" sz="1200" dirty="0"/>
              <a:t>예시코드</a:t>
            </a:r>
            <a:endParaRPr lang="en-US" altLang="ko-KR" sz="1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193E815-6065-4C2E-940E-7D2F78809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690" y="5918955"/>
            <a:ext cx="3676006" cy="646331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for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String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: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 {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ifPresent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{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registerNewAcquaintance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})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80503" y="1258146"/>
            <a:ext cx="108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암호화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147305" y="1382447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9CD0A36-2C4E-41FA-8609-3C7BD738348D}"/>
              </a:ext>
            </a:extLst>
          </p:cNvPr>
          <p:cNvSpPr/>
          <p:nvPr/>
        </p:nvSpPr>
        <p:spPr>
          <a:xfrm>
            <a:off x="220766" y="617421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2C02C-C1CC-4F9D-A88C-93D8A6635BD3}"/>
              </a:ext>
            </a:extLst>
          </p:cNvPr>
          <p:cNvSpPr txBox="1"/>
          <p:nvPr/>
        </p:nvSpPr>
        <p:spPr>
          <a:xfrm>
            <a:off x="305068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6AEE795-6D3A-4139-9970-A38B56E1E9D0}"/>
              </a:ext>
            </a:extLst>
          </p:cNvPr>
          <p:cNvSpPr/>
          <p:nvPr/>
        </p:nvSpPr>
        <p:spPr>
          <a:xfrm>
            <a:off x="2671927" y="61830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5A38BF-411C-4277-B32F-E0B133EFF133}"/>
              </a:ext>
            </a:extLst>
          </p:cNvPr>
          <p:cNvSpPr txBox="1"/>
          <p:nvPr/>
        </p:nvSpPr>
        <p:spPr>
          <a:xfrm>
            <a:off x="2786109" y="694856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E7E611-9115-4ED5-974E-197C352FA1CA}"/>
              </a:ext>
            </a:extLst>
          </p:cNvPr>
          <p:cNvSpPr/>
          <p:nvPr/>
        </p:nvSpPr>
        <p:spPr>
          <a:xfrm>
            <a:off x="5146796" y="62419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481613-7B00-483D-A8D0-E602B999E312}"/>
              </a:ext>
            </a:extLst>
          </p:cNvPr>
          <p:cNvSpPr txBox="1"/>
          <p:nvPr/>
        </p:nvSpPr>
        <p:spPr>
          <a:xfrm>
            <a:off x="5275052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EMAIL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F4D15714-C196-46ED-B010-321F5CC9CB0A}"/>
              </a:ext>
            </a:extLst>
          </p:cNvPr>
          <p:cNvCxnSpPr>
            <a:cxnSpLocks/>
          </p:cNvCxnSpPr>
          <p:nvPr/>
        </p:nvCxnSpPr>
        <p:spPr>
          <a:xfrm flipH="1">
            <a:off x="553322" y="986750"/>
            <a:ext cx="19708" cy="55623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4CE9D00-C90A-495A-8F7F-FA9E3430A674}"/>
              </a:ext>
            </a:extLst>
          </p:cNvPr>
          <p:cNvCxnSpPr>
            <a:cxnSpLocks/>
          </p:cNvCxnSpPr>
          <p:nvPr/>
        </p:nvCxnSpPr>
        <p:spPr>
          <a:xfrm flipH="1">
            <a:off x="3022204" y="1049134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590DA13-D6CA-4FE5-8A5B-3B5C3E409B8D}"/>
              </a:ext>
            </a:extLst>
          </p:cNvPr>
          <p:cNvCxnSpPr>
            <a:cxnSpLocks/>
          </p:cNvCxnSpPr>
          <p:nvPr/>
        </p:nvCxnSpPr>
        <p:spPr>
          <a:xfrm>
            <a:off x="5516125" y="986750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7EE7BC7-486C-443C-BEE6-32DCE4C0AFE4}"/>
              </a:ext>
            </a:extLst>
          </p:cNvPr>
          <p:cNvCxnSpPr>
            <a:cxnSpLocks/>
          </p:cNvCxnSpPr>
          <p:nvPr/>
        </p:nvCxnSpPr>
        <p:spPr>
          <a:xfrm>
            <a:off x="579207" y="1415408"/>
            <a:ext cx="2449459" cy="2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5895C2B1-8D24-40F1-B152-753305E33BE5}"/>
              </a:ext>
            </a:extLst>
          </p:cNvPr>
          <p:cNvSpPr txBox="1"/>
          <p:nvPr/>
        </p:nvSpPr>
        <p:spPr>
          <a:xfrm>
            <a:off x="636826" y="1227368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    이메일 주소와 함께 비밀번호 변경 요청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7C9C0E09-7020-4A6C-9E6A-976E07F2EF1F}"/>
              </a:ext>
            </a:extLst>
          </p:cNvPr>
          <p:cNvSpPr/>
          <p:nvPr/>
        </p:nvSpPr>
        <p:spPr>
          <a:xfrm>
            <a:off x="1814578" y="1579525"/>
            <a:ext cx="2496784" cy="882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이메일과 현재 시간을 조합하여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생성시 암호화 진행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암호화 과정은 오른쪽 설명란  참조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을</a:t>
            </a:r>
            <a:r>
              <a:rPr lang="en-US" altLang="ko-KR" sz="800" dirty="0">
                <a:solidFill>
                  <a:schemeClr val="tx1"/>
                </a:solidFill>
              </a:rPr>
              <a:t> email</a:t>
            </a:r>
            <a:r>
              <a:rPr lang="ko-KR" altLang="en-US" sz="800" dirty="0">
                <a:solidFill>
                  <a:schemeClr val="tx1"/>
                </a:solidFill>
              </a:rPr>
              <a:t>로 전송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0A9FEC5F-43A8-4616-90BD-30BAE0F44BFB}"/>
              </a:ext>
            </a:extLst>
          </p:cNvPr>
          <p:cNvCxnSpPr>
            <a:cxnSpLocks/>
          </p:cNvCxnSpPr>
          <p:nvPr/>
        </p:nvCxnSpPr>
        <p:spPr>
          <a:xfrm>
            <a:off x="3076197" y="2834302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2292667F-04B0-4E05-BD37-521CD8C41291}"/>
              </a:ext>
            </a:extLst>
          </p:cNvPr>
          <p:cNvSpPr txBox="1"/>
          <p:nvPr/>
        </p:nvSpPr>
        <p:spPr>
          <a:xfrm>
            <a:off x="2945258" y="2569430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전송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0E1BC1-8B84-4EA9-B435-76798F627386}"/>
              </a:ext>
            </a:extLst>
          </p:cNvPr>
          <p:cNvCxnSpPr>
            <a:cxnSpLocks/>
          </p:cNvCxnSpPr>
          <p:nvPr/>
        </p:nvCxnSpPr>
        <p:spPr>
          <a:xfrm flipH="1">
            <a:off x="3073086" y="4127169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C53056F-2B33-4C70-9740-60DE6A1877EF}"/>
              </a:ext>
            </a:extLst>
          </p:cNvPr>
          <p:cNvSpPr txBox="1"/>
          <p:nvPr/>
        </p:nvSpPr>
        <p:spPr>
          <a:xfrm>
            <a:off x="2930026" y="3918439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클릭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20B73B9C-9592-42B8-A101-74748325C9C4}"/>
              </a:ext>
            </a:extLst>
          </p:cNvPr>
          <p:cNvCxnSpPr>
            <a:cxnSpLocks/>
          </p:cNvCxnSpPr>
          <p:nvPr/>
        </p:nvCxnSpPr>
        <p:spPr>
          <a:xfrm>
            <a:off x="3098857" y="4438630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1BD0D182-9996-4AAA-9355-0EE6469E3B3D}"/>
              </a:ext>
            </a:extLst>
          </p:cNvPr>
          <p:cNvSpPr txBox="1"/>
          <p:nvPr/>
        </p:nvSpPr>
        <p:spPr>
          <a:xfrm>
            <a:off x="2967918" y="4223186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페이지 제공</a:t>
            </a: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E4AB057E-0B68-4248-AFB4-690597325D0C}"/>
              </a:ext>
            </a:extLst>
          </p:cNvPr>
          <p:cNvCxnSpPr>
            <a:cxnSpLocks/>
          </p:cNvCxnSpPr>
          <p:nvPr/>
        </p:nvCxnSpPr>
        <p:spPr>
          <a:xfrm flipH="1">
            <a:off x="3086051" y="4839133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79A4A522-E537-4357-879E-43266D77BC77}"/>
              </a:ext>
            </a:extLst>
          </p:cNvPr>
          <p:cNvSpPr txBox="1"/>
          <p:nvPr/>
        </p:nvSpPr>
        <p:spPr>
          <a:xfrm>
            <a:off x="2931927" y="4521868"/>
            <a:ext cx="2669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요청</a:t>
            </a:r>
            <a:endParaRPr lang="en-US" altLang="ko-KR" sz="800" dirty="0"/>
          </a:p>
          <a:p>
            <a:pPr algn="ctr"/>
            <a:r>
              <a:rPr lang="ko-KR" altLang="en-US" sz="800" dirty="0"/>
              <a:t>이 때 암호화 된 값이 함께 </a:t>
            </a:r>
            <a:r>
              <a:rPr lang="en-US" altLang="ko-KR" sz="800" dirty="0"/>
              <a:t>server</a:t>
            </a:r>
            <a:r>
              <a:rPr lang="ko-KR" altLang="en-US" sz="800" dirty="0"/>
              <a:t>로 전송됨</a:t>
            </a:r>
            <a:endParaRPr lang="en-US" altLang="ko-KR" sz="800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762B5D0-7DE3-4E81-B887-4CA358FBE2F9}"/>
              </a:ext>
            </a:extLst>
          </p:cNvPr>
          <p:cNvSpPr/>
          <p:nvPr/>
        </p:nvSpPr>
        <p:spPr>
          <a:xfrm>
            <a:off x="1721768" y="4997135"/>
            <a:ext cx="2502096" cy="1342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암호화 된 값 복호화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복호화를 통해 </a:t>
            </a:r>
            <a:r>
              <a:rPr lang="en-US" altLang="ko-KR" sz="800" dirty="0">
                <a:solidFill>
                  <a:schemeClr val="tx1"/>
                </a:solidFill>
              </a:rPr>
              <a:t>1)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 </a:t>
            </a:r>
            <a:r>
              <a:rPr lang="en-US" altLang="ko-KR" sz="800" dirty="0">
                <a:solidFill>
                  <a:schemeClr val="tx1"/>
                </a:solidFill>
              </a:rPr>
              <a:t>2)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만들어진 시간을 알 수 있음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생성된 지 </a:t>
            </a:r>
            <a:r>
              <a:rPr lang="en-US" altLang="ko-KR" sz="800" dirty="0">
                <a:solidFill>
                  <a:schemeClr val="tx1"/>
                </a:solidFill>
              </a:rPr>
              <a:t>5</a:t>
            </a:r>
            <a:r>
              <a:rPr lang="ko-KR" altLang="en-US" sz="800" dirty="0">
                <a:solidFill>
                  <a:schemeClr val="tx1"/>
                </a:solidFill>
              </a:rPr>
              <a:t>분이 넘었다면 해당 요청은 수행하지 않음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ko-KR" altLang="en-US" sz="800" dirty="0">
                <a:solidFill>
                  <a:schemeClr val="tx1"/>
                </a:solidFill>
              </a:rPr>
              <a:t>시간이 유효하다면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이메일로 </a:t>
            </a:r>
            <a:r>
              <a:rPr lang="en-US" altLang="ko-KR" sz="800" dirty="0">
                <a:solidFill>
                  <a:schemeClr val="tx1"/>
                </a:solidFill>
              </a:rPr>
              <a:t>user</a:t>
            </a:r>
            <a:r>
              <a:rPr lang="ko-KR" altLang="en-US" sz="800" dirty="0">
                <a:solidFill>
                  <a:schemeClr val="tx1"/>
                </a:solidFill>
              </a:rPr>
              <a:t>를 </a:t>
            </a:r>
            <a:r>
              <a:rPr lang="en-US" altLang="ko-KR" sz="800" dirty="0" err="1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에서 </a:t>
            </a:r>
            <a:r>
              <a:rPr lang="en-US" altLang="ko-KR" sz="800" dirty="0">
                <a:solidFill>
                  <a:schemeClr val="tx1"/>
                </a:solidFill>
              </a:rPr>
              <a:t>select</a:t>
            </a:r>
            <a:r>
              <a:rPr lang="ko-KR" altLang="en-US" sz="800" dirty="0">
                <a:solidFill>
                  <a:schemeClr val="tx1"/>
                </a:solidFill>
              </a:rPr>
              <a:t>하여 비밀번호를 변경함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7151424" y="1852292"/>
            <a:ext cx="4836539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암호화 방법</a:t>
            </a: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자바의 </a:t>
            </a:r>
            <a:r>
              <a:rPr lang="en-US" altLang="ko-KR" sz="1200" dirty="0"/>
              <a:t>Cipher </a:t>
            </a:r>
            <a:r>
              <a:rPr lang="ko-KR" altLang="en-US" sz="1200" dirty="0"/>
              <a:t>클래스를 사용하였습니다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AES/CBC/PKCS5Padding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dirty="0"/>
              <a:t>⨀ 암호화 이용 과정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현재 시간과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암호화합니다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암호화 된 값과 함께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을 만든 후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로 전송합니다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3. Client</a:t>
            </a:r>
            <a:r>
              <a:rPr lang="ko-KR" altLang="en-US" sz="1200" dirty="0"/>
              <a:t>로부터 암호화 된 값과 함께 비밀번호 변경을 </a:t>
            </a:r>
            <a:r>
              <a:rPr lang="ko-KR" altLang="en-US" sz="1200" dirty="0" err="1"/>
              <a:t>요청받습니다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암호화 된 값을 복호화 하여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이 만들어진 시간과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얻어냅니다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유효시간을 확인 한 후</a:t>
            </a:r>
            <a:r>
              <a:rPr lang="en-US" altLang="ko-KR" sz="1200" dirty="0"/>
              <a:t>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의 비밀번호를 변경합니다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3CBDE7AE-29B2-4D89-B27D-D77A46B6E4A3}"/>
              </a:ext>
            </a:extLst>
          </p:cNvPr>
          <p:cNvSpPr/>
          <p:nvPr/>
        </p:nvSpPr>
        <p:spPr>
          <a:xfrm>
            <a:off x="4342348" y="2991685"/>
            <a:ext cx="2387434" cy="88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하나의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은 한 명의 회원에게만 적용되는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임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예시 </a:t>
            </a:r>
            <a:r>
              <a:rPr lang="en-US" altLang="ko-KR" sz="800" dirty="0">
                <a:solidFill>
                  <a:schemeClr val="tx1"/>
                </a:solidFill>
              </a:rPr>
              <a:t>: www.highend.com/reset/password/{askljaflkmdkljasklf(</a:t>
            </a:r>
            <a:r>
              <a:rPr lang="ko-KR" altLang="en-US" sz="800" dirty="0">
                <a:solidFill>
                  <a:schemeClr val="tx1"/>
                </a:solidFill>
              </a:rPr>
              <a:t>회원 </a:t>
            </a:r>
            <a:r>
              <a:rPr lang="en-US" altLang="ko-KR" sz="800" dirty="0">
                <a:solidFill>
                  <a:schemeClr val="tx1"/>
                </a:solidFill>
              </a:rPr>
              <a:t>email</a:t>
            </a:r>
            <a:r>
              <a:rPr lang="ko-KR" altLang="en-US" sz="800" dirty="0">
                <a:solidFill>
                  <a:schemeClr val="tx1"/>
                </a:solidFill>
              </a:rPr>
              <a:t>과 현재 시간으로 암호화 된 값</a:t>
            </a:r>
            <a:r>
              <a:rPr lang="en-US" altLang="ko-KR" sz="800" dirty="0">
                <a:solidFill>
                  <a:schemeClr val="tx1"/>
                </a:solidFill>
              </a:rPr>
              <a:t>)}</a:t>
            </a:r>
            <a:r>
              <a:rPr lang="ko-KR" altLang="en-US" sz="800" dirty="0"/>
              <a:t>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4141483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338193"/>
            <a:ext cx="1679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1)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</a:t>
            </a:r>
            <a:endParaRPr lang="en-US" altLang="ko-KR" sz="800" dirty="0"/>
          </a:p>
          <a:p>
            <a:pPr algn="ctr"/>
            <a:r>
              <a:rPr lang="en-US" altLang="ko-KR" sz="800" dirty="0"/>
              <a:t>2) Nginx</a:t>
            </a:r>
            <a:r>
              <a:rPr lang="ko-KR" altLang="en-US" sz="800" dirty="0"/>
              <a:t>의 </a:t>
            </a:r>
            <a:r>
              <a:rPr lang="en-US" altLang="ko-KR" sz="800" dirty="0" err="1"/>
              <a:t>proxy_pass</a:t>
            </a:r>
            <a:r>
              <a:rPr lang="en-US" altLang="ko-KR" sz="800" dirty="0"/>
              <a:t> </a:t>
            </a:r>
            <a:r>
              <a:rPr lang="ko-KR" altLang="en-US" sz="800" dirty="0"/>
              <a:t>변경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082783" y="2498800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4152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61129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46120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7" y="830534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1546319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346036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6" y="1785335"/>
            <a:ext cx="48330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EC2, RDS</a:t>
            </a:r>
          </a:p>
          <a:p>
            <a:r>
              <a:rPr lang="en-US" altLang="ko-KR" sz="1400" dirty="0"/>
              <a:t>- CICD(</a:t>
            </a:r>
            <a:r>
              <a:rPr lang="en-US" altLang="ko-KR" sz="1400" dirty="0" err="1"/>
              <a:t>CodeDeploy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action)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282867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66594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098815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4053780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392964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4429139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5977276" y="5817876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375970" y="5730099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372837" y="6118676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4186</TotalTime>
  <Words>1339</Words>
  <Application>Microsoft Office PowerPoint</Application>
  <PresentationFormat>와이드스크린</PresentationFormat>
  <Paragraphs>273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Arial Unicode MS</vt:lpstr>
      <vt:lpstr>맑은 고딕</vt:lpstr>
      <vt:lpstr>Arial</vt:lpstr>
      <vt:lpstr>Arial Rounded MT Bold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198</cp:revision>
  <dcterms:created xsi:type="dcterms:W3CDTF">2021-09-02T08:00:50Z</dcterms:created>
  <dcterms:modified xsi:type="dcterms:W3CDTF">2022-02-06T05:40:33Z</dcterms:modified>
</cp:coreProperties>
</file>