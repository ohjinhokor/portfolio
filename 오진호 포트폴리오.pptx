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8" r:id="rId3"/>
    <p:sldId id="271" r:id="rId4"/>
    <p:sldId id="272" r:id="rId5"/>
    <p:sldId id="273" r:id="rId6"/>
    <p:sldId id="269" r:id="rId7"/>
    <p:sldId id="274" r:id="rId8"/>
    <p:sldId id="260" r:id="rId9"/>
    <p:sldId id="261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antasy-ticket-2c3.notion.site/Be-st-Practice-Bepi-6eb9132dba294c6bac4b532fc273a13c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ohjinhokor" TargetMode="External"/><Relationship Id="rId4" Type="http://schemas.openxmlformats.org/officeDocument/2006/relationships/hyperlink" Target="mailto:ohjinho7@gmail.com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6.JPG"/><Relationship Id="rId7" Type="http://schemas.openxmlformats.org/officeDocument/2006/relationships/image" Target="../media/image10.jpg"/><Relationship Id="rId12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243869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803140" y="3622551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79" y="382750"/>
            <a:ext cx="56906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  </a:t>
            </a:r>
          </a:p>
          <a:p>
            <a:endParaRPr lang="en-US" altLang="ko-KR" sz="1600" dirty="0">
              <a:latin typeface="Arial Rounded MT Bold" panose="020F0704030504030204" pitchFamily="34" charset="0"/>
            </a:endParaRPr>
          </a:p>
          <a:p>
            <a:r>
              <a:rPr lang="ko-KR" altLang="en-US" sz="1600" dirty="0">
                <a:latin typeface="Arial Rounded MT Bold" panose="020F0704030504030204" pitchFamily="34" charset="0"/>
              </a:rPr>
              <a:t>더 좋은 코드를 고민하는 개발자 </a:t>
            </a:r>
            <a:r>
              <a:rPr lang="en-US" altLang="ko-KR" sz="1600" dirty="0" err="1">
                <a:latin typeface="Arial Rounded MT Bold" panose="020F0704030504030204" pitchFamily="34" charset="0"/>
              </a:rPr>
              <a:t>Bepi</a:t>
            </a:r>
            <a:r>
              <a:rPr lang="ko-KR" altLang="en-US" sz="1600" dirty="0">
                <a:latin typeface="Arial Rounded MT Bold" panose="020F0704030504030204" pitchFamily="34" charset="0"/>
              </a:rPr>
              <a:t>입니다</a:t>
            </a:r>
            <a:endParaRPr lang="en-US" altLang="ko-KR" sz="16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272330" y="5610278"/>
            <a:ext cx="385801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</a:t>
            </a:r>
            <a:endParaRPr lang="en-US" altLang="ko-KR" sz="1100" b="1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Resume: </a:t>
            </a:r>
            <a:r>
              <a:rPr lang="ko-KR" altLang="en-US" sz="1100" dirty="0">
                <a:hlinkClick r:id="rId3"/>
              </a:rPr>
              <a:t>링크</a:t>
            </a:r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4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5"/>
              </a:rPr>
              <a:t>https://github.com/ohjinhokor</a:t>
            </a:r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1883926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827149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565539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800832" y="336243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en-US" altLang="ko-KR" sz="1100" dirty="0"/>
              <a:t>DINO-STUDIO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(2021.12 ~ 2022.02)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83580" y="2084749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3047133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4249428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364993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명 </a:t>
            </a:r>
            <a:r>
              <a:rPr lang="en-US" altLang="ko-KR" b="1" dirty="0"/>
              <a:t>: </a:t>
            </a:r>
            <a:r>
              <a:rPr lang="ko-KR" altLang="en-US" b="1" dirty="0"/>
              <a:t>하이엔드</a:t>
            </a:r>
            <a:r>
              <a:rPr lang="en-US" altLang="ko-KR" b="1" dirty="0"/>
              <a:t>(High-End)</a:t>
            </a:r>
            <a:endParaRPr lang="ko-KR" altLang="en-US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72783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577746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947078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 ~ 2022. 02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158539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143530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1819371"/>
            <a:ext cx="4562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Querydsl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MySql</a:t>
            </a:r>
            <a:endParaRPr lang="en-US" altLang="ko-KR" sz="1400" dirty="0"/>
          </a:p>
          <a:p>
            <a:r>
              <a:rPr lang="en-US" altLang="ko-KR" sz="1400" dirty="0"/>
              <a:t>- EC2, RDS, S3, CloudFront</a:t>
            </a:r>
          </a:p>
          <a:p>
            <a:r>
              <a:rPr lang="en-US" altLang="ko-KR" sz="1400" dirty="0"/>
              <a:t>- CICD</a:t>
            </a:r>
            <a:endParaRPr lang="ko-KR" altLang="en-US" sz="1400" dirty="0"/>
          </a:p>
          <a:p>
            <a:r>
              <a:rPr lang="en-US" altLang="ko-KR" sz="1400" dirty="0"/>
              <a:t>- </a:t>
            </a:r>
            <a:r>
              <a:rPr lang="ko-KR" altLang="en-US" sz="1400" dirty="0" err="1"/>
              <a:t>무중단</a:t>
            </a:r>
            <a:r>
              <a:rPr lang="ko-KR" altLang="en-US" sz="1400" dirty="0"/>
              <a:t> 배포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04872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289862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463425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448416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4876787"/>
            <a:ext cx="40137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서버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</a:t>
            </a:r>
            <a:r>
              <a:rPr lang="en-US" altLang="ko-KR" sz="1100" dirty="0"/>
              <a:t> </a:t>
            </a:r>
            <a:r>
              <a:rPr lang="ko-KR" altLang="en-US" sz="1100" dirty="0"/>
              <a:t>및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인프라 구성 </a:t>
            </a:r>
            <a:r>
              <a:rPr lang="en-US" altLang="ko-KR" sz="1100" dirty="0"/>
              <a:t>-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Spring </a:t>
            </a:r>
            <a:r>
              <a:rPr lang="en-US" altLang="ko-KR" sz="1100" dirty="0" err="1"/>
              <a:t>WebClient</a:t>
            </a:r>
            <a:r>
              <a:rPr lang="ko-KR" altLang="en-US" sz="1100" dirty="0"/>
              <a:t>를 이용한 외부 </a:t>
            </a:r>
            <a:r>
              <a:rPr lang="en-US" altLang="ko-KR" sz="1100" dirty="0"/>
              <a:t>API</a:t>
            </a:r>
            <a:r>
              <a:rPr lang="ko-KR" altLang="en-US" sz="1100" dirty="0"/>
              <a:t>와의 통신 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CICD</a:t>
            </a:r>
            <a:r>
              <a:rPr lang="ko-KR" altLang="en-US" sz="1100" dirty="0"/>
              <a:t>와 </a:t>
            </a:r>
            <a:r>
              <a:rPr lang="ko-KR" altLang="en-US" sz="1100" dirty="0" err="1"/>
              <a:t>무중단</a:t>
            </a:r>
            <a:r>
              <a:rPr lang="ko-KR" altLang="en-US" sz="1100" dirty="0"/>
              <a:t> 배포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en-US" altLang="ko-KR" sz="1100" dirty="0"/>
              <a:t>       </a:t>
            </a:r>
          </a:p>
          <a:p>
            <a:r>
              <a:rPr lang="en-US" altLang="ko-KR" sz="1100" dirty="0"/>
              <a:t> </a:t>
            </a:r>
          </a:p>
          <a:p>
            <a:r>
              <a:rPr lang="ko-KR" altLang="en-US" sz="12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6063740" y="3321052"/>
            <a:ext cx="4112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매일 </a:t>
            </a:r>
            <a:r>
              <a:rPr lang="en-US" altLang="ko-KR" sz="1200" dirty="0"/>
              <a:t>9</a:t>
            </a:r>
            <a:r>
              <a:rPr lang="ko-KR" altLang="en-US" sz="1200" dirty="0"/>
              <a:t>명의 이성을 추천합니다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마음에 드는 이성에게 호감 표현을 할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</p:txBody>
      </p:sp>
      <p:pic>
        <p:nvPicPr>
          <p:cNvPr id="10" name="그림 9" descr="텍스트, 실내, 빨간색이(가) 표시된 사진&#10;&#10;자동 생성된 설명">
            <a:extLst>
              <a:ext uri="{FF2B5EF4-FFF2-40B4-BE49-F238E27FC236}">
                <a16:creationId xmlns:a16="http://schemas.microsoft.com/office/drawing/2014/main" id="{81BC3CD9-7753-4406-A33A-31FE6EF23E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93" y="2583228"/>
            <a:ext cx="2087115" cy="3768388"/>
          </a:xfrm>
          <a:prstGeom prst="rect">
            <a:avLst/>
          </a:prstGeom>
        </p:spPr>
      </p:pic>
      <p:pic>
        <p:nvPicPr>
          <p:cNvPr id="14" name="그림 13" descr="텍스트, 명함이(가) 표시된 사진&#10;&#10;자동 생성된 설명">
            <a:extLst>
              <a:ext uri="{FF2B5EF4-FFF2-40B4-BE49-F238E27FC236}">
                <a16:creationId xmlns:a16="http://schemas.microsoft.com/office/drawing/2014/main" id="{8E12564A-DF15-4ECD-BB14-D7BA871F8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915" y="2583228"/>
            <a:ext cx="2012779" cy="376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8C0464AD-3790-4CC9-9053-57E7A97A5625}"/>
              </a:ext>
            </a:extLst>
          </p:cNvPr>
          <p:cNvSpPr/>
          <p:nvPr/>
        </p:nvSpPr>
        <p:spPr>
          <a:xfrm>
            <a:off x="4300630" y="2900737"/>
            <a:ext cx="2937950" cy="171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7230D6-3102-46D1-BE37-7E8A853A3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670" y="3649428"/>
            <a:ext cx="853974" cy="57090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880CFB2-BA58-46B2-8B55-D798D3DD0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29" y="2786986"/>
            <a:ext cx="1682750" cy="15275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D272B-72CA-452D-86F3-84BE21C58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49" y="751909"/>
            <a:ext cx="1213767" cy="10489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ADA086-C50C-4D13-9469-3C32C3C96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812" y="5463879"/>
            <a:ext cx="842160" cy="7711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E4584-9F76-44D4-B294-7F04B135A9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413" y="2534274"/>
            <a:ext cx="726820" cy="777061"/>
          </a:xfrm>
          <a:prstGeom prst="rect">
            <a:avLst/>
          </a:prstGeom>
        </p:spPr>
      </p:pic>
      <p:pic>
        <p:nvPicPr>
          <p:cNvPr id="4" name="그림 3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ACCBE85-BEB1-4557-9F28-6BB685E86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123" y="653243"/>
            <a:ext cx="1901945" cy="98038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338918" y="3897038"/>
            <a:ext cx="21525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H="1" flipV="1">
            <a:off x="5727274" y="1514388"/>
            <a:ext cx="11053" cy="10329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5736823" y="1961448"/>
            <a:ext cx="15113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저장 요청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757143" y="1086897"/>
            <a:ext cx="145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5630489" y="4740825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867050" y="4739406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5196492" y="4967811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862581" y="4980251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734064" y="1448062"/>
            <a:ext cx="14504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4127547" y="850931"/>
            <a:ext cx="11490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4131650" y="1230597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929108" y="1694265"/>
            <a:ext cx="815222" cy="1123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2073417" y="1806611"/>
            <a:ext cx="715619" cy="1011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1654904" y="213463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644044" y="1982699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553957" y="283911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420759" y="408212"/>
            <a:ext cx="127155" cy="12105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1404A6-E716-4D3B-B010-5F7894E8BE43}"/>
              </a:ext>
            </a:extLst>
          </p:cNvPr>
          <p:cNvSpPr txBox="1"/>
          <p:nvPr/>
        </p:nvSpPr>
        <p:spPr>
          <a:xfrm>
            <a:off x="1385672" y="4098584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Client</a:t>
            </a:r>
            <a:endParaRPr lang="ko-KR" altLang="en-US" sz="8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B22664-7286-4AA0-92C8-3F47016BA850}"/>
              </a:ext>
            </a:extLst>
          </p:cNvPr>
          <p:cNvSpPr txBox="1"/>
          <p:nvPr/>
        </p:nvSpPr>
        <p:spPr>
          <a:xfrm>
            <a:off x="3078278" y="3670052"/>
            <a:ext cx="1739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</a:t>
            </a:r>
            <a:endParaRPr lang="ko-KR" alt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9FBCD9-79E4-4B15-B458-552C10B4F538}"/>
              </a:ext>
            </a:extLst>
          </p:cNvPr>
          <p:cNvSpPr txBox="1"/>
          <p:nvPr/>
        </p:nvSpPr>
        <p:spPr>
          <a:xfrm>
            <a:off x="4560291" y="4214278"/>
            <a:ext cx="508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</a:t>
            </a:r>
            <a:endParaRPr lang="ko-KR" altLang="en-US" sz="8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71EE803-D086-4D2D-8C72-AC20D9C96552}"/>
              </a:ext>
            </a:extLst>
          </p:cNvPr>
          <p:cNvCxnSpPr>
            <a:cxnSpLocks/>
          </p:cNvCxnSpPr>
          <p:nvPr/>
        </p:nvCxnSpPr>
        <p:spPr>
          <a:xfrm flipV="1">
            <a:off x="5159632" y="3774932"/>
            <a:ext cx="317871" cy="141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DD76826-4F77-4BF7-83E6-85E8CD01AE25}"/>
              </a:ext>
            </a:extLst>
          </p:cNvPr>
          <p:cNvCxnSpPr>
            <a:cxnSpLocks/>
          </p:cNvCxnSpPr>
          <p:nvPr/>
        </p:nvCxnSpPr>
        <p:spPr>
          <a:xfrm>
            <a:off x="5150968" y="4211117"/>
            <a:ext cx="339804" cy="106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그림 3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2668650F-1498-4503-9573-885EE5A9A1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613" y="3512028"/>
            <a:ext cx="658246" cy="257888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54114-4103-4ADF-9FFC-1F2F9B240307}"/>
              </a:ext>
            </a:extLst>
          </p:cNvPr>
          <p:cNvSpPr txBox="1"/>
          <p:nvPr/>
        </p:nvSpPr>
        <p:spPr>
          <a:xfrm>
            <a:off x="5581103" y="3748832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Port:8081</a:t>
            </a:r>
            <a:endParaRPr lang="ko-KR" altLang="en-US" sz="8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F22E29-97C6-4671-B037-8480B316BFAA}"/>
              </a:ext>
            </a:extLst>
          </p:cNvPr>
          <p:cNvSpPr txBox="1"/>
          <p:nvPr/>
        </p:nvSpPr>
        <p:spPr>
          <a:xfrm>
            <a:off x="5592560" y="4339888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Port:8082</a:t>
            </a:r>
            <a:endParaRPr lang="ko-KR" altLang="en-US" sz="800" dirty="0"/>
          </a:p>
        </p:txBody>
      </p:sp>
      <p:pic>
        <p:nvPicPr>
          <p:cNvPr id="60" name="그림 59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0D4FC6C2-CBCA-4E2D-B8DB-C7EFD3CBDC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3705" y="4117440"/>
            <a:ext cx="658246" cy="25788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E8E5D85-A52B-4A5E-9538-2889ED495A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8449" y="3173181"/>
            <a:ext cx="1024660" cy="677694"/>
          </a:xfrm>
          <a:prstGeom prst="rect">
            <a:avLst/>
          </a:prstGeom>
        </p:spPr>
      </p:pic>
      <p:pic>
        <p:nvPicPr>
          <p:cNvPr id="66" name="그림 6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BA8BFAB1-931D-4D23-9FA4-CDBDE4D07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470" y="2350080"/>
            <a:ext cx="1585915" cy="817482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0D5709E1-EE24-4769-9A8C-BCDCC24BED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67" y="2922804"/>
            <a:ext cx="446432" cy="44643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B42B796F-908D-4572-BDB6-A40B8FC88166}"/>
              </a:ext>
            </a:extLst>
          </p:cNvPr>
          <p:cNvSpPr txBox="1"/>
          <p:nvPr/>
        </p:nvSpPr>
        <p:spPr>
          <a:xfrm>
            <a:off x="6392480" y="3311335"/>
            <a:ext cx="8822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 err="1"/>
              <a:t>CodeDeploy</a:t>
            </a:r>
            <a:r>
              <a:rPr lang="en-US" altLang="ko-KR" sz="700" dirty="0"/>
              <a:t> Agent</a:t>
            </a:r>
            <a:endParaRPr lang="ko-KR" altLang="en-US" sz="700" dirty="0"/>
          </a:p>
        </p:txBody>
      </p:sp>
      <p:pic>
        <p:nvPicPr>
          <p:cNvPr id="74" name="그림 73">
            <a:extLst>
              <a:ext uri="{FF2B5EF4-FFF2-40B4-BE49-F238E27FC236}">
                <a16:creationId xmlns:a16="http://schemas.microsoft.com/office/drawing/2014/main" id="{ADF2ACAF-7C38-40AA-B8AC-FAC535C339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199" y="3970511"/>
            <a:ext cx="811685" cy="811685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C9E36515-9DE3-434E-9499-A4F25F7099C9}"/>
              </a:ext>
            </a:extLst>
          </p:cNvPr>
          <p:cNvSpPr txBox="1"/>
          <p:nvPr/>
        </p:nvSpPr>
        <p:spPr>
          <a:xfrm>
            <a:off x="9747537" y="2649776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jar </a:t>
            </a:r>
            <a:r>
              <a:rPr lang="ko-KR" altLang="en-US" sz="800" dirty="0"/>
              <a:t>파일을 </a:t>
            </a:r>
            <a:r>
              <a:rPr lang="en-US" altLang="ko-KR" sz="800" dirty="0"/>
              <a:t>zip</a:t>
            </a:r>
            <a:r>
              <a:rPr lang="ko-KR" altLang="en-US" sz="800" dirty="0"/>
              <a:t>형태로 저장</a:t>
            </a: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94BE413B-7DA8-435D-A943-FD413A47EE25}"/>
              </a:ext>
            </a:extLst>
          </p:cNvPr>
          <p:cNvCxnSpPr>
            <a:cxnSpLocks/>
          </p:cNvCxnSpPr>
          <p:nvPr/>
        </p:nvCxnSpPr>
        <p:spPr>
          <a:xfrm flipH="1" flipV="1">
            <a:off x="9393255" y="2765577"/>
            <a:ext cx="1218720" cy="435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0AE2914-6FB7-4FF5-B5C0-60FC24381A0C}"/>
              </a:ext>
            </a:extLst>
          </p:cNvPr>
          <p:cNvCxnSpPr>
            <a:cxnSpLocks/>
          </p:cNvCxnSpPr>
          <p:nvPr/>
        </p:nvCxnSpPr>
        <p:spPr>
          <a:xfrm flipH="1">
            <a:off x="9531007" y="3843707"/>
            <a:ext cx="1157660" cy="470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03E4418-D9BC-4028-AB76-46AB6F4870A6}"/>
              </a:ext>
            </a:extLst>
          </p:cNvPr>
          <p:cNvSpPr txBox="1"/>
          <p:nvPr/>
        </p:nvSpPr>
        <p:spPr>
          <a:xfrm>
            <a:off x="9747537" y="4138662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과정 요청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316765-CDF4-41EC-BEB2-A999544271C9}"/>
              </a:ext>
            </a:extLst>
          </p:cNvPr>
          <p:cNvCxnSpPr>
            <a:cxnSpLocks/>
          </p:cNvCxnSpPr>
          <p:nvPr/>
        </p:nvCxnSpPr>
        <p:spPr>
          <a:xfrm flipH="1" flipV="1">
            <a:off x="7103212" y="3311335"/>
            <a:ext cx="1563669" cy="917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1F36704-BDB0-484B-85D1-AC4CE942CB47}"/>
              </a:ext>
            </a:extLst>
          </p:cNvPr>
          <p:cNvSpPr txBox="1"/>
          <p:nvPr/>
        </p:nvSpPr>
        <p:spPr>
          <a:xfrm>
            <a:off x="7094993" y="4022268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요청 전송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A03C7FCC-9381-40FA-A953-AA7FCD80F19A}"/>
              </a:ext>
            </a:extLst>
          </p:cNvPr>
          <p:cNvCxnSpPr>
            <a:cxnSpLocks/>
          </p:cNvCxnSpPr>
          <p:nvPr/>
        </p:nvCxnSpPr>
        <p:spPr>
          <a:xfrm flipV="1">
            <a:off x="7074414" y="2786986"/>
            <a:ext cx="1638880" cy="4095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CFB44AA8-77A0-4E6B-92BC-30D28DA863D2}"/>
              </a:ext>
            </a:extLst>
          </p:cNvPr>
          <p:cNvCxnSpPr>
            <a:cxnSpLocks/>
          </p:cNvCxnSpPr>
          <p:nvPr/>
        </p:nvCxnSpPr>
        <p:spPr>
          <a:xfrm flipH="1">
            <a:off x="7056799" y="2779837"/>
            <a:ext cx="1672517" cy="26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A67DBD-C530-4F97-97D9-05E871B96E7E}"/>
              </a:ext>
            </a:extLst>
          </p:cNvPr>
          <p:cNvSpPr txBox="1"/>
          <p:nvPr/>
        </p:nvSpPr>
        <p:spPr>
          <a:xfrm>
            <a:off x="7095650" y="2338193"/>
            <a:ext cx="1679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1) </a:t>
            </a:r>
            <a:r>
              <a:rPr lang="ko-KR" altLang="en-US" sz="800" dirty="0"/>
              <a:t>저장된 파일을 받아온 후</a:t>
            </a:r>
            <a:endParaRPr lang="en-US" altLang="ko-KR" sz="800" dirty="0"/>
          </a:p>
          <a:p>
            <a:pPr algn="ctr"/>
            <a:r>
              <a:rPr lang="ko-KR" altLang="en-US" sz="800" dirty="0"/>
              <a:t>빌드 및 배포</a:t>
            </a:r>
            <a:endParaRPr lang="en-US" altLang="ko-KR" sz="800" dirty="0"/>
          </a:p>
          <a:p>
            <a:pPr algn="ctr"/>
            <a:r>
              <a:rPr lang="en-US" altLang="ko-KR" sz="800" dirty="0"/>
              <a:t>2) Nginx</a:t>
            </a:r>
            <a:r>
              <a:rPr lang="ko-KR" altLang="en-US" sz="800" dirty="0"/>
              <a:t>의 </a:t>
            </a:r>
            <a:r>
              <a:rPr lang="en-US" altLang="ko-KR" sz="800" dirty="0" err="1"/>
              <a:t>proxy_pass</a:t>
            </a:r>
            <a:r>
              <a:rPr lang="en-US" altLang="ko-KR" sz="800" dirty="0"/>
              <a:t> </a:t>
            </a:r>
            <a:r>
              <a:rPr lang="ko-KR" altLang="en-US" sz="800" dirty="0"/>
              <a:t>변경 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EFA7D26-162B-4E9D-9660-AE7DF98FA1AB}"/>
              </a:ext>
            </a:extLst>
          </p:cNvPr>
          <p:cNvSpPr/>
          <p:nvPr/>
        </p:nvSpPr>
        <p:spPr>
          <a:xfrm>
            <a:off x="9816792" y="2687504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740A9D6A-7EE4-430B-8F1C-945950BC8CA3}"/>
              </a:ext>
            </a:extLst>
          </p:cNvPr>
          <p:cNvSpPr/>
          <p:nvPr/>
        </p:nvSpPr>
        <p:spPr>
          <a:xfrm>
            <a:off x="10058029" y="4164102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FBE8150B-AD90-4F8A-8F0F-77F95C452D9E}"/>
              </a:ext>
            </a:extLst>
          </p:cNvPr>
          <p:cNvSpPr/>
          <p:nvPr/>
        </p:nvSpPr>
        <p:spPr>
          <a:xfrm>
            <a:off x="7410073" y="4057361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CDA4369C-36A3-4D41-B58C-A420D17F4A85}"/>
              </a:ext>
            </a:extLst>
          </p:cNvPr>
          <p:cNvSpPr/>
          <p:nvPr/>
        </p:nvSpPr>
        <p:spPr>
          <a:xfrm>
            <a:off x="7082783" y="2498800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72022" y="419343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185984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715CF2-3A3B-4F8B-9C52-C0298DE8C65D}"/>
              </a:ext>
            </a:extLst>
          </p:cNvPr>
          <p:cNvSpPr txBox="1"/>
          <p:nvPr/>
        </p:nvSpPr>
        <p:spPr>
          <a:xfrm>
            <a:off x="435378" y="1001318"/>
            <a:ext cx="519576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- </a:t>
            </a:r>
            <a:r>
              <a:rPr lang="ko-KR" altLang="en-US" sz="1200" dirty="0"/>
              <a:t>사용자가 </a:t>
            </a:r>
            <a:r>
              <a:rPr lang="en-US" altLang="ko-KR" sz="1200" dirty="0"/>
              <a:t>‘</a:t>
            </a:r>
            <a:r>
              <a:rPr lang="ko-KR" altLang="en-US" sz="1200" dirty="0"/>
              <a:t>아는 사람 피하기</a:t>
            </a:r>
            <a:r>
              <a:rPr lang="en-US" altLang="ko-KR" sz="1200" dirty="0"/>
              <a:t>’ </a:t>
            </a:r>
            <a:r>
              <a:rPr lang="ko-KR" altLang="en-US" sz="1200" dirty="0"/>
              <a:t>기능을 사용할 경우 핸드폰에 저장되어 있는 지인은 추천 되지 않습니다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2D062E-830E-467E-83F7-30CBDC897793}"/>
              </a:ext>
            </a:extLst>
          </p:cNvPr>
          <p:cNvSpPr txBox="1"/>
          <p:nvPr/>
        </p:nvSpPr>
        <p:spPr>
          <a:xfrm>
            <a:off x="435378" y="2070993"/>
            <a:ext cx="50364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시나리오 예시 </a:t>
            </a:r>
            <a:r>
              <a:rPr lang="en-US" altLang="ko-KR" sz="1200" dirty="0"/>
              <a:t>(</a:t>
            </a:r>
            <a:r>
              <a:rPr lang="ko-KR" altLang="en-US" sz="1200" dirty="0"/>
              <a:t>순서</a:t>
            </a:r>
            <a:r>
              <a:rPr lang="en-US" altLang="ko-KR" sz="1200" dirty="0"/>
              <a:t>)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유저 </a:t>
            </a:r>
            <a:r>
              <a:rPr lang="en-US" altLang="ko-KR" sz="1200" dirty="0"/>
              <a:t>A</a:t>
            </a:r>
            <a:r>
              <a:rPr lang="ko-KR" altLang="en-US" sz="1200" dirty="0"/>
              <a:t>는</a:t>
            </a:r>
            <a:r>
              <a:rPr lang="en-US" altLang="ko-KR" sz="1200" dirty="0"/>
              <a:t>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번호를 가지고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번호를 모릅니다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이런 상황에서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피하기를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시간이 지나 유저 </a:t>
            </a:r>
            <a:r>
              <a:rPr lang="en-US" altLang="ko-KR" sz="1200" dirty="0"/>
              <a:t>B</a:t>
            </a:r>
            <a:r>
              <a:rPr lang="ko-KR" altLang="en-US" sz="1200" dirty="0"/>
              <a:t>가 아는 사람 피하기 기능을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이 과정 이후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 기능을 취소하더라도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와 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서로 추천되어서는 안됩니다</a:t>
            </a:r>
            <a:r>
              <a:rPr lang="en-US" altLang="ko-KR" sz="1200" dirty="0"/>
              <a:t>. B</a:t>
            </a:r>
            <a:r>
              <a:rPr lang="ko-KR" altLang="en-US" sz="1200" dirty="0"/>
              <a:t>는 여전히 아는 사람을 피하기 기능을 사용하고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비록 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핸드폰에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번호가 없더라도 이전 과정을 통해서 두 사람이 아는 사이임을 알 수 있기 때문입니다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endParaRPr lang="en-US" altLang="ko-KR" sz="12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EE488DC-F4FE-42BD-8412-1F89795D4F25}"/>
              </a:ext>
            </a:extLst>
          </p:cNvPr>
          <p:cNvCxnSpPr>
            <a:cxnSpLocks/>
          </p:cNvCxnSpPr>
          <p:nvPr/>
        </p:nvCxnSpPr>
        <p:spPr>
          <a:xfrm flipH="1">
            <a:off x="5938575" y="49681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94E1F-8DA6-41ED-9ADD-13B134F3F6E1}"/>
              </a:ext>
            </a:extLst>
          </p:cNvPr>
          <p:cNvSpPr txBox="1"/>
          <p:nvPr/>
        </p:nvSpPr>
        <p:spPr>
          <a:xfrm>
            <a:off x="6288548" y="208200"/>
            <a:ext cx="5468074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pPr marL="228600" indent="-228600">
              <a:buAutoNum type="arabicParenR"/>
            </a:pPr>
            <a:r>
              <a:rPr lang="en-US" altLang="ko-KR" sz="1200" b="1" dirty="0"/>
              <a:t>User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r>
              <a:rPr lang="en-US" altLang="ko-KR" sz="1200" dirty="0"/>
              <a:t> - ‘</a:t>
            </a:r>
            <a:r>
              <a:rPr lang="ko-KR" altLang="en-US" sz="1200" dirty="0"/>
              <a:t>아는 사람 피하기 기능</a:t>
            </a:r>
            <a:r>
              <a:rPr lang="en-US" altLang="ko-KR" sz="1200" dirty="0"/>
              <a:t>’</a:t>
            </a:r>
            <a:r>
              <a:rPr lang="ko-KR" altLang="en-US" sz="1200" dirty="0"/>
              <a:t> 사용 여부를 알려주는 컬럼이 추가됩니다</a:t>
            </a:r>
            <a:r>
              <a:rPr lang="en-US" altLang="ko-KR" sz="1200" dirty="0"/>
              <a:t>.</a:t>
            </a:r>
          </a:p>
          <a:p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200" dirty="0"/>
          </a:p>
          <a:p>
            <a:r>
              <a:rPr lang="en-US" altLang="ko-KR" sz="1200" b="1" dirty="0"/>
              <a:t>2) </a:t>
            </a:r>
            <a:r>
              <a:rPr lang="en-US" altLang="ko-KR" sz="1200" b="1" dirty="0" err="1"/>
              <a:t>AcquaintancePhoneNumber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보다 늦게 가입하는 지인을 피하기 위하여 </a:t>
            </a:r>
            <a:r>
              <a:rPr lang="en-US" altLang="ko-KR" sz="1200" dirty="0"/>
              <a:t>user</a:t>
            </a:r>
            <a:r>
              <a:rPr lang="ko-KR" altLang="en-US" sz="1200" dirty="0"/>
              <a:t>의 핸드폰에 등록된 번호 목록을 저장하는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테이블과 </a:t>
            </a:r>
            <a:r>
              <a:rPr lang="en-US" altLang="ko-KR" sz="1200" dirty="0"/>
              <a:t>N:1 </a:t>
            </a:r>
            <a:r>
              <a:rPr lang="ko-KR" altLang="en-US" sz="1200" dirty="0"/>
              <a:t>관계입니다</a:t>
            </a:r>
            <a:r>
              <a:rPr lang="en-US" altLang="ko-KR" sz="1200" dirty="0"/>
              <a:t>.(user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외래키로 합니다</a:t>
            </a:r>
            <a:r>
              <a:rPr lang="en-US" altLang="ko-KR" sz="1200" dirty="0"/>
              <a:t>)</a:t>
            </a:r>
          </a:p>
          <a:p>
            <a:endParaRPr lang="en-US" altLang="ko-KR" sz="1000" dirty="0"/>
          </a:p>
          <a:p>
            <a:endParaRPr lang="en-US" altLang="ko-KR" sz="1000" dirty="0"/>
          </a:p>
          <a:p>
            <a:pPr marL="171450" indent="-171450">
              <a:buFontTx/>
              <a:buChar char="-"/>
            </a:pPr>
            <a:endParaRPr lang="en-US" altLang="ko-KR" sz="1200" b="1" dirty="0"/>
          </a:p>
          <a:p>
            <a:r>
              <a:rPr lang="en-US" altLang="ko-KR" sz="1200" b="1" dirty="0"/>
              <a:t>3) </a:t>
            </a:r>
            <a:r>
              <a:rPr lang="en-US" altLang="ko-KR" sz="1200" b="1" dirty="0" err="1"/>
              <a:t>AcquaintanceRelation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아는 사람 관계를 미리 저장하여 로직 시간을 단축하기 위한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두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아는 사이임을 나타냅니다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 </a:t>
            </a:r>
            <a:r>
              <a:rPr lang="ko-KR" altLang="en-US" sz="1200" dirty="0"/>
              <a:t>대 </a:t>
            </a:r>
            <a:r>
              <a:rPr lang="en-US" altLang="ko-KR" sz="1200" dirty="0"/>
              <a:t>user </a:t>
            </a:r>
            <a:r>
              <a:rPr lang="ko-KR" altLang="en-US" sz="1200" dirty="0"/>
              <a:t>의 </a:t>
            </a:r>
            <a:r>
              <a:rPr lang="en-US" altLang="ko-KR" sz="1200" dirty="0"/>
              <a:t>N:N </a:t>
            </a:r>
            <a:r>
              <a:rPr lang="ko-KR" altLang="en-US" sz="1200" dirty="0"/>
              <a:t>관계를 풀어냈습니다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F784CE-BE7D-42F3-8CCC-9BEEE70BA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3746" y="5232728"/>
            <a:ext cx="5390185" cy="147706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CD0B254-7476-4EA5-8E9A-9DA1626DAF47}"/>
              </a:ext>
            </a:extLst>
          </p:cNvPr>
          <p:cNvSpPr txBox="1"/>
          <p:nvPr/>
        </p:nvSpPr>
        <p:spPr>
          <a:xfrm>
            <a:off x="6171668" y="4789491"/>
            <a:ext cx="29017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데이터 베이스 예시</a:t>
            </a:r>
            <a:endParaRPr lang="en-US" altLang="ko-KR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35CA0-340C-4E09-A591-4F9454FE3B47}"/>
              </a:ext>
            </a:extLst>
          </p:cNvPr>
          <p:cNvSpPr txBox="1"/>
          <p:nvPr/>
        </p:nvSpPr>
        <p:spPr>
          <a:xfrm>
            <a:off x="6171668" y="219452"/>
            <a:ext cx="5195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데이터 베이스 설계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242450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341245" y="248258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208048" y="372559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102772D-1A8B-4FBE-9DE2-A45A8749E250}"/>
              </a:ext>
            </a:extLst>
          </p:cNvPr>
          <p:cNvSpPr txBox="1"/>
          <p:nvPr/>
        </p:nvSpPr>
        <p:spPr>
          <a:xfrm>
            <a:off x="244896" y="736677"/>
            <a:ext cx="519046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 </a:t>
            </a:r>
            <a:endParaRPr lang="en-US" altLang="ko-KR" sz="1200" dirty="0"/>
          </a:p>
          <a:p>
            <a:r>
              <a:rPr lang="ko-KR" altLang="en-US" sz="1200" dirty="0"/>
              <a:t>아는 사람 피하기 기능은 두가지 상황에서 동작합니다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1)</a:t>
            </a:r>
            <a:r>
              <a:rPr lang="ko-KR" altLang="en-US" sz="1200" dirty="0"/>
              <a:t> 이미 가입한 유저가 아는 사람 피하기 기능을 요청할 때</a:t>
            </a:r>
            <a:endParaRPr lang="en-US" altLang="ko-KR" sz="1200" dirty="0"/>
          </a:p>
          <a:p>
            <a:r>
              <a:rPr lang="en-US" altLang="ko-KR" sz="1200" dirty="0"/>
              <a:t>  2) </a:t>
            </a:r>
            <a:r>
              <a:rPr lang="ko-KR" altLang="en-US" sz="1200" dirty="0"/>
              <a:t>새로운 유저가 가입할 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</a:t>
            </a:r>
            <a:r>
              <a:rPr lang="ko-KR" altLang="en-US" sz="1200" dirty="0"/>
              <a:t>번 상황에서 지인의 번호를 모두 받은 후 이미 </a:t>
            </a:r>
            <a:r>
              <a:rPr lang="ko-KR" altLang="en-US" sz="1200" dirty="0" err="1"/>
              <a:t>가입되어있는</a:t>
            </a:r>
            <a:r>
              <a:rPr lang="ko-KR" altLang="en-US" sz="1200" dirty="0"/>
              <a:t> 지인들을 피하고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2</a:t>
            </a:r>
            <a:r>
              <a:rPr lang="ko-KR" altLang="en-US" sz="1200" dirty="0"/>
              <a:t>번 상황마다 미리 </a:t>
            </a:r>
            <a:r>
              <a:rPr lang="ko-KR" altLang="en-US" sz="1200" dirty="0" err="1"/>
              <a:t>등록해놓은</a:t>
            </a:r>
            <a:r>
              <a:rPr lang="ko-KR" altLang="en-US" sz="1200" dirty="0"/>
              <a:t> 번호를 이용하여 지인 여부를 분별한다면 모든 상황을 대처할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1 –  </a:t>
            </a:r>
            <a:r>
              <a:rPr lang="ko-KR" altLang="en-US" sz="1200" b="1" dirty="0"/>
              <a:t>아는 사람 피하기 기능 </a:t>
            </a:r>
            <a:r>
              <a:rPr lang="en-US" altLang="ko-KR" sz="1200" b="1" dirty="0"/>
              <a:t>On</a:t>
            </a:r>
          </a:p>
          <a:p>
            <a:endParaRPr lang="en-US" altLang="ko-KR" sz="1200" dirty="0"/>
          </a:p>
          <a:p>
            <a:r>
              <a:rPr lang="en-US" altLang="ko-KR" sz="1200" dirty="0"/>
              <a:t>1) User </a:t>
            </a:r>
            <a:r>
              <a:rPr lang="ko-KR" altLang="en-US" sz="1200" dirty="0"/>
              <a:t>핸드폰에 저장된 모든 번호를 받아옵니다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이후 </a:t>
            </a:r>
            <a:r>
              <a:rPr lang="en-US" altLang="ko-KR" sz="1200" dirty="0"/>
              <a:t>Acquaintance </a:t>
            </a:r>
            <a:r>
              <a:rPr lang="en-US" altLang="ko-KR" sz="1200" dirty="0" err="1"/>
              <a:t>PhoneNumber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테이블에 저장합니다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2) </a:t>
            </a:r>
            <a:r>
              <a:rPr lang="ko-KR" altLang="en-US" sz="1200" dirty="0"/>
              <a:t>방금 전 등록한 번호 목록을 통해 아는 사이인 기존 유저들을 찾고  </a:t>
            </a:r>
            <a:r>
              <a:rPr lang="en-US" altLang="ko-KR" sz="1200" dirty="0" err="1"/>
              <a:t>AcquaintanceRelation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테이블에 저장합니다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909CA5-1DE6-43C9-83F4-147148F20DB1}"/>
              </a:ext>
            </a:extLst>
          </p:cNvPr>
          <p:cNvSpPr txBox="1"/>
          <p:nvPr/>
        </p:nvSpPr>
        <p:spPr>
          <a:xfrm>
            <a:off x="5692133" y="0"/>
            <a:ext cx="6407835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2 - </a:t>
            </a:r>
            <a:r>
              <a:rPr lang="ko-KR" altLang="en-US" sz="1200" b="1" dirty="0"/>
              <a:t>새로운 유저 가입</a:t>
            </a:r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pPr marL="228600" indent="-228600">
              <a:buAutoNum type="arabicParenR"/>
            </a:pPr>
            <a:r>
              <a:rPr lang="ko-KR" altLang="en-US" sz="1200" dirty="0"/>
              <a:t>신규 가입자의 전화번호를 통해 기존 유저와 아는 사이임을 </a:t>
            </a:r>
            <a:r>
              <a:rPr lang="en-US" altLang="ko-KR" sz="1200" dirty="0" err="1"/>
              <a:t>AcquaintanceRelation</a:t>
            </a:r>
            <a:r>
              <a:rPr lang="en-US" altLang="ko-KR" sz="1200" dirty="0"/>
              <a:t>  Table</a:t>
            </a:r>
            <a:r>
              <a:rPr lang="ko-KR" altLang="en-US" sz="1200" dirty="0"/>
              <a:t>에 등록합니다</a:t>
            </a:r>
            <a:r>
              <a:rPr lang="en-US" altLang="ko-KR" sz="1200" dirty="0"/>
              <a:t>.</a:t>
            </a:r>
            <a:endParaRPr lang="en-US" altLang="ko-KR" sz="9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3 – </a:t>
            </a:r>
            <a:r>
              <a:rPr lang="ko-KR" altLang="en-US" sz="1200" b="1" dirty="0"/>
              <a:t>아는 사람 피하기 기능 </a:t>
            </a:r>
            <a:r>
              <a:rPr lang="en-US" altLang="ko-KR" sz="1200" b="1" dirty="0"/>
              <a:t>Off</a:t>
            </a:r>
          </a:p>
          <a:p>
            <a:r>
              <a:rPr lang="en-US" altLang="ko-KR" sz="1200" dirty="0"/>
              <a:t> </a:t>
            </a:r>
          </a:p>
          <a:p>
            <a:pPr marL="228600" indent="-228600">
              <a:buAutoNum type="arabicParenR"/>
            </a:pPr>
            <a:r>
              <a:rPr lang="en-US" altLang="ko-KR" sz="1200" dirty="0" err="1"/>
              <a:t>AcquaintancePhoneNumber</a:t>
            </a:r>
            <a:r>
              <a:rPr lang="ko-KR" altLang="en-US" sz="1200" dirty="0"/>
              <a:t> 테이블에서 </a:t>
            </a:r>
            <a:r>
              <a:rPr lang="en-US" altLang="ko-KR" sz="1200" dirty="0"/>
              <a:t>User</a:t>
            </a:r>
            <a:r>
              <a:rPr lang="ko-KR" altLang="en-US" sz="1200" dirty="0"/>
              <a:t>와 </a:t>
            </a:r>
            <a:r>
              <a:rPr lang="ko-KR" altLang="en-US" sz="1200" dirty="0" err="1"/>
              <a:t>연결되어있는</a:t>
            </a:r>
            <a:r>
              <a:rPr lang="ko-KR" altLang="en-US" sz="1200" dirty="0"/>
              <a:t> 모든 </a:t>
            </a:r>
            <a:r>
              <a:rPr lang="en-US" altLang="ko-KR" sz="1200" dirty="0"/>
              <a:t>Row</a:t>
            </a:r>
            <a:r>
              <a:rPr lang="ko-KR" altLang="en-US" sz="1200" dirty="0"/>
              <a:t>를 삭제합니다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en-US" altLang="ko-KR" sz="1200" dirty="0" err="1"/>
              <a:t>AcquaintanceRelation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테이블은 </a:t>
            </a:r>
            <a:r>
              <a:rPr lang="en-US" altLang="ko-KR" sz="1200" dirty="0"/>
              <a:t>User</a:t>
            </a:r>
            <a:r>
              <a:rPr lang="ko-KR" altLang="en-US" sz="1200" dirty="0"/>
              <a:t>와 연결되어 있는 모든 </a:t>
            </a:r>
            <a:r>
              <a:rPr lang="en-US" altLang="ko-KR" sz="1200" dirty="0"/>
              <a:t>Row</a:t>
            </a:r>
            <a:r>
              <a:rPr lang="ko-KR" altLang="en-US" sz="1200" dirty="0"/>
              <a:t>를 지우면 안됩니다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-</a:t>
            </a:r>
            <a:r>
              <a:rPr lang="ko-KR" altLang="en-US" sz="1200" dirty="0"/>
              <a:t> </a:t>
            </a:r>
            <a:r>
              <a:rPr lang="ko-KR" altLang="en-US" sz="1200" dirty="0" err="1"/>
              <a:t>UserA와</a:t>
            </a:r>
            <a:r>
              <a:rPr lang="ko-KR" altLang="en-US" sz="1200" dirty="0"/>
              <a:t> 아는 사이라고 </a:t>
            </a:r>
            <a:r>
              <a:rPr lang="ko-KR" altLang="en-US" sz="1200" dirty="0" err="1"/>
              <a:t>등록되어있는</a:t>
            </a:r>
            <a:r>
              <a:rPr lang="ko-KR" altLang="en-US" sz="1200" dirty="0"/>
              <a:t> </a:t>
            </a:r>
            <a:r>
              <a:rPr lang="ko-KR" altLang="en-US" sz="1200" b="1" dirty="0" err="1"/>
              <a:t>UserB가</a:t>
            </a:r>
            <a:r>
              <a:rPr lang="ko-KR" altLang="en-US" sz="1200" b="1" dirty="0"/>
              <a:t> 아는 사람 피하기 기능을 사용하고 있다면</a:t>
            </a:r>
            <a:r>
              <a:rPr lang="ko-KR" altLang="en-US" sz="1200" dirty="0"/>
              <a:t> </a:t>
            </a:r>
            <a:r>
              <a:rPr lang="ko-KR" altLang="en-US" sz="1200" dirty="0" err="1"/>
              <a:t>Row을</a:t>
            </a:r>
            <a:r>
              <a:rPr lang="ko-KR" altLang="en-US" sz="1200" dirty="0"/>
              <a:t> </a:t>
            </a:r>
            <a:r>
              <a:rPr lang="ko-KR" altLang="en-US" sz="1200" b="1" dirty="0"/>
              <a:t>삭제하지 않도록 </a:t>
            </a:r>
            <a:r>
              <a:rPr lang="ko-KR" altLang="en-US" sz="1200" dirty="0"/>
              <a:t>하였습니다 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785243D1-A0FB-4082-9E04-BCB027922D97}"/>
              </a:ext>
            </a:extLst>
          </p:cNvPr>
          <p:cNvCxnSpPr>
            <a:cxnSpLocks/>
          </p:cNvCxnSpPr>
          <p:nvPr/>
        </p:nvCxnSpPr>
        <p:spPr>
          <a:xfrm flipH="1">
            <a:off x="5470824" y="0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6">
            <a:extLst>
              <a:ext uri="{FF2B5EF4-FFF2-40B4-BE49-F238E27FC236}">
                <a16:creationId xmlns:a16="http://schemas.microsoft.com/office/drawing/2014/main" id="{26774717-31BF-4E4F-974A-B24EC1988F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0217" y="5010183"/>
            <a:ext cx="5641681" cy="1061829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acquaintanceRelationRepository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findMyAcquaintanceList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stream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filter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en-US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-&gt; !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en-US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getAvoidingAcquaintance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())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forEach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en-US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-&gt;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acquaintanceRelationRepository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.deleteAcquaintanceRelation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userRepository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.findById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B389C5"/>
                </a:solidFill>
                <a:effectLst/>
                <a:latin typeface="Arial Unicode MS"/>
                <a:ea typeface="JetBrains Mono"/>
              </a:rPr>
              <a:t>userId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orElseThrow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(()-&gt;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new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NoSuchElementException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존재하지 않는 회원입니다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,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en-US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;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671821-39D2-42A4-B8E1-CFD555E4402A}"/>
              </a:ext>
            </a:extLst>
          </p:cNvPr>
          <p:cNvSpPr txBox="1"/>
          <p:nvPr/>
        </p:nvSpPr>
        <p:spPr>
          <a:xfrm>
            <a:off x="531466" y="5308483"/>
            <a:ext cx="19375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의</a:t>
            </a:r>
            <a:r>
              <a:rPr lang="en-US" altLang="ko-KR" sz="1200" dirty="0"/>
              <a:t> </a:t>
            </a:r>
            <a:r>
              <a:rPr lang="ko-KR" altLang="en-US" sz="1200" dirty="0"/>
              <a:t>예시코드</a:t>
            </a:r>
            <a:endParaRPr lang="en-US" altLang="ko-KR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DC379E-6EB8-42E7-9435-56F468064B9B}"/>
              </a:ext>
            </a:extLst>
          </p:cNvPr>
          <p:cNvSpPr txBox="1"/>
          <p:nvPr/>
        </p:nvSpPr>
        <p:spPr>
          <a:xfrm>
            <a:off x="6008892" y="4608345"/>
            <a:ext cx="1549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 2</a:t>
            </a:r>
            <a:r>
              <a:rPr lang="ko-KR" altLang="en-US" sz="1200" dirty="0"/>
              <a:t>의</a:t>
            </a:r>
            <a:r>
              <a:rPr lang="en-US" altLang="ko-KR" sz="1200" dirty="0"/>
              <a:t> </a:t>
            </a:r>
            <a:r>
              <a:rPr lang="ko-KR" altLang="en-US" sz="1200" dirty="0"/>
              <a:t>예시코드</a:t>
            </a:r>
            <a:endParaRPr lang="en-US" altLang="ko-KR" sz="1200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2193E815-6065-4C2E-940E-7D2F788098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387" y="5671184"/>
            <a:ext cx="3676006" cy="646331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for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String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phoneNumber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: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phoneNumbers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 {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userRepository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.findByPhoneNumber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phoneNumber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ifPresent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targetUser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-&gt; {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registerNewAcquaintance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B389C5"/>
                </a:solidFill>
                <a:effectLst/>
                <a:latin typeface="Arial Unicode MS"/>
                <a:ea typeface="JetBrains Mono"/>
              </a:rPr>
              <a:t>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,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targetUser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;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})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;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}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871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28C2D6D-FAFE-4813-BB78-11A8103061A0}"/>
              </a:ext>
            </a:extLst>
          </p:cNvPr>
          <p:cNvSpPr/>
          <p:nvPr/>
        </p:nvSpPr>
        <p:spPr>
          <a:xfrm>
            <a:off x="2642924" y="4991738"/>
            <a:ext cx="788311" cy="1434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910855" y="949798"/>
            <a:ext cx="3793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Interceptor,</a:t>
            </a:r>
            <a:r>
              <a:rPr lang="ko-KR" altLang="en-US" b="1" dirty="0"/>
              <a:t> </a:t>
            </a:r>
            <a:r>
              <a:rPr lang="en-US" altLang="ko-KR" b="1" dirty="0"/>
              <a:t>JWT</a:t>
            </a:r>
            <a:r>
              <a:rPr lang="ko-KR" altLang="en-US" b="1" dirty="0"/>
              <a:t>를 사용한 보안 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757078" y="1361315"/>
            <a:ext cx="4771629" cy="4847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en-US" altLang="ko-KR" sz="1200" dirty="0"/>
              <a:t>- </a:t>
            </a:r>
            <a:r>
              <a:rPr lang="ko-KR" altLang="en-US" sz="1200" dirty="0"/>
              <a:t>개인 정보가 많이 사용되는 서비스였기 때문에 권한이 필요한 모든 요청마다 </a:t>
            </a:r>
            <a:r>
              <a:rPr lang="en-US" altLang="ko-KR" sz="1200" dirty="0"/>
              <a:t>token</a:t>
            </a:r>
            <a:r>
              <a:rPr lang="ko-KR" altLang="en-US" sz="1200" dirty="0"/>
              <a:t>에서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추출하여 요청 로직에 대한 권한을 확인하였습니다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Controller</a:t>
            </a:r>
            <a:r>
              <a:rPr lang="ko-KR" altLang="en-US" sz="1200" dirty="0"/>
              <a:t>로 들어가기 전 </a:t>
            </a:r>
            <a:r>
              <a:rPr lang="en-US" altLang="ko-KR" sz="1200" dirty="0"/>
              <a:t>Interceptor</a:t>
            </a:r>
            <a:r>
              <a:rPr lang="ko-KR" altLang="en-US" sz="1200" dirty="0"/>
              <a:t>에서 </a:t>
            </a:r>
            <a:r>
              <a:rPr lang="en-US" altLang="ko-KR" sz="1200" dirty="0"/>
              <a:t>Token</a:t>
            </a:r>
            <a:r>
              <a:rPr lang="ko-KR" altLang="en-US" sz="1200" dirty="0"/>
              <a:t>의 유효시간을 확인하는 작업을 진행합니다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Token</a:t>
            </a:r>
            <a:r>
              <a:rPr lang="ko-KR" altLang="en-US" sz="1200" dirty="0"/>
              <a:t>의 시간이 유효하다면</a:t>
            </a:r>
            <a:r>
              <a:rPr lang="en-US" altLang="ko-KR" sz="1200" dirty="0"/>
              <a:t>, Interceptor</a:t>
            </a:r>
            <a:r>
              <a:rPr lang="ko-KR" altLang="en-US" sz="1200" dirty="0"/>
              <a:t>에서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를 추출한 후 </a:t>
            </a:r>
            <a:r>
              <a:rPr lang="en-US" altLang="ko-KR" sz="1200" dirty="0"/>
              <a:t>Controller</a:t>
            </a:r>
            <a:r>
              <a:rPr lang="ko-KR" altLang="en-US" sz="1200" dirty="0"/>
              <a:t>로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 값을 넘겨줍니다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넘겨 받은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를 이용하여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요청 로직에 대해 권한이 있는지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예를 들어 특정 회원의 프로필을 조회하는 로직을 요청한다면 그 프로필이 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에게 허락된 프로필인지 확인하는 절차를 거칩니다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을 사용하여 보안을 높이고</a:t>
            </a:r>
            <a:r>
              <a:rPr lang="en-US" altLang="ko-KR" sz="1200" dirty="0"/>
              <a:t>,</a:t>
            </a:r>
            <a:r>
              <a:rPr lang="ko-KR" altLang="en-US" sz="1200" dirty="0"/>
              <a:t> 자동 로그인이 가능하도록 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로그아웃을 하면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무효화 시킵니다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467897" y="222005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552199" y="293343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 flipV="1">
            <a:off x="1281719" y="1422519"/>
            <a:ext cx="2210411" cy="66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 flipV="1">
            <a:off x="1236814" y="4080906"/>
            <a:ext cx="2309337" cy="17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281719" y="2976489"/>
            <a:ext cx="22207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86173" y="1208267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686160" y="2761045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577810" y="3867414"/>
            <a:ext cx="180641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User</a:t>
            </a:r>
            <a:r>
              <a:rPr lang="ko-KR" altLang="en-US" sz="800" dirty="0"/>
              <a:t> </a:t>
            </a:r>
            <a:r>
              <a:rPr lang="en-US" altLang="ko-KR" sz="800" dirty="0"/>
              <a:t>PK</a:t>
            </a:r>
            <a:r>
              <a:rPr lang="ko-KR" altLang="en-US" sz="800" dirty="0"/>
              <a:t>와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472756" y="5823579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반환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702598" y="4318943"/>
            <a:ext cx="1894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488046" y="3975136"/>
            <a:ext cx="23046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User</a:t>
            </a:r>
            <a:r>
              <a:rPr lang="ko-KR" altLang="en-US" sz="800" dirty="0"/>
              <a:t>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‘select </a:t>
            </a:r>
            <a:r>
              <a:rPr lang="ko-KR" altLang="en-US" sz="800" dirty="0"/>
              <a:t>요청</a:t>
            </a:r>
            <a:r>
              <a:rPr lang="en-US" altLang="ko-KR" sz="800" dirty="0"/>
              <a:t>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283582" y="222892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397764" y="299440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295076" y="228782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516008" y="293343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785127" y="591334"/>
            <a:ext cx="35034" cy="59949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621787" y="598112"/>
            <a:ext cx="19708" cy="6036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>
            <a:off x="5664405" y="591334"/>
            <a:ext cx="15095" cy="6036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01140" y="4912944"/>
            <a:ext cx="2011585" cy="7954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556305" y="4967450"/>
            <a:ext cx="29968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Refresh Token</a:t>
            </a:r>
            <a:r>
              <a:rPr lang="ko-KR" altLang="en-US" sz="800" dirty="0"/>
              <a:t>과 </a:t>
            </a:r>
            <a:r>
              <a:rPr lang="en-US" altLang="ko-KR" sz="800" dirty="0"/>
              <a:t>Db Refresh token</a:t>
            </a:r>
            <a:r>
              <a:rPr lang="ko-KR" altLang="en-US" sz="800" dirty="0"/>
              <a:t>의</a:t>
            </a:r>
            <a:endParaRPr lang="en-US" altLang="ko-KR" sz="800" dirty="0"/>
          </a:p>
          <a:p>
            <a:r>
              <a:rPr lang="ko-KR" altLang="en-US" sz="800" dirty="0"/>
              <a:t>동일성 확인</a:t>
            </a:r>
            <a:endParaRPr lang="en-US" altLang="ko-KR" sz="800" dirty="0"/>
          </a:p>
          <a:p>
            <a:endParaRPr lang="en-US" altLang="ko-KR" sz="800" dirty="0"/>
          </a:p>
          <a:p>
            <a:r>
              <a:rPr lang="en-US" altLang="ko-KR" sz="800" dirty="0"/>
              <a:t>2. Refresh token</a:t>
            </a:r>
            <a:r>
              <a:rPr lang="ko-KR" altLang="en-US" sz="800" dirty="0"/>
              <a:t>의 유효시간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203522" y="6054522"/>
            <a:ext cx="22922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520880" y="3766379"/>
            <a:ext cx="612442" cy="24507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560163" y="4552361"/>
            <a:ext cx="8083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endParaRPr lang="en-US" altLang="ko-KR" sz="1000" dirty="0"/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702598" y="4552361"/>
            <a:ext cx="18975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951010" y="4379611"/>
            <a:ext cx="15726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Db 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777658" y="107409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519301" y="1011012"/>
            <a:ext cx="612442" cy="239738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548103" y="1845916"/>
            <a:ext cx="8083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endParaRPr lang="en-US" altLang="ko-KR" sz="1000" dirty="0"/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709275" y="6047238"/>
            <a:ext cx="1887349" cy="9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855584" y="5793848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A65F57D3-817A-4372-9CC0-C97CE0AF9AA0}"/>
              </a:ext>
            </a:extLst>
          </p:cNvPr>
          <p:cNvSpPr/>
          <p:nvPr/>
        </p:nvSpPr>
        <p:spPr>
          <a:xfrm>
            <a:off x="2228795" y="1592911"/>
            <a:ext cx="2496784" cy="994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D7836FD-1AFA-4DE8-8153-AE3710F94EF8}"/>
              </a:ext>
            </a:extLst>
          </p:cNvPr>
          <p:cNvSpPr txBox="1"/>
          <p:nvPr/>
        </p:nvSpPr>
        <p:spPr>
          <a:xfrm>
            <a:off x="2302526" y="1674729"/>
            <a:ext cx="24816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Access token</a:t>
            </a:r>
            <a:r>
              <a:rPr lang="ko-KR" altLang="en-US" sz="800" dirty="0"/>
              <a:t>에서 </a:t>
            </a:r>
            <a:r>
              <a:rPr lang="en-US" altLang="ko-KR" sz="800" dirty="0" err="1"/>
              <a:t>userId</a:t>
            </a:r>
            <a:r>
              <a:rPr lang="ko-KR" altLang="en-US" sz="800" dirty="0"/>
              <a:t>를 추출한 후</a:t>
            </a:r>
            <a:r>
              <a:rPr lang="en-US" altLang="ko-KR" sz="800" dirty="0"/>
              <a:t>,</a:t>
            </a:r>
          </a:p>
          <a:p>
            <a:r>
              <a:rPr lang="en-US" altLang="ko-KR" sz="800" dirty="0"/>
              <a:t>User</a:t>
            </a:r>
            <a:r>
              <a:rPr lang="ko-KR" altLang="en-US" sz="800" dirty="0"/>
              <a:t>가 요청 로직에 대해 권한이 있는지 확인 한다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en-US" altLang="ko-KR" sz="800" dirty="0"/>
              <a:t>2-1) </a:t>
            </a:r>
            <a:r>
              <a:rPr lang="ko-KR" altLang="en-US" sz="800" dirty="0"/>
              <a:t>권한이 있는 경우 로직을 수행한다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en-US" altLang="ko-KR" sz="800" dirty="0"/>
              <a:t>2-2)</a:t>
            </a:r>
            <a:r>
              <a:rPr lang="ko-KR" altLang="en-US" sz="800" dirty="0"/>
              <a:t>권한이 없는 경우 </a:t>
            </a:r>
            <a:r>
              <a:rPr lang="en-US" altLang="ko-KR" sz="800" dirty="0"/>
              <a:t>Exception</a:t>
            </a:r>
            <a:r>
              <a:rPr lang="ko-KR" altLang="en-US" sz="800" dirty="0"/>
              <a:t>을 발생시킨다</a:t>
            </a:r>
          </a:p>
        </p:txBody>
      </p:sp>
    </p:spTree>
    <p:extLst>
      <p:ext uri="{BB962C8B-B14F-4D97-AF65-F5344CB8AC3E}">
        <p14:creationId xmlns:p14="http://schemas.microsoft.com/office/powerpoint/2010/main" val="2661924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280503" y="756704"/>
            <a:ext cx="419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비밀번호 찾기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7147305" y="881005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9CD0A36-2C4E-41FA-8609-3C7BD738348D}"/>
              </a:ext>
            </a:extLst>
          </p:cNvPr>
          <p:cNvSpPr/>
          <p:nvPr/>
        </p:nvSpPr>
        <p:spPr>
          <a:xfrm>
            <a:off x="220766" y="617421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6F2C02C-C1CC-4F9D-A88C-93D8A6635BD3}"/>
              </a:ext>
            </a:extLst>
          </p:cNvPr>
          <p:cNvSpPr txBox="1"/>
          <p:nvPr/>
        </p:nvSpPr>
        <p:spPr>
          <a:xfrm>
            <a:off x="305068" y="688759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C6AEE795-6D3A-4139-9970-A38B56E1E9D0}"/>
              </a:ext>
            </a:extLst>
          </p:cNvPr>
          <p:cNvSpPr/>
          <p:nvPr/>
        </p:nvSpPr>
        <p:spPr>
          <a:xfrm>
            <a:off x="2671927" y="618308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D5A38BF-411C-4277-B32F-E0B133EFF133}"/>
              </a:ext>
            </a:extLst>
          </p:cNvPr>
          <p:cNvSpPr txBox="1"/>
          <p:nvPr/>
        </p:nvSpPr>
        <p:spPr>
          <a:xfrm>
            <a:off x="2786109" y="694856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32E7E611-9115-4ED5-974E-197C352FA1CA}"/>
              </a:ext>
            </a:extLst>
          </p:cNvPr>
          <p:cNvSpPr/>
          <p:nvPr/>
        </p:nvSpPr>
        <p:spPr>
          <a:xfrm>
            <a:off x="5146796" y="624198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481613-7B00-483D-A8D0-E602B999E312}"/>
              </a:ext>
            </a:extLst>
          </p:cNvPr>
          <p:cNvSpPr txBox="1"/>
          <p:nvPr/>
        </p:nvSpPr>
        <p:spPr>
          <a:xfrm>
            <a:off x="5275052" y="688759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EMAIL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F4D15714-C196-46ED-B010-321F5CC9CB0A}"/>
              </a:ext>
            </a:extLst>
          </p:cNvPr>
          <p:cNvCxnSpPr>
            <a:cxnSpLocks/>
          </p:cNvCxnSpPr>
          <p:nvPr/>
        </p:nvCxnSpPr>
        <p:spPr>
          <a:xfrm flipH="1">
            <a:off x="553322" y="986750"/>
            <a:ext cx="19708" cy="55623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94CE9D00-C90A-495A-8F7F-FA9E3430A674}"/>
              </a:ext>
            </a:extLst>
          </p:cNvPr>
          <p:cNvCxnSpPr>
            <a:cxnSpLocks/>
          </p:cNvCxnSpPr>
          <p:nvPr/>
        </p:nvCxnSpPr>
        <p:spPr>
          <a:xfrm flipH="1">
            <a:off x="3022204" y="1049134"/>
            <a:ext cx="19708" cy="54999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1590DA13-D6CA-4FE5-8A5B-3B5C3E409B8D}"/>
              </a:ext>
            </a:extLst>
          </p:cNvPr>
          <p:cNvCxnSpPr>
            <a:cxnSpLocks/>
          </p:cNvCxnSpPr>
          <p:nvPr/>
        </p:nvCxnSpPr>
        <p:spPr>
          <a:xfrm>
            <a:off x="5516125" y="986750"/>
            <a:ext cx="19708" cy="54999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7EE7BC7-486C-443C-BEE6-32DCE4C0AFE4}"/>
              </a:ext>
            </a:extLst>
          </p:cNvPr>
          <p:cNvCxnSpPr>
            <a:cxnSpLocks/>
          </p:cNvCxnSpPr>
          <p:nvPr/>
        </p:nvCxnSpPr>
        <p:spPr>
          <a:xfrm>
            <a:off x="579207" y="1415408"/>
            <a:ext cx="2449459" cy="2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5895C2B1-8D24-40F1-B152-753305E33BE5}"/>
              </a:ext>
            </a:extLst>
          </p:cNvPr>
          <p:cNvSpPr txBox="1"/>
          <p:nvPr/>
        </p:nvSpPr>
        <p:spPr>
          <a:xfrm>
            <a:off x="636826" y="1227368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    이메일 주소와 함께 비밀번호 변경 요청</a:t>
            </a: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7C9C0E09-7020-4A6C-9E6A-976E07F2EF1F}"/>
              </a:ext>
            </a:extLst>
          </p:cNvPr>
          <p:cNvSpPr/>
          <p:nvPr/>
        </p:nvSpPr>
        <p:spPr>
          <a:xfrm>
            <a:off x="1814578" y="1579525"/>
            <a:ext cx="2496784" cy="8828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이메일과 현재 시간을 조합하여 </a:t>
            </a: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생성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생성시 암호화 진행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암호화 과정은 오른쪽 설명란  참조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을</a:t>
            </a:r>
            <a:r>
              <a:rPr lang="en-US" altLang="ko-KR" sz="800" dirty="0">
                <a:solidFill>
                  <a:schemeClr val="tx1"/>
                </a:solidFill>
              </a:rPr>
              <a:t> email</a:t>
            </a:r>
            <a:r>
              <a:rPr lang="ko-KR" altLang="en-US" sz="800" dirty="0">
                <a:solidFill>
                  <a:schemeClr val="tx1"/>
                </a:solidFill>
              </a:rPr>
              <a:t>로 전송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0A9FEC5F-43A8-4616-90BD-30BAE0F44BFB}"/>
              </a:ext>
            </a:extLst>
          </p:cNvPr>
          <p:cNvCxnSpPr>
            <a:cxnSpLocks/>
          </p:cNvCxnSpPr>
          <p:nvPr/>
        </p:nvCxnSpPr>
        <p:spPr>
          <a:xfrm>
            <a:off x="3076197" y="2834302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2292667F-04B0-4E05-BD37-521CD8C41291}"/>
              </a:ext>
            </a:extLst>
          </p:cNvPr>
          <p:cNvSpPr txBox="1"/>
          <p:nvPr/>
        </p:nvSpPr>
        <p:spPr>
          <a:xfrm>
            <a:off x="2945258" y="2569430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URL </a:t>
            </a:r>
            <a:r>
              <a:rPr lang="ko-KR" altLang="en-US" sz="800" dirty="0"/>
              <a:t>전송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80E1BC1-8B84-4EA9-B435-76798F627386}"/>
              </a:ext>
            </a:extLst>
          </p:cNvPr>
          <p:cNvCxnSpPr>
            <a:cxnSpLocks/>
          </p:cNvCxnSpPr>
          <p:nvPr/>
        </p:nvCxnSpPr>
        <p:spPr>
          <a:xfrm flipH="1">
            <a:off x="3073086" y="4127169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BC53056F-2B33-4C70-9740-60DE6A1877EF}"/>
              </a:ext>
            </a:extLst>
          </p:cNvPr>
          <p:cNvSpPr txBox="1"/>
          <p:nvPr/>
        </p:nvSpPr>
        <p:spPr>
          <a:xfrm>
            <a:off x="2930026" y="3918439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URL </a:t>
            </a:r>
            <a:r>
              <a:rPr lang="ko-KR" altLang="en-US" sz="800" dirty="0"/>
              <a:t>클릭</a:t>
            </a:r>
          </a:p>
        </p:txBody>
      </p: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20B73B9C-9592-42B8-A101-74748325C9C4}"/>
              </a:ext>
            </a:extLst>
          </p:cNvPr>
          <p:cNvCxnSpPr>
            <a:cxnSpLocks/>
          </p:cNvCxnSpPr>
          <p:nvPr/>
        </p:nvCxnSpPr>
        <p:spPr>
          <a:xfrm>
            <a:off x="3098857" y="4438630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1BD0D182-9996-4AAA-9355-0EE6469E3B3D}"/>
              </a:ext>
            </a:extLst>
          </p:cNvPr>
          <p:cNvSpPr txBox="1"/>
          <p:nvPr/>
        </p:nvSpPr>
        <p:spPr>
          <a:xfrm>
            <a:off x="2967918" y="4223186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비밀번호 변경 페이지 제공</a:t>
            </a: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E4AB057E-0B68-4248-AFB4-690597325D0C}"/>
              </a:ext>
            </a:extLst>
          </p:cNvPr>
          <p:cNvCxnSpPr>
            <a:cxnSpLocks/>
          </p:cNvCxnSpPr>
          <p:nvPr/>
        </p:nvCxnSpPr>
        <p:spPr>
          <a:xfrm flipH="1">
            <a:off x="3086051" y="4839133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79A4A522-E537-4357-879E-43266D77BC77}"/>
              </a:ext>
            </a:extLst>
          </p:cNvPr>
          <p:cNvSpPr txBox="1"/>
          <p:nvPr/>
        </p:nvSpPr>
        <p:spPr>
          <a:xfrm>
            <a:off x="2931927" y="4521868"/>
            <a:ext cx="2669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비밀번호 변경 요청</a:t>
            </a:r>
            <a:endParaRPr lang="en-US" altLang="ko-KR" sz="800" dirty="0"/>
          </a:p>
          <a:p>
            <a:pPr algn="ctr"/>
            <a:r>
              <a:rPr lang="ko-KR" altLang="en-US" sz="800" dirty="0"/>
              <a:t>이 때 암호화 된 값이 함께 </a:t>
            </a:r>
            <a:r>
              <a:rPr lang="en-US" altLang="ko-KR" sz="800" dirty="0"/>
              <a:t>server</a:t>
            </a:r>
            <a:r>
              <a:rPr lang="ko-KR" altLang="en-US" sz="800" dirty="0"/>
              <a:t>로 전송됨</a:t>
            </a:r>
            <a:endParaRPr lang="en-US" altLang="ko-KR" sz="800" dirty="0"/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6762B5D0-7DE3-4E81-B887-4CA358FBE2F9}"/>
              </a:ext>
            </a:extLst>
          </p:cNvPr>
          <p:cNvSpPr/>
          <p:nvPr/>
        </p:nvSpPr>
        <p:spPr>
          <a:xfrm>
            <a:off x="1721768" y="4997135"/>
            <a:ext cx="2502096" cy="13423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암호화 된 값 복호화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복호화를 통해 </a:t>
            </a:r>
            <a:r>
              <a:rPr lang="en-US" altLang="ko-KR" sz="800" dirty="0">
                <a:solidFill>
                  <a:schemeClr val="tx1"/>
                </a:solidFill>
              </a:rPr>
              <a:t>1) </a:t>
            </a:r>
            <a:r>
              <a:rPr lang="ko-KR" altLang="en-US" sz="800" dirty="0">
                <a:solidFill>
                  <a:schemeClr val="tx1"/>
                </a:solidFill>
              </a:rPr>
              <a:t>사용자 이메일 </a:t>
            </a:r>
            <a:r>
              <a:rPr lang="en-US" altLang="ko-KR" sz="800" dirty="0">
                <a:solidFill>
                  <a:schemeClr val="tx1"/>
                </a:solidFill>
              </a:rPr>
              <a:t>2) </a:t>
            </a: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이 만들어진 시간을 알 수 있음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이 생성된 지 </a:t>
            </a:r>
            <a:r>
              <a:rPr lang="en-US" altLang="ko-KR" sz="800" dirty="0">
                <a:solidFill>
                  <a:schemeClr val="tx1"/>
                </a:solidFill>
              </a:rPr>
              <a:t>5</a:t>
            </a:r>
            <a:r>
              <a:rPr lang="ko-KR" altLang="en-US" sz="800" dirty="0">
                <a:solidFill>
                  <a:schemeClr val="tx1"/>
                </a:solidFill>
              </a:rPr>
              <a:t>분이 넘었다면 해당 요청은 수행하지 않음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r>
              <a:rPr lang="ko-KR" altLang="en-US" sz="800" dirty="0">
                <a:solidFill>
                  <a:schemeClr val="tx1"/>
                </a:solidFill>
              </a:rPr>
              <a:t>시간이 유효하다면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사용자 이메일로 </a:t>
            </a:r>
            <a:r>
              <a:rPr lang="en-US" altLang="ko-KR" sz="800" dirty="0">
                <a:solidFill>
                  <a:schemeClr val="tx1"/>
                </a:solidFill>
              </a:rPr>
              <a:t>user</a:t>
            </a:r>
            <a:r>
              <a:rPr lang="ko-KR" altLang="en-US" sz="800" dirty="0">
                <a:solidFill>
                  <a:schemeClr val="tx1"/>
                </a:solidFill>
              </a:rPr>
              <a:t>를 </a:t>
            </a:r>
            <a:r>
              <a:rPr lang="en-US" altLang="ko-KR" sz="800" dirty="0" err="1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에서 </a:t>
            </a:r>
            <a:r>
              <a:rPr lang="en-US" altLang="ko-KR" sz="800" dirty="0">
                <a:solidFill>
                  <a:schemeClr val="tx1"/>
                </a:solidFill>
              </a:rPr>
              <a:t>select</a:t>
            </a:r>
            <a:r>
              <a:rPr lang="ko-KR" altLang="en-US" sz="800" dirty="0">
                <a:solidFill>
                  <a:schemeClr val="tx1"/>
                </a:solidFill>
              </a:rPr>
              <a:t>하여 비밀번호를 변경함</a:t>
            </a:r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102772D-1A8B-4FBE-9DE2-A45A8749E250}"/>
              </a:ext>
            </a:extLst>
          </p:cNvPr>
          <p:cNvSpPr txBox="1"/>
          <p:nvPr/>
        </p:nvSpPr>
        <p:spPr>
          <a:xfrm>
            <a:off x="7151424" y="1852292"/>
            <a:ext cx="4836539" cy="44781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dirty="0"/>
              <a:t>⨀ 암호화 방법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r>
              <a:rPr lang="en-US" altLang="ko-KR" sz="1200" dirty="0"/>
              <a:t> - AES/CBC/PKCS5Padding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r>
              <a:rPr lang="ko-KR" altLang="en-US" sz="1200" dirty="0"/>
              <a:t>⨀ 암호화 이용 과정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현재 시간과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Email</a:t>
            </a:r>
            <a:r>
              <a:rPr lang="ko-KR" altLang="en-US" sz="1200" dirty="0"/>
              <a:t>을 암호화합니다</a:t>
            </a:r>
            <a:endParaRPr lang="en-US" altLang="ko-KR" sz="1200" dirty="0"/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암호화 된 값과 함께 </a:t>
            </a:r>
            <a:r>
              <a:rPr lang="en-US" altLang="ko-KR" sz="1200" dirty="0" err="1"/>
              <a:t>url</a:t>
            </a:r>
            <a:r>
              <a:rPr lang="ko-KR" altLang="en-US" sz="1200" dirty="0"/>
              <a:t>을 만든 후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email</a:t>
            </a:r>
            <a:r>
              <a:rPr lang="ko-KR" altLang="en-US" sz="1200" dirty="0"/>
              <a:t>로 전송합니다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3. Client</a:t>
            </a:r>
            <a:r>
              <a:rPr lang="ko-KR" altLang="en-US" sz="1200" dirty="0"/>
              <a:t>로부터 암호화 된 값과 함께 비밀번호 변경을 </a:t>
            </a:r>
            <a:r>
              <a:rPr lang="ko-KR" altLang="en-US" sz="1200" dirty="0" err="1"/>
              <a:t>요청받습니다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4. </a:t>
            </a:r>
            <a:r>
              <a:rPr lang="ko-KR" altLang="en-US" sz="1200" dirty="0"/>
              <a:t>암호화 된 값을 복호화 하여 </a:t>
            </a:r>
            <a:r>
              <a:rPr lang="en-US" altLang="ko-KR" sz="1200" dirty="0" err="1"/>
              <a:t>url</a:t>
            </a:r>
            <a:r>
              <a:rPr lang="ko-KR" altLang="en-US" sz="1200" dirty="0"/>
              <a:t>이 만들어진 시간과 </a:t>
            </a:r>
            <a:r>
              <a:rPr lang="en-US" altLang="ko-KR" sz="1200" dirty="0"/>
              <a:t>Email</a:t>
            </a:r>
            <a:r>
              <a:rPr lang="ko-KR" altLang="en-US" sz="1200" dirty="0"/>
              <a:t>을 얻어냅니다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5. </a:t>
            </a:r>
            <a:r>
              <a:rPr lang="ko-KR" altLang="en-US" sz="1200" dirty="0"/>
              <a:t>유효시간을 확인 한 후</a:t>
            </a:r>
            <a:r>
              <a:rPr lang="en-US" altLang="ko-KR" sz="1200" dirty="0"/>
              <a:t> </a:t>
            </a:r>
            <a:r>
              <a:rPr lang="ko-KR" altLang="en-US" sz="1200" dirty="0"/>
              <a:t>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의 비밀번호를 변경합니다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3CBDE7AE-29B2-4D89-B27D-D77A46B6E4A3}"/>
              </a:ext>
            </a:extLst>
          </p:cNvPr>
          <p:cNvSpPr/>
          <p:nvPr/>
        </p:nvSpPr>
        <p:spPr>
          <a:xfrm>
            <a:off x="4342348" y="2991685"/>
            <a:ext cx="2387434" cy="88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하나의 </a:t>
            </a:r>
            <a:r>
              <a:rPr lang="en-US" altLang="ko-KR" sz="800" dirty="0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은 한 명의 회원에게만 적용되는 </a:t>
            </a:r>
            <a:r>
              <a:rPr lang="en-US" altLang="ko-KR" sz="800" dirty="0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임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예시 </a:t>
            </a:r>
            <a:r>
              <a:rPr lang="en-US" altLang="ko-KR" sz="800" dirty="0">
                <a:solidFill>
                  <a:schemeClr val="tx1"/>
                </a:solidFill>
              </a:rPr>
              <a:t>: www.highend.com/reset/password/{askljaflkmdkljasklf(</a:t>
            </a:r>
            <a:r>
              <a:rPr lang="ko-KR" altLang="en-US" sz="800" dirty="0">
                <a:solidFill>
                  <a:schemeClr val="tx1"/>
                </a:solidFill>
              </a:rPr>
              <a:t>회원 </a:t>
            </a:r>
            <a:r>
              <a:rPr lang="en-US" altLang="ko-KR" sz="800" dirty="0">
                <a:solidFill>
                  <a:schemeClr val="tx1"/>
                </a:solidFill>
              </a:rPr>
              <a:t>email</a:t>
            </a:r>
            <a:r>
              <a:rPr lang="ko-KR" altLang="en-US" sz="800" dirty="0">
                <a:solidFill>
                  <a:schemeClr val="tx1"/>
                </a:solidFill>
              </a:rPr>
              <a:t>과 현재 시간으로 암호화 된 값</a:t>
            </a:r>
            <a:r>
              <a:rPr lang="en-US" altLang="ko-KR" sz="800" dirty="0">
                <a:solidFill>
                  <a:schemeClr val="tx1"/>
                </a:solidFill>
              </a:rPr>
              <a:t>)}</a:t>
            </a:r>
            <a:r>
              <a:rPr lang="ko-KR" altLang="en-US" sz="800" dirty="0"/>
              <a:t>원</a:t>
            </a:r>
            <a:endParaRPr lang="en-US" altLang="ko-KR" sz="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44EE02D-6890-47DA-BB92-3EA8801466D1}"/>
              </a:ext>
            </a:extLst>
          </p:cNvPr>
          <p:cNvSpPr txBox="1"/>
          <p:nvPr/>
        </p:nvSpPr>
        <p:spPr>
          <a:xfrm>
            <a:off x="7280503" y="1131732"/>
            <a:ext cx="34189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- </a:t>
            </a:r>
            <a:r>
              <a:rPr lang="ko-KR" altLang="en-US" sz="1200" dirty="0"/>
              <a:t>자바의 </a:t>
            </a:r>
            <a:r>
              <a:rPr lang="en-US" altLang="ko-KR" sz="1200" dirty="0"/>
              <a:t>Cipher </a:t>
            </a:r>
            <a:r>
              <a:rPr lang="ko-KR" altLang="en-US" sz="1200" dirty="0"/>
              <a:t>클래스를 이용하여 </a:t>
            </a:r>
            <a:r>
              <a:rPr lang="en-US" altLang="ko-KR" sz="1200" dirty="0" err="1"/>
              <a:t>url</a:t>
            </a:r>
            <a:r>
              <a:rPr lang="en-US" altLang="ko-KR" sz="1200" dirty="0"/>
              <a:t> </a:t>
            </a:r>
            <a:r>
              <a:rPr lang="ko-KR" altLang="en-US" sz="1200" dirty="0"/>
              <a:t>암호화 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825621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4152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Project 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540506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390413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7" y="759745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1475530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1275247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6" y="1714546"/>
            <a:ext cx="48330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endParaRPr lang="en-US" altLang="ko-KR" sz="1400" dirty="0"/>
          </a:p>
          <a:p>
            <a:r>
              <a:rPr lang="en-US" altLang="ko-KR" sz="1400" dirty="0"/>
              <a:t>- EC2, RDS</a:t>
            </a:r>
          </a:p>
          <a:p>
            <a:r>
              <a:rPr lang="en-US" altLang="ko-KR" sz="1400" dirty="0"/>
              <a:t>- CICD</a:t>
            </a:r>
          </a:p>
          <a:p>
            <a:r>
              <a:rPr lang="en-US" altLang="ko-KR" sz="1400" dirty="0"/>
              <a:t>- </a:t>
            </a:r>
            <a:r>
              <a:rPr lang="ko-KR" altLang="en-US" sz="1400" dirty="0" err="1"/>
              <a:t>무중단</a:t>
            </a:r>
            <a:r>
              <a:rPr lang="ko-KR" altLang="en-US" sz="1400" dirty="0"/>
              <a:t> 배포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2970254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280752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240398"/>
            <a:ext cx="4833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4195363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4071227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9" y="4570722"/>
            <a:ext cx="4737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</a:t>
            </a:r>
            <a:r>
              <a:rPr lang="ko-KR" altLang="en-US" sz="1200" b="1" dirty="0"/>
              <a:t>성능 개선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ko-KR" altLang="en-US" sz="1200" dirty="0"/>
              <a:t>⨀ 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 모든 과정 참여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D2204507-3F39-437E-BB11-2FE8FBEFBB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598" y="2402297"/>
            <a:ext cx="2172928" cy="3759713"/>
          </a:xfrm>
          <a:prstGeom prst="rect">
            <a:avLst/>
          </a:prstGeom>
        </p:spPr>
      </p:pic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CC4ED2A3-ECC2-4ACA-BE35-A6F0BB9834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612" y="2269488"/>
            <a:ext cx="2279686" cy="3892521"/>
          </a:xfrm>
          <a:prstGeom prst="rect">
            <a:avLst/>
          </a:prstGeom>
        </p:spPr>
      </p:pic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5977276" y="5959459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375970" y="5871682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endParaRPr lang="en-US" altLang="ko-K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372837" y="6260259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244784" y="4096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459937" y="28553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371938" y="738917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317" y="335670"/>
            <a:ext cx="2196022" cy="2605156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87" y="332327"/>
            <a:ext cx="2038830" cy="26051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404767" y="3406896"/>
            <a:ext cx="576680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6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853341" y="2374191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718635" y="2579303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518BB9-A217-4D86-A3E5-CD1F3D284B15}"/>
              </a:ext>
            </a:extLst>
          </p:cNvPr>
          <p:cNvSpPr/>
          <p:nvPr/>
        </p:nvSpPr>
        <p:spPr>
          <a:xfrm>
            <a:off x="3675065" y="3444171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숭실대학교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학식 사이트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B3380AB-AD99-4B35-9BC7-645D9AF76C17}"/>
              </a:ext>
            </a:extLst>
          </p:cNvPr>
          <p:cNvCxnSpPr>
            <a:cxnSpLocks/>
          </p:cNvCxnSpPr>
          <p:nvPr/>
        </p:nvCxnSpPr>
        <p:spPr>
          <a:xfrm flipV="1">
            <a:off x="2468199" y="3796904"/>
            <a:ext cx="1092629" cy="70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54E4DD-40D0-4E38-9EE5-1B217B06C71A}"/>
              </a:ext>
            </a:extLst>
          </p:cNvPr>
          <p:cNvSpPr txBox="1"/>
          <p:nvPr/>
        </p:nvSpPr>
        <p:spPr>
          <a:xfrm>
            <a:off x="1993751" y="3707416"/>
            <a:ext cx="1416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</a:t>
            </a:r>
            <a:r>
              <a:rPr lang="ko-KR" altLang="en-US" sz="800" dirty="0"/>
              <a:t>자정이 되면 해당 날짜의 학식 데이터를 </a:t>
            </a:r>
            <a:r>
              <a:rPr lang="ko-KR" altLang="en-US" sz="800" dirty="0" err="1"/>
              <a:t>크롤링</a:t>
            </a:r>
            <a:endParaRPr lang="ko-KR" alt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BC16BF-EF36-48C6-BE8B-870889F153B4}"/>
              </a:ext>
            </a:extLst>
          </p:cNvPr>
          <p:cNvSpPr txBox="1"/>
          <p:nvPr/>
        </p:nvSpPr>
        <p:spPr>
          <a:xfrm>
            <a:off x="880885" y="3643920"/>
            <a:ext cx="885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순서도</a:t>
            </a:r>
            <a:endParaRPr lang="en-US" altLang="ko-KR" sz="1400" b="1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28E8F128-C198-430C-9FA6-475B7590B0BA}"/>
              </a:ext>
            </a:extLst>
          </p:cNvPr>
          <p:cNvSpPr/>
          <p:nvPr/>
        </p:nvSpPr>
        <p:spPr>
          <a:xfrm>
            <a:off x="747688" y="3768221"/>
            <a:ext cx="113786" cy="930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48C2B-C763-4DB9-AE3F-19CDC12CC9BC}"/>
              </a:ext>
            </a:extLst>
          </p:cNvPr>
          <p:cNvSpPr/>
          <p:nvPr/>
        </p:nvSpPr>
        <p:spPr>
          <a:xfrm>
            <a:off x="1467876" y="4595798"/>
            <a:ext cx="1440074" cy="89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3225B4-0F2F-4242-B24F-FE0B81C3447F}"/>
              </a:ext>
            </a:extLst>
          </p:cNvPr>
          <p:cNvSpPr/>
          <p:nvPr/>
        </p:nvSpPr>
        <p:spPr>
          <a:xfrm>
            <a:off x="4635995" y="4431885"/>
            <a:ext cx="1157171" cy="9548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8FC1645-17D7-4B6D-9452-D0AFB2F40BCA}"/>
              </a:ext>
            </a:extLst>
          </p:cNvPr>
          <p:cNvCxnSpPr>
            <a:cxnSpLocks/>
          </p:cNvCxnSpPr>
          <p:nvPr/>
        </p:nvCxnSpPr>
        <p:spPr>
          <a:xfrm>
            <a:off x="3014513" y="4705909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CEFD77-BE7B-4E16-ABFA-CFD7830DFE66}"/>
              </a:ext>
            </a:extLst>
          </p:cNvPr>
          <p:cNvSpPr txBox="1"/>
          <p:nvPr/>
        </p:nvSpPr>
        <p:spPr>
          <a:xfrm>
            <a:off x="3219614" y="4466821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2. </a:t>
            </a:r>
            <a:r>
              <a:rPr lang="ko-KR" altLang="en-US" sz="800" dirty="0"/>
              <a:t>학식 데이터 저장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A50BC5-F672-4FC4-9AED-743411B00FA6}"/>
              </a:ext>
            </a:extLst>
          </p:cNvPr>
          <p:cNvSpPr/>
          <p:nvPr/>
        </p:nvSpPr>
        <p:spPr>
          <a:xfrm>
            <a:off x="242241" y="5981798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753177-2E9B-4414-8830-6BE2199BC645}"/>
              </a:ext>
            </a:extLst>
          </p:cNvPr>
          <p:cNvCxnSpPr>
            <a:cxnSpLocks/>
          </p:cNvCxnSpPr>
          <p:nvPr/>
        </p:nvCxnSpPr>
        <p:spPr>
          <a:xfrm flipV="1">
            <a:off x="580340" y="5226828"/>
            <a:ext cx="743131" cy="640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6D423B7-E165-43FC-BF05-A73AFAFD85D4}"/>
              </a:ext>
            </a:extLst>
          </p:cNvPr>
          <p:cNvSpPr txBox="1"/>
          <p:nvPr/>
        </p:nvSpPr>
        <p:spPr>
          <a:xfrm>
            <a:off x="63199" y="5279021"/>
            <a:ext cx="1127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3. </a:t>
            </a:r>
            <a:r>
              <a:rPr lang="ko-KR" altLang="en-US" sz="800" dirty="0"/>
              <a:t>학식 데이터 요청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D1F1630-41FA-4DD1-AF92-C101D0206764}"/>
              </a:ext>
            </a:extLst>
          </p:cNvPr>
          <p:cNvCxnSpPr>
            <a:cxnSpLocks/>
          </p:cNvCxnSpPr>
          <p:nvPr/>
        </p:nvCxnSpPr>
        <p:spPr>
          <a:xfrm>
            <a:off x="3024664" y="5071982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E71DBE-2187-4F3A-8E1A-A1D385369704}"/>
              </a:ext>
            </a:extLst>
          </p:cNvPr>
          <p:cNvSpPr txBox="1"/>
          <p:nvPr/>
        </p:nvSpPr>
        <p:spPr>
          <a:xfrm>
            <a:off x="3233178" y="4856538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4. </a:t>
            </a:r>
            <a:r>
              <a:rPr lang="ko-KR" altLang="en-US" sz="800" dirty="0"/>
              <a:t>학식 데이터 </a:t>
            </a:r>
            <a:r>
              <a:rPr lang="en-US" altLang="ko-KR" sz="800" dirty="0"/>
              <a:t>select</a:t>
            </a:r>
            <a:endParaRPr lang="ko-KR" altLang="en-US" sz="800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28667E0-BB6B-4E44-A105-69D772D08B13}"/>
              </a:ext>
            </a:extLst>
          </p:cNvPr>
          <p:cNvCxnSpPr/>
          <p:nvPr/>
        </p:nvCxnSpPr>
        <p:spPr>
          <a:xfrm flipH="1">
            <a:off x="3024664" y="5386743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74C93D-B7A8-4FD5-91AD-8DC9A0C330D9}"/>
              </a:ext>
            </a:extLst>
          </p:cNvPr>
          <p:cNvSpPr txBox="1"/>
          <p:nvPr/>
        </p:nvSpPr>
        <p:spPr>
          <a:xfrm>
            <a:off x="3287318" y="5179704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5. </a:t>
            </a:r>
            <a:r>
              <a:rPr lang="ko-KR" altLang="en-US" sz="800" dirty="0"/>
              <a:t>학식 데이터 전송 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FE034CB-AFE0-4529-A5D1-1492A8161455}"/>
              </a:ext>
            </a:extLst>
          </p:cNvPr>
          <p:cNvCxnSpPr>
            <a:cxnSpLocks/>
          </p:cNvCxnSpPr>
          <p:nvPr/>
        </p:nvCxnSpPr>
        <p:spPr>
          <a:xfrm flipH="1">
            <a:off x="1601006" y="5609576"/>
            <a:ext cx="544912" cy="528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3116E5-6CB4-4A12-907A-3BC4AD5BF490}"/>
              </a:ext>
            </a:extLst>
          </p:cNvPr>
          <p:cNvSpPr txBox="1"/>
          <p:nvPr/>
        </p:nvSpPr>
        <p:spPr>
          <a:xfrm>
            <a:off x="1840613" y="5858411"/>
            <a:ext cx="1173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6. </a:t>
            </a:r>
            <a:r>
              <a:rPr lang="ko-KR" altLang="en-US" sz="800" dirty="0"/>
              <a:t>학식 데이터 전송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D578B79-6DDB-4C7A-812D-A903A43203B9}"/>
              </a:ext>
            </a:extLst>
          </p:cNvPr>
          <p:cNvCxnSpPr>
            <a:cxnSpLocks/>
          </p:cNvCxnSpPr>
          <p:nvPr/>
        </p:nvCxnSpPr>
        <p:spPr>
          <a:xfrm flipH="1">
            <a:off x="2558837" y="3884062"/>
            <a:ext cx="1016572" cy="663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1F20BE13-55BC-49E5-94D9-15A72C52B0D7}"/>
              </a:ext>
            </a:extLst>
          </p:cNvPr>
          <p:cNvSpPr txBox="1"/>
          <p:nvPr/>
        </p:nvSpPr>
        <p:spPr>
          <a:xfrm>
            <a:off x="6147540" y="5770089"/>
            <a:ext cx="59249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&lt;</a:t>
            </a:r>
            <a:r>
              <a:rPr lang="ko-KR" altLang="en-US" sz="1600" b="1" dirty="0" err="1"/>
              <a:t>리팩토링</a:t>
            </a:r>
            <a:r>
              <a:rPr lang="ko-KR" altLang="en-US" sz="1600" b="1" dirty="0"/>
              <a:t> 결과</a:t>
            </a:r>
            <a:r>
              <a:rPr lang="en-US" altLang="ko-KR" sz="1600" b="1" dirty="0"/>
              <a:t>&gt; </a:t>
            </a:r>
            <a:r>
              <a:rPr lang="ko-KR" altLang="en-US" sz="1600" b="1" dirty="0"/>
              <a:t>수행 시간이 </a:t>
            </a:r>
            <a:r>
              <a:rPr lang="en-US" altLang="ko-KR" sz="1600" b="1" dirty="0"/>
              <a:t>1561ms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-&gt; 213ms</a:t>
            </a:r>
            <a:r>
              <a:rPr lang="ko-KR" altLang="en-US" sz="1600" b="1" dirty="0"/>
              <a:t>로 줄어드는</a:t>
            </a:r>
            <a:endParaRPr lang="en-US" altLang="ko-KR" sz="1600" b="1" dirty="0"/>
          </a:p>
          <a:p>
            <a:r>
              <a:rPr lang="ko-KR" altLang="en-US" sz="1600" b="1" dirty="0"/>
              <a:t> 성능 향상을 보였습니다</a:t>
            </a:r>
            <a:endParaRPr lang="en-US" altLang="ko-KR" sz="16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4621</TotalTime>
  <Words>1507</Words>
  <Application>Microsoft Office PowerPoint</Application>
  <PresentationFormat>와이드스크린</PresentationFormat>
  <Paragraphs>310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Arial Unicode MS</vt:lpstr>
      <vt:lpstr>맑은 고딕</vt:lpstr>
      <vt:lpstr>Arial</vt:lpstr>
      <vt:lpstr>Arial Rounded MT Bold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213</cp:revision>
  <dcterms:created xsi:type="dcterms:W3CDTF">2021-09-02T08:00:50Z</dcterms:created>
  <dcterms:modified xsi:type="dcterms:W3CDTF">2022-02-08T13:19:55Z</dcterms:modified>
</cp:coreProperties>
</file>